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embeddedFontLst>
    <p:embeddedFont>
      <p:font typeface="Effra"/>
      <p:regular r:id="rId3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openxmlformats.org/officeDocument/2006/relationships/font" Target="fonts/rId3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76500" y="1857375"/>
            <a:ext cx="38100" cy="1428750"/>
          </a:xfrm>
          <a:prstGeom prst="roundRect">
            <a:avLst/>
          </a:prstGeom>
          <a:solidFill>
            <a:srgbClr val="00B1F5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77050" y="1857375"/>
            <a:ext cx="38100" cy="1428750"/>
          </a:xfrm>
          <a:prstGeom prst="roundRect">
            <a:avLst/>
          </a:prstGeom>
          <a:solidFill>
            <a:srgbClr val="00B1F5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762250" y="2047875"/>
            <a:ext cx="72866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924" dirty="0">
                <a:solidFill>
                  <a:srgbClr val="069FD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Ultron</a:t>
            </a:r>
            <a:endParaRPr lang="en-US" sz="1924" dirty="0"/>
          </a:p>
        </p:txBody>
      </p:sp>
      <p:sp>
        <p:nvSpPr>
          <p:cNvPr id="5" name="Text 3"/>
          <p:cNvSpPr/>
          <p:nvPr/>
        </p:nvSpPr>
        <p:spPr>
          <a:xfrm>
            <a:off x="2762250" y="2362200"/>
            <a:ext cx="13716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buNone/>
            </a:pPr>
            <a:r>
              <a:rPr lang="en-US" sz="926" b="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Product UX Walkthrough</a:t>
            </a:r>
            <a:endParaRPr lang="en-US" sz="926" dirty="0"/>
          </a:p>
        </p:txBody>
      </p:sp>
      <p:sp>
        <p:nvSpPr>
          <p:cNvPr id="6" name="Text 4"/>
          <p:cNvSpPr/>
          <p:nvPr/>
        </p:nvSpPr>
        <p:spPr>
          <a:xfrm>
            <a:off x="2762250" y="2895600"/>
            <a:ext cx="46196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4"/>
              </a:lnSpc>
              <a:buNone/>
            </a:pPr>
            <a:r>
              <a:rPr lang="en-US" sz="570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October 2026</a:t>
            </a:r>
            <a:endParaRPr lang="en-US" sz="570" dirty="0"/>
          </a:p>
        </p:txBody>
      </p:sp>
      <p:sp>
        <p:nvSpPr>
          <p:cNvPr id="7" name="Text 5"/>
          <p:cNvSpPr/>
          <p:nvPr/>
        </p:nvSpPr>
        <p:spPr>
          <a:xfrm>
            <a:off x="2762250" y="3009900"/>
            <a:ext cx="30956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4"/>
              </a:lnSpc>
              <a:buNone/>
            </a:pPr>
            <a:r>
              <a:rPr lang="en-US" sz="570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Version 3</a:t>
            </a:r>
            <a:endParaRPr lang="en-US" sz="570" dirty="0"/>
          </a:p>
        </p:txBody>
      </p:sp>
      <p:sp>
        <p:nvSpPr>
          <p:cNvPr id="8" name="Text 6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252555" y="2507456"/>
            <a:ext cx="1295448" cy="25241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209550"/>
            <a:ext cx="6786563" cy="228600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381000" y="209550"/>
            <a:ext cx="12144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Domain model</a:t>
            </a:r>
            <a:endParaRPr lang="en-US" sz="1425" dirty="0"/>
          </a:p>
        </p:txBody>
      </p:sp>
      <p:sp>
        <p:nvSpPr>
          <p:cNvPr id="4" name="Shape 2"/>
          <p:cNvSpPr/>
          <p:nvPr/>
        </p:nvSpPr>
        <p:spPr>
          <a:xfrm>
            <a:off x="1662113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5" name="Text 3"/>
          <p:cNvSpPr/>
          <p:nvPr/>
        </p:nvSpPr>
        <p:spPr>
          <a:xfrm>
            <a:off x="1743075" y="209550"/>
            <a:ext cx="5424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From a governed change plan to evidence at the point of execution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381000" y="476250"/>
            <a:ext cx="83820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1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For Operations: each level answers a different question and keeps ownership, status and recovery clear.</a:t>
            </a:r>
            <a:endParaRPr lang="en-US" sz="784" dirty="0"/>
          </a:p>
        </p:txBody>
      </p:sp>
      <p:sp>
        <p:nvSpPr>
          <p:cNvPr id="7" name="Shape 5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8" name="Text 6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77200" y="4924425"/>
            <a:ext cx="685800" cy="13335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81000" y="838200"/>
            <a:ext cx="8382000" cy="3905250"/>
          </a:xfrm>
          <a:prstGeom prst="rect">
            <a:avLst/>
          </a:prstGeom>
          <a:noFill/>
          <a:ln/>
        </p:spPr>
      </p:sp>
      <p:sp>
        <p:nvSpPr>
          <p:cNvPr id="11" name="Text 8"/>
          <p:cNvSpPr/>
          <p:nvPr/>
        </p:nvSpPr>
        <p:spPr>
          <a:xfrm>
            <a:off x="381000" y="838200"/>
            <a:ext cx="2286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34" spc="43" kern="0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LEVEL</a:t>
            </a:r>
            <a:endParaRPr lang="en-US" sz="534" dirty="0"/>
          </a:p>
        </p:txBody>
      </p:sp>
      <p:sp>
        <p:nvSpPr>
          <p:cNvPr id="12" name="Text 9"/>
          <p:cNvSpPr/>
          <p:nvPr/>
        </p:nvSpPr>
        <p:spPr>
          <a:xfrm>
            <a:off x="2619375" y="838200"/>
            <a:ext cx="10477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34" spc="43" kern="0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THE QUESTION IT ANSWERS</a:t>
            </a:r>
            <a:endParaRPr lang="en-US" sz="534" dirty="0"/>
          </a:p>
        </p:txBody>
      </p:sp>
      <p:sp>
        <p:nvSpPr>
          <p:cNvPr id="13" name="Text 10"/>
          <p:cNvSpPr/>
          <p:nvPr/>
        </p:nvSpPr>
        <p:spPr>
          <a:xfrm>
            <a:off x="5143500" y="838200"/>
            <a:ext cx="6000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34" spc="43" kern="0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WHAT IT HOLDS</a:t>
            </a:r>
            <a:endParaRPr lang="en-US" sz="534" dirty="0"/>
          </a:p>
        </p:txBody>
      </p:sp>
      <p:sp>
        <p:nvSpPr>
          <p:cNvPr id="14" name="Shape 11"/>
          <p:cNvSpPr/>
          <p:nvPr/>
        </p:nvSpPr>
        <p:spPr>
          <a:xfrm>
            <a:off x="381000" y="990600"/>
            <a:ext cx="8382000" cy="9525"/>
          </a:xfrm>
          <a:prstGeom prst="rect">
            <a:avLst/>
          </a:prstGeom>
          <a:solidFill>
            <a:srgbClr val="E1E6E9"/>
          </a:solidFill>
          <a:ln/>
        </p:spPr>
      </p:sp>
      <p:sp>
        <p:nvSpPr>
          <p:cNvPr id="15" name="Shape 12"/>
          <p:cNvSpPr/>
          <p:nvPr/>
        </p:nvSpPr>
        <p:spPr>
          <a:xfrm>
            <a:off x="2486025" y="1271588"/>
            <a:ext cx="19050" cy="266700"/>
          </a:xfrm>
          <a:prstGeom prst="rect">
            <a:avLst/>
          </a:prstGeom>
          <a:solidFill>
            <a:srgbClr val="2B3137"/>
          </a:solidFill>
          <a:ln/>
        </p:spPr>
      </p:sp>
      <p:sp>
        <p:nvSpPr>
          <p:cNvPr id="16" name="Shape 13"/>
          <p:cNvSpPr/>
          <p:nvPr/>
        </p:nvSpPr>
        <p:spPr>
          <a:xfrm>
            <a:off x="381000" y="1281113"/>
            <a:ext cx="1095375" cy="247650"/>
          </a:xfrm>
          <a:prstGeom prst="roundRect">
            <a:avLst>
              <a:gd name="adj" fmla="val 36923"/>
            </a:avLst>
          </a:prstGeom>
          <a:solidFill>
            <a:srgbClr val="2B3137"/>
          </a:solidFill>
          <a:ln/>
        </p:spPr>
      </p:sp>
      <p:sp>
        <p:nvSpPr>
          <p:cNvPr id="17" name="Text 14"/>
          <p:cNvSpPr/>
          <p:nvPr/>
        </p:nvSpPr>
        <p:spPr>
          <a:xfrm>
            <a:off x="381000" y="1343025"/>
            <a:ext cx="1095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26"/>
              </a:lnSpc>
              <a:buNone/>
            </a:pPr>
            <a:r>
              <a:rPr lang="en-US" sz="713" b="1" spc="43" kern="0" dirty="0">
                <a:solidFill>
                  <a:srgbClr val="FFFFFF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PLAN</a:t>
            </a:r>
            <a:endParaRPr lang="en-US" sz="713" dirty="0"/>
          </a:p>
        </p:txBody>
      </p:sp>
      <p:sp>
        <p:nvSpPr>
          <p:cNvPr id="18" name="Text 15"/>
          <p:cNvSpPr/>
          <p:nvPr/>
        </p:nvSpPr>
        <p:spPr>
          <a:xfrm>
            <a:off x="2619375" y="1323975"/>
            <a:ext cx="22955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buNone/>
            </a:pPr>
            <a:r>
              <a:rPr lang="en-US" sz="926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What change are we delivering?</a:t>
            </a:r>
            <a:endParaRPr lang="en-US" sz="926" dirty="0"/>
          </a:p>
        </p:txBody>
      </p:sp>
      <p:sp>
        <p:nvSpPr>
          <p:cNvPr id="19" name="Text 16"/>
          <p:cNvSpPr/>
          <p:nvPr/>
        </p:nvSpPr>
        <p:spPr>
          <a:xfrm>
            <a:off x="5143500" y="1252538"/>
            <a:ext cx="3619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1"/>
              </a:lnSpc>
              <a:buNone/>
            </a:pPr>
            <a:r>
              <a:rPr lang="en-US" sz="784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Operation type, change record and approved window. Contains one or more plan items.</a:t>
            </a:r>
            <a:endParaRPr lang="en-US" sz="784" dirty="0"/>
          </a:p>
        </p:txBody>
      </p:sp>
      <p:sp>
        <p:nvSpPr>
          <p:cNvPr id="20" name="Shape 17"/>
          <p:cNvSpPr/>
          <p:nvPr/>
        </p:nvSpPr>
        <p:spPr>
          <a:xfrm>
            <a:off x="381000" y="1762125"/>
            <a:ext cx="8382000" cy="4763"/>
          </a:xfrm>
          <a:prstGeom prst="rect">
            <a:avLst/>
          </a:prstGeom>
          <a:solidFill>
            <a:srgbClr val="E1E6E9"/>
          </a:solidFill>
          <a:ln/>
        </p:spPr>
      </p:sp>
      <p:sp>
        <p:nvSpPr>
          <p:cNvPr id="21" name="Shape 18"/>
          <p:cNvSpPr/>
          <p:nvPr/>
        </p:nvSpPr>
        <p:spPr>
          <a:xfrm>
            <a:off x="2486025" y="1985963"/>
            <a:ext cx="19050" cy="266700"/>
          </a:xfrm>
          <a:prstGeom prst="rect">
            <a:avLst/>
          </a:prstGeom>
          <a:solidFill>
            <a:srgbClr val="2F5FB3"/>
          </a:solidFill>
          <a:ln/>
        </p:spPr>
      </p:sp>
      <p:sp>
        <p:nvSpPr>
          <p:cNvPr id="22" name="Shape 19"/>
          <p:cNvSpPr/>
          <p:nvPr/>
        </p:nvSpPr>
        <p:spPr>
          <a:xfrm>
            <a:off x="552450" y="1995487"/>
            <a:ext cx="1095375" cy="247650"/>
          </a:xfrm>
          <a:prstGeom prst="roundRect">
            <a:avLst>
              <a:gd name="adj" fmla="val 36923"/>
            </a:avLst>
          </a:prstGeom>
          <a:solidFill>
            <a:srgbClr val="2F5FB3"/>
          </a:solidFill>
          <a:ln/>
        </p:spPr>
      </p:sp>
      <p:sp>
        <p:nvSpPr>
          <p:cNvPr id="23" name="Text 20"/>
          <p:cNvSpPr/>
          <p:nvPr/>
        </p:nvSpPr>
        <p:spPr>
          <a:xfrm>
            <a:off x="552450" y="2057400"/>
            <a:ext cx="1095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26"/>
              </a:lnSpc>
              <a:buNone/>
            </a:pPr>
            <a:r>
              <a:rPr lang="en-US" sz="713" b="1" spc="43" kern="0" dirty="0">
                <a:solidFill>
                  <a:srgbClr val="FFFFFF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PLAN ITEM</a:t>
            </a:r>
            <a:endParaRPr lang="en-US" sz="713" dirty="0"/>
          </a:p>
        </p:txBody>
      </p:sp>
      <p:sp>
        <p:nvSpPr>
          <p:cNvPr id="24" name="Shape 21"/>
          <p:cNvSpPr/>
          <p:nvPr/>
        </p:nvSpPr>
        <p:spPr>
          <a:xfrm>
            <a:off x="466725" y="1528763"/>
            <a:ext cx="9525" cy="590550"/>
          </a:xfrm>
          <a:prstGeom prst="rect">
            <a:avLst/>
          </a:prstGeom>
          <a:solidFill>
            <a:srgbClr val="E1E6E9"/>
          </a:solidFill>
          <a:ln/>
        </p:spPr>
      </p:sp>
      <p:sp>
        <p:nvSpPr>
          <p:cNvPr id="25" name="Shape 22"/>
          <p:cNvSpPr/>
          <p:nvPr/>
        </p:nvSpPr>
        <p:spPr>
          <a:xfrm>
            <a:off x="466725" y="2114550"/>
            <a:ext cx="85725" cy="9525"/>
          </a:xfrm>
          <a:prstGeom prst="rect">
            <a:avLst/>
          </a:prstGeom>
          <a:solidFill>
            <a:srgbClr val="E1E6E9"/>
          </a:solidFill>
          <a:ln/>
        </p:spPr>
      </p:sp>
      <p:sp>
        <p:nvSpPr>
          <p:cNvPr id="26" name="Text 23"/>
          <p:cNvSpPr/>
          <p:nvPr/>
        </p:nvSpPr>
        <p:spPr>
          <a:xfrm>
            <a:off x="2619375" y="2038350"/>
            <a:ext cx="22955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buNone/>
            </a:pPr>
            <a:r>
              <a:rPr lang="en-US" sz="926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Which target is affected?</a:t>
            </a:r>
            <a:endParaRPr lang="en-US" sz="926" dirty="0"/>
          </a:p>
        </p:txBody>
      </p:sp>
      <p:sp>
        <p:nvSpPr>
          <p:cNvPr id="27" name="Text 24"/>
          <p:cNvSpPr/>
          <p:nvPr/>
        </p:nvSpPr>
        <p:spPr>
          <a:xfrm>
            <a:off x="5143500" y="1966912"/>
            <a:ext cx="3619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1"/>
              </a:lnSpc>
              <a:buNone/>
            </a:pPr>
            <a:r>
              <a:rPr lang="en-US" sz="784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One independently tracked target, such as an F5 tenant or device, and its target firmware version.</a:t>
            </a:r>
            <a:endParaRPr lang="en-US" sz="784" dirty="0"/>
          </a:p>
        </p:txBody>
      </p:sp>
      <p:sp>
        <p:nvSpPr>
          <p:cNvPr id="28" name="Shape 25"/>
          <p:cNvSpPr/>
          <p:nvPr/>
        </p:nvSpPr>
        <p:spPr>
          <a:xfrm>
            <a:off x="381000" y="2476500"/>
            <a:ext cx="8382000" cy="4763"/>
          </a:xfrm>
          <a:prstGeom prst="rect">
            <a:avLst/>
          </a:prstGeom>
          <a:solidFill>
            <a:srgbClr val="E1E6E9"/>
          </a:solidFill>
          <a:ln/>
        </p:spPr>
      </p:sp>
      <p:sp>
        <p:nvSpPr>
          <p:cNvPr id="29" name="Shape 26"/>
          <p:cNvSpPr/>
          <p:nvPr/>
        </p:nvSpPr>
        <p:spPr>
          <a:xfrm>
            <a:off x="2486025" y="2700338"/>
            <a:ext cx="19050" cy="266700"/>
          </a:xfrm>
          <a:prstGeom prst="rect">
            <a:avLst/>
          </a:prstGeom>
          <a:solidFill>
            <a:srgbClr val="2B83A8"/>
          </a:solidFill>
          <a:ln/>
        </p:spPr>
      </p:sp>
      <p:sp>
        <p:nvSpPr>
          <p:cNvPr id="30" name="Shape 27"/>
          <p:cNvSpPr/>
          <p:nvPr/>
        </p:nvSpPr>
        <p:spPr>
          <a:xfrm>
            <a:off x="723900" y="2709863"/>
            <a:ext cx="1095375" cy="247650"/>
          </a:xfrm>
          <a:prstGeom prst="roundRect">
            <a:avLst>
              <a:gd name="adj" fmla="val 36923"/>
            </a:avLst>
          </a:prstGeom>
          <a:solidFill>
            <a:srgbClr val="2B83A8"/>
          </a:solidFill>
          <a:ln/>
        </p:spPr>
      </p:sp>
      <p:sp>
        <p:nvSpPr>
          <p:cNvPr id="31" name="Text 28"/>
          <p:cNvSpPr/>
          <p:nvPr/>
        </p:nvSpPr>
        <p:spPr>
          <a:xfrm>
            <a:off x="723900" y="2771775"/>
            <a:ext cx="1095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26"/>
              </a:lnSpc>
              <a:buNone/>
            </a:pPr>
            <a:r>
              <a:rPr lang="en-US" sz="713" b="1" spc="43" kern="0" dirty="0">
                <a:solidFill>
                  <a:srgbClr val="FFFFFF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WORKFLOW</a:t>
            </a:r>
            <a:endParaRPr lang="en-US" sz="713" dirty="0"/>
          </a:p>
        </p:txBody>
      </p:sp>
      <p:sp>
        <p:nvSpPr>
          <p:cNvPr id="32" name="Shape 29"/>
          <p:cNvSpPr/>
          <p:nvPr/>
        </p:nvSpPr>
        <p:spPr>
          <a:xfrm>
            <a:off x="638175" y="2243138"/>
            <a:ext cx="9525" cy="590550"/>
          </a:xfrm>
          <a:prstGeom prst="rect">
            <a:avLst/>
          </a:prstGeom>
          <a:solidFill>
            <a:srgbClr val="E1E6E9"/>
          </a:solidFill>
          <a:ln/>
        </p:spPr>
      </p:sp>
      <p:sp>
        <p:nvSpPr>
          <p:cNvPr id="33" name="Shape 30"/>
          <p:cNvSpPr/>
          <p:nvPr/>
        </p:nvSpPr>
        <p:spPr>
          <a:xfrm>
            <a:off x="638175" y="2828925"/>
            <a:ext cx="85725" cy="9525"/>
          </a:xfrm>
          <a:prstGeom prst="rect">
            <a:avLst/>
          </a:prstGeom>
          <a:solidFill>
            <a:srgbClr val="E1E6E9"/>
          </a:solidFill>
          <a:ln/>
        </p:spPr>
      </p:sp>
      <p:sp>
        <p:nvSpPr>
          <p:cNvPr id="34" name="Text 31"/>
          <p:cNvSpPr/>
          <p:nvPr/>
        </p:nvSpPr>
        <p:spPr>
          <a:xfrm>
            <a:off x="2619375" y="2752725"/>
            <a:ext cx="22955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buNone/>
            </a:pPr>
            <a:r>
              <a:rPr lang="en-US" sz="926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How is the outcome orchestrated?</a:t>
            </a:r>
            <a:endParaRPr lang="en-US" sz="926" dirty="0"/>
          </a:p>
        </p:txBody>
      </p:sp>
      <p:sp>
        <p:nvSpPr>
          <p:cNvPr id="35" name="Text 32"/>
          <p:cNvSpPr/>
          <p:nvPr/>
        </p:nvSpPr>
        <p:spPr>
          <a:xfrm>
            <a:off x="5143500" y="2681288"/>
            <a:ext cx="3619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1"/>
              </a:lnSpc>
              <a:buNone/>
            </a:pPr>
            <a:r>
              <a:rPr lang="en-US" sz="784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Durable execution sequence and runtime state. A Plan Workflow coordinates the plan; each item has its own workflow.</a:t>
            </a:r>
            <a:endParaRPr lang="en-US" sz="784" dirty="0"/>
          </a:p>
        </p:txBody>
      </p:sp>
      <p:sp>
        <p:nvSpPr>
          <p:cNvPr id="36" name="Shape 33"/>
          <p:cNvSpPr/>
          <p:nvPr/>
        </p:nvSpPr>
        <p:spPr>
          <a:xfrm>
            <a:off x="381000" y="3190875"/>
            <a:ext cx="8382000" cy="4763"/>
          </a:xfrm>
          <a:prstGeom prst="rect">
            <a:avLst/>
          </a:prstGeom>
          <a:solidFill>
            <a:srgbClr val="E1E6E9"/>
          </a:solidFill>
          <a:ln/>
        </p:spPr>
      </p:sp>
      <p:sp>
        <p:nvSpPr>
          <p:cNvPr id="37" name="Shape 34"/>
          <p:cNvSpPr/>
          <p:nvPr/>
        </p:nvSpPr>
        <p:spPr>
          <a:xfrm>
            <a:off x="2486025" y="3414713"/>
            <a:ext cx="19050" cy="266700"/>
          </a:xfrm>
          <a:prstGeom prst="rect">
            <a:avLst/>
          </a:prstGeom>
          <a:solidFill>
            <a:srgbClr val="2E8B66"/>
          </a:solidFill>
          <a:ln/>
        </p:spPr>
      </p:sp>
      <p:sp>
        <p:nvSpPr>
          <p:cNvPr id="38" name="Shape 35"/>
          <p:cNvSpPr/>
          <p:nvPr/>
        </p:nvSpPr>
        <p:spPr>
          <a:xfrm>
            <a:off x="895350" y="3424238"/>
            <a:ext cx="1095375" cy="247650"/>
          </a:xfrm>
          <a:prstGeom prst="roundRect">
            <a:avLst>
              <a:gd name="adj" fmla="val 36923"/>
            </a:avLst>
          </a:prstGeom>
          <a:solidFill>
            <a:srgbClr val="2E8B66"/>
          </a:solidFill>
          <a:ln/>
        </p:spPr>
      </p:sp>
      <p:sp>
        <p:nvSpPr>
          <p:cNvPr id="39" name="Text 36"/>
          <p:cNvSpPr/>
          <p:nvPr/>
        </p:nvSpPr>
        <p:spPr>
          <a:xfrm>
            <a:off x="895350" y="3486150"/>
            <a:ext cx="1095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26"/>
              </a:lnSpc>
              <a:buNone/>
            </a:pPr>
            <a:r>
              <a:rPr lang="en-US" sz="713" b="1" spc="43" kern="0" dirty="0">
                <a:solidFill>
                  <a:srgbClr val="FFFFFF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TASK</a:t>
            </a:r>
            <a:endParaRPr lang="en-US" sz="713" dirty="0"/>
          </a:p>
        </p:txBody>
      </p:sp>
      <p:sp>
        <p:nvSpPr>
          <p:cNvPr id="40" name="Shape 37"/>
          <p:cNvSpPr/>
          <p:nvPr/>
        </p:nvSpPr>
        <p:spPr>
          <a:xfrm>
            <a:off x="809625" y="2957513"/>
            <a:ext cx="9525" cy="590550"/>
          </a:xfrm>
          <a:prstGeom prst="rect">
            <a:avLst/>
          </a:prstGeom>
          <a:solidFill>
            <a:srgbClr val="E1E6E9"/>
          </a:solidFill>
          <a:ln/>
        </p:spPr>
      </p:sp>
      <p:sp>
        <p:nvSpPr>
          <p:cNvPr id="41" name="Shape 38"/>
          <p:cNvSpPr/>
          <p:nvPr/>
        </p:nvSpPr>
        <p:spPr>
          <a:xfrm>
            <a:off x="809625" y="3543300"/>
            <a:ext cx="85725" cy="9525"/>
          </a:xfrm>
          <a:prstGeom prst="rect">
            <a:avLst/>
          </a:prstGeom>
          <a:solidFill>
            <a:srgbClr val="E1E6E9"/>
          </a:solidFill>
          <a:ln/>
        </p:spPr>
      </p:sp>
      <p:sp>
        <p:nvSpPr>
          <p:cNvPr id="42" name="Text 39"/>
          <p:cNvSpPr/>
          <p:nvPr/>
        </p:nvSpPr>
        <p:spPr>
          <a:xfrm>
            <a:off x="2619375" y="3467100"/>
            <a:ext cx="22955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buNone/>
            </a:pPr>
            <a:r>
              <a:rPr lang="en-US" sz="926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Which meaningful stage is running?</a:t>
            </a:r>
            <a:endParaRPr lang="en-US" sz="926" dirty="0"/>
          </a:p>
        </p:txBody>
      </p:sp>
      <p:sp>
        <p:nvSpPr>
          <p:cNvPr id="43" name="Text 40"/>
          <p:cNvSpPr/>
          <p:nvPr/>
        </p:nvSpPr>
        <p:spPr>
          <a:xfrm>
            <a:off x="5143500" y="3395663"/>
            <a:ext cx="3619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1"/>
              </a:lnSpc>
              <a:buNone/>
            </a:pPr>
            <a:r>
              <a:rPr lang="en-US" sz="784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 visible execution stage. Retry, rollback or cancel is applied to the specific failed task.</a:t>
            </a:r>
            <a:endParaRPr lang="en-US" sz="784" dirty="0"/>
          </a:p>
        </p:txBody>
      </p:sp>
      <p:sp>
        <p:nvSpPr>
          <p:cNvPr id="44" name="Shape 41"/>
          <p:cNvSpPr/>
          <p:nvPr/>
        </p:nvSpPr>
        <p:spPr>
          <a:xfrm>
            <a:off x="381000" y="3905250"/>
            <a:ext cx="8382000" cy="4763"/>
          </a:xfrm>
          <a:prstGeom prst="rect">
            <a:avLst/>
          </a:prstGeom>
          <a:solidFill>
            <a:srgbClr val="E1E6E9"/>
          </a:solidFill>
          <a:ln/>
        </p:spPr>
      </p:sp>
      <p:sp>
        <p:nvSpPr>
          <p:cNvPr id="45" name="Shape 42"/>
          <p:cNvSpPr/>
          <p:nvPr/>
        </p:nvSpPr>
        <p:spPr>
          <a:xfrm>
            <a:off x="2486025" y="4129088"/>
            <a:ext cx="19050" cy="266700"/>
          </a:xfrm>
          <a:prstGeom prst="rect">
            <a:avLst/>
          </a:prstGeom>
          <a:solidFill>
            <a:srgbClr val="D4882A"/>
          </a:solidFill>
          <a:ln/>
        </p:spPr>
      </p:sp>
      <p:sp>
        <p:nvSpPr>
          <p:cNvPr id="46" name="Shape 43"/>
          <p:cNvSpPr/>
          <p:nvPr/>
        </p:nvSpPr>
        <p:spPr>
          <a:xfrm>
            <a:off x="1066800" y="4138613"/>
            <a:ext cx="1095375" cy="247650"/>
          </a:xfrm>
          <a:prstGeom prst="roundRect">
            <a:avLst>
              <a:gd name="adj" fmla="val 36923"/>
            </a:avLst>
          </a:prstGeom>
          <a:solidFill>
            <a:srgbClr val="D4882A"/>
          </a:solidFill>
          <a:ln/>
        </p:spPr>
      </p:sp>
      <p:sp>
        <p:nvSpPr>
          <p:cNvPr id="47" name="Text 44"/>
          <p:cNvSpPr/>
          <p:nvPr/>
        </p:nvSpPr>
        <p:spPr>
          <a:xfrm>
            <a:off x="1066800" y="4200525"/>
            <a:ext cx="1095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26"/>
              </a:lnSpc>
              <a:buNone/>
            </a:pPr>
            <a:r>
              <a:rPr lang="en-US" sz="713" b="1" spc="43" kern="0" dirty="0">
                <a:solidFill>
                  <a:srgbClr val="FFFFFF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MILESTONE</a:t>
            </a:r>
            <a:endParaRPr lang="en-US" sz="713" dirty="0"/>
          </a:p>
        </p:txBody>
      </p:sp>
      <p:sp>
        <p:nvSpPr>
          <p:cNvPr id="48" name="Shape 45"/>
          <p:cNvSpPr/>
          <p:nvPr/>
        </p:nvSpPr>
        <p:spPr>
          <a:xfrm>
            <a:off x="981075" y="3671888"/>
            <a:ext cx="9525" cy="590550"/>
          </a:xfrm>
          <a:prstGeom prst="rect">
            <a:avLst/>
          </a:prstGeom>
          <a:solidFill>
            <a:srgbClr val="E1E6E9"/>
          </a:solidFill>
          <a:ln/>
        </p:spPr>
      </p:sp>
      <p:sp>
        <p:nvSpPr>
          <p:cNvPr id="49" name="Shape 46"/>
          <p:cNvSpPr/>
          <p:nvPr/>
        </p:nvSpPr>
        <p:spPr>
          <a:xfrm>
            <a:off x="981075" y="4257675"/>
            <a:ext cx="85725" cy="9525"/>
          </a:xfrm>
          <a:prstGeom prst="rect">
            <a:avLst/>
          </a:prstGeom>
          <a:solidFill>
            <a:srgbClr val="E1E6E9"/>
          </a:solidFill>
          <a:ln/>
        </p:spPr>
      </p:sp>
      <p:sp>
        <p:nvSpPr>
          <p:cNvPr id="50" name="Text 47"/>
          <p:cNvSpPr/>
          <p:nvPr/>
        </p:nvSpPr>
        <p:spPr>
          <a:xfrm>
            <a:off x="2619375" y="4181475"/>
            <a:ext cx="22955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buNone/>
            </a:pPr>
            <a:r>
              <a:rPr lang="en-US" sz="926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What exactly happened?</a:t>
            </a:r>
            <a:endParaRPr lang="en-US" sz="926" dirty="0"/>
          </a:p>
        </p:txBody>
      </p:sp>
      <p:sp>
        <p:nvSpPr>
          <p:cNvPr id="51" name="Text 48"/>
          <p:cNvSpPr/>
          <p:nvPr/>
        </p:nvSpPr>
        <p:spPr>
          <a:xfrm>
            <a:off x="5143500" y="4110038"/>
            <a:ext cx="3619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1"/>
              </a:lnSpc>
              <a:buNone/>
            </a:pPr>
            <a:r>
              <a:rPr lang="en-US" sz="784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Granular checkpoint with timestamps, evidence and precise failure-point visibility.</a:t>
            </a:r>
            <a:endParaRPr lang="en-US" sz="78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209550"/>
            <a:ext cx="2847975" cy="228600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381000" y="209550"/>
            <a:ext cx="8143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Overview</a:t>
            </a:r>
            <a:endParaRPr lang="en-US" sz="1425" dirty="0"/>
          </a:p>
        </p:txBody>
      </p:sp>
      <p:sp>
        <p:nvSpPr>
          <p:cNvPr id="4" name="Shape 2"/>
          <p:cNvSpPr/>
          <p:nvPr/>
        </p:nvSpPr>
        <p:spPr>
          <a:xfrm>
            <a:off x="1262063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5" name="Text 3"/>
          <p:cNvSpPr/>
          <p:nvPr/>
        </p:nvSpPr>
        <p:spPr>
          <a:xfrm>
            <a:off x="1343025" y="209550"/>
            <a:ext cx="1885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The </a:t>
            </a:r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journey</a:t>
            </a:r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 at a glance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381000" y="476250"/>
            <a:ext cx="83820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1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Eight steps take a plan from the Plans list to its outcome. The slides that follow walk through each one.</a:t>
            </a:r>
            <a:endParaRPr lang="en-US" sz="784" dirty="0"/>
          </a:p>
        </p:txBody>
      </p:sp>
      <p:sp>
        <p:nvSpPr>
          <p:cNvPr id="7" name="Shape 5"/>
          <p:cNvSpPr/>
          <p:nvPr/>
        </p:nvSpPr>
        <p:spPr>
          <a:xfrm>
            <a:off x="381000" y="1571625"/>
            <a:ext cx="8382000" cy="1333500"/>
          </a:xfrm>
          <a:prstGeom prst="rect">
            <a:avLst/>
          </a:prstGeom>
          <a:noFill/>
          <a:ln/>
        </p:spPr>
      </p:sp>
      <p:sp>
        <p:nvSpPr>
          <p:cNvPr id="8" name="Shape 6"/>
          <p:cNvSpPr/>
          <p:nvPr/>
        </p:nvSpPr>
        <p:spPr>
          <a:xfrm>
            <a:off x="381000" y="1571625"/>
            <a:ext cx="981075" cy="1333500"/>
          </a:xfrm>
          <a:prstGeom prst="roundRect">
            <a:avLst>
              <a:gd name="adj" fmla="val 13049"/>
            </a:avLst>
          </a:prstGeom>
          <a:solidFill>
            <a:srgbClr val="F7F9FA"/>
          </a:solidFill>
          <a:ln w="4524">
            <a:solidFill>
              <a:srgbClr val="E1E6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0063" y="1728788"/>
            <a:ext cx="742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01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500063" y="2024062"/>
            <a:ext cx="7429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5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Find your work</a:t>
            </a:r>
            <a:endParaRPr lang="en-US" sz="855" dirty="0"/>
          </a:p>
        </p:txBody>
      </p:sp>
      <p:sp>
        <p:nvSpPr>
          <p:cNvPr id="11" name="Text 9"/>
          <p:cNvSpPr/>
          <p:nvPr/>
        </p:nvSpPr>
        <p:spPr>
          <a:xfrm>
            <a:off x="500063" y="2233613"/>
            <a:ext cx="7429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6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Open Plans and pick up what needs you</a:t>
            </a:r>
            <a:endParaRPr lang="en-US" sz="641" dirty="0"/>
          </a:p>
        </p:txBody>
      </p:sp>
      <p:sp>
        <p:nvSpPr>
          <p:cNvPr id="12" name="Shape 10"/>
          <p:cNvSpPr/>
          <p:nvPr/>
        </p:nvSpPr>
        <p:spPr>
          <a:xfrm>
            <a:off x="1438275" y="1571625"/>
            <a:ext cx="981075" cy="1333500"/>
          </a:xfrm>
          <a:prstGeom prst="roundRect">
            <a:avLst>
              <a:gd name="adj" fmla="val 13049"/>
            </a:avLst>
          </a:prstGeom>
          <a:solidFill>
            <a:srgbClr val="F7F9FA"/>
          </a:solidFill>
          <a:ln w="4524">
            <a:solidFill>
              <a:srgbClr val="E1E6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57338" y="1728788"/>
            <a:ext cx="752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02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1557338" y="2024062"/>
            <a:ext cx="7524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5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855" dirty="0"/>
          </a:p>
        </p:txBody>
      </p:sp>
      <p:sp>
        <p:nvSpPr>
          <p:cNvPr id="15" name="Text 13"/>
          <p:cNvSpPr/>
          <p:nvPr/>
        </p:nvSpPr>
        <p:spPr>
          <a:xfrm>
            <a:off x="1557338" y="2376488"/>
            <a:ext cx="7524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6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Name it, pick the operation, link the change</a:t>
            </a:r>
            <a:endParaRPr lang="en-US" sz="641" dirty="0"/>
          </a:p>
        </p:txBody>
      </p:sp>
      <p:sp>
        <p:nvSpPr>
          <p:cNvPr id="16" name="Shape 14"/>
          <p:cNvSpPr/>
          <p:nvPr/>
        </p:nvSpPr>
        <p:spPr>
          <a:xfrm>
            <a:off x="2495550" y="1571625"/>
            <a:ext cx="981075" cy="1333500"/>
          </a:xfrm>
          <a:prstGeom prst="roundRect">
            <a:avLst>
              <a:gd name="adj" fmla="val 13049"/>
            </a:avLst>
          </a:prstGeom>
          <a:solidFill>
            <a:srgbClr val="F7F9FA"/>
          </a:solidFill>
          <a:ln w="4524">
            <a:solidFill>
              <a:srgbClr val="E1E6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14613" y="1728788"/>
            <a:ext cx="752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03</a:t>
            </a:r>
            <a:endParaRPr lang="en-US" sz="1425" dirty="0"/>
          </a:p>
        </p:txBody>
      </p:sp>
      <p:sp>
        <p:nvSpPr>
          <p:cNvPr id="18" name="Text 16"/>
          <p:cNvSpPr/>
          <p:nvPr/>
        </p:nvSpPr>
        <p:spPr>
          <a:xfrm>
            <a:off x="2614613" y="2024062"/>
            <a:ext cx="7524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5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855" dirty="0"/>
          </a:p>
        </p:txBody>
      </p:sp>
      <p:sp>
        <p:nvSpPr>
          <p:cNvPr id="19" name="Text 17"/>
          <p:cNvSpPr/>
          <p:nvPr/>
        </p:nvSpPr>
        <p:spPr>
          <a:xfrm>
            <a:off x="2614613" y="2233613"/>
            <a:ext cx="7524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6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Choose each target and check its impact</a:t>
            </a:r>
            <a:endParaRPr lang="en-US" sz="641" dirty="0"/>
          </a:p>
        </p:txBody>
      </p:sp>
      <p:sp>
        <p:nvSpPr>
          <p:cNvPr id="20" name="Shape 18"/>
          <p:cNvSpPr/>
          <p:nvPr/>
        </p:nvSpPr>
        <p:spPr>
          <a:xfrm>
            <a:off x="3552825" y="1571625"/>
            <a:ext cx="981075" cy="1333500"/>
          </a:xfrm>
          <a:prstGeom prst="roundRect">
            <a:avLst>
              <a:gd name="adj" fmla="val 13049"/>
            </a:avLst>
          </a:prstGeom>
          <a:solidFill>
            <a:srgbClr val="F7F9FA"/>
          </a:solidFill>
          <a:ln w="4524">
            <a:solidFill>
              <a:srgbClr val="E1E6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71888" y="1728788"/>
            <a:ext cx="752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04</a:t>
            </a:r>
            <a:endParaRPr lang="en-US" sz="1425" dirty="0"/>
          </a:p>
        </p:txBody>
      </p:sp>
      <p:sp>
        <p:nvSpPr>
          <p:cNvPr id="22" name="Text 20"/>
          <p:cNvSpPr/>
          <p:nvPr/>
        </p:nvSpPr>
        <p:spPr>
          <a:xfrm>
            <a:off x="3671888" y="2024062"/>
            <a:ext cx="7524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5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855" dirty="0"/>
          </a:p>
        </p:txBody>
      </p:sp>
      <p:sp>
        <p:nvSpPr>
          <p:cNvPr id="23" name="Text 21"/>
          <p:cNvSpPr/>
          <p:nvPr/>
        </p:nvSpPr>
        <p:spPr>
          <a:xfrm>
            <a:off x="3671888" y="2376488"/>
            <a:ext cx="7524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6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The system checks the plan and every item</a:t>
            </a:r>
            <a:endParaRPr lang="en-US" sz="641" dirty="0"/>
          </a:p>
        </p:txBody>
      </p:sp>
      <p:sp>
        <p:nvSpPr>
          <p:cNvPr id="24" name="Shape 22"/>
          <p:cNvSpPr/>
          <p:nvPr/>
        </p:nvSpPr>
        <p:spPr>
          <a:xfrm>
            <a:off x="4610100" y="1571625"/>
            <a:ext cx="981075" cy="1333500"/>
          </a:xfrm>
          <a:prstGeom prst="roundRect">
            <a:avLst>
              <a:gd name="adj" fmla="val 13049"/>
            </a:avLst>
          </a:prstGeom>
          <a:solidFill>
            <a:srgbClr val="F7F9FA"/>
          </a:solidFill>
          <a:ln w="4524">
            <a:solidFill>
              <a:srgbClr val="E1E6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29163" y="1728788"/>
            <a:ext cx="752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05</a:t>
            </a:r>
            <a:endParaRPr lang="en-US" sz="1425" dirty="0"/>
          </a:p>
        </p:txBody>
      </p:sp>
      <p:sp>
        <p:nvSpPr>
          <p:cNvPr id="26" name="Text 24"/>
          <p:cNvSpPr/>
          <p:nvPr/>
        </p:nvSpPr>
        <p:spPr>
          <a:xfrm>
            <a:off x="4729163" y="2024062"/>
            <a:ext cx="7524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5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855" dirty="0"/>
          </a:p>
        </p:txBody>
      </p:sp>
      <p:sp>
        <p:nvSpPr>
          <p:cNvPr id="27" name="Text 25"/>
          <p:cNvSpPr/>
          <p:nvPr/>
        </p:nvSpPr>
        <p:spPr>
          <a:xfrm>
            <a:off x="4729163" y="2376488"/>
            <a:ext cx="7524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6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Validated and waiting for the change window</a:t>
            </a:r>
            <a:endParaRPr lang="en-US" sz="641" dirty="0"/>
          </a:p>
        </p:txBody>
      </p:sp>
      <p:sp>
        <p:nvSpPr>
          <p:cNvPr id="28" name="Shape 26"/>
          <p:cNvSpPr/>
          <p:nvPr/>
        </p:nvSpPr>
        <p:spPr>
          <a:xfrm>
            <a:off x="5667375" y="1571625"/>
            <a:ext cx="981075" cy="1333500"/>
          </a:xfrm>
          <a:prstGeom prst="roundRect">
            <a:avLst>
              <a:gd name="adj" fmla="val 13049"/>
            </a:avLst>
          </a:prstGeom>
          <a:solidFill>
            <a:srgbClr val="F7F9FA"/>
          </a:solidFill>
          <a:ln w="4524">
            <a:solidFill>
              <a:srgbClr val="E1E6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86438" y="1728788"/>
            <a:ext cx="752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06</a:t>
            </a:r>
            <a:endParaRPr lang="en-US" sz="1425" dirty="0"/>
          </a:p>
        </p:txBody>
      </p:sp>
      <p:sp>
        <p:nvSpPr>
          <p:cNvPr id="30" name="Text 28"/>
          <p:cNvSpPr/>
          <p:nvPr/>
        </p:nvSpPr>
        <p:spPr>
          <a:xfrm>
            <a:off x="5786438" y="2024062"/>
            <a:ext cx="7524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5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855" dirty="0"/>
          </a:p>
        </p:txBody>
      </p:sp>
      <p:sp>
        <p:nvSpPr>
          <p:cNvPr id="31" name="Text 29"/>
          <p:cNvSpPr/>
          <p:nvPr/>
        </p:nvSpPr>
        <p:spPr>
          <a:xfrm>
            <a:off x="5786438" y="2376488"/>
            <a:ext cx="7524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6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Items run in parallel; follow the progress</a:t>
            </a:r>
            <a:endParaRPr lang="en-US" sz="641" dirty="0"/>
          </a:p>
        </p:txBody>
      </p:sp>
      <p:sp>
        <p:nvSpPr>
          <p:cNvPr id="32" name="Shape 30"/>
          <p:cNvSpPr/>
          <p:nvPr/>
        </p:nvSpPr>
        <p:spPr>
          <a:xfrm>
            <a:off x="6724650" y="1571625"/>
            <a:ext cx="981075" cy="1333500"/>
          </a:xfrm>
          <a:prstGeom prst="roundRect">
            <a:avLst>
              <a:gd name="adj" fmla="val 13049"/>
            </a:avLst>
          </a:prstGeom>
          <a:solidFill>
            <a:srgbClr val="F7F9FA"/>
          </a:solidFill>
          <a:ln w="4524">
            <a:solidFill>
              <a:srgbClr val="E1E6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43713" y="1728788"/>
            <a:ext cx="752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07</a:t>
            </a:r>
            <a:endParaRPr lang="en-US" sz="1425" dirty="0"/>
          </a:p>
        </p:txBody>
      </p:sp>
      <p:sp>
        <p:nvSpPr>
          <p:cNvPr id="34" name="Text 32"/>
          <p:cNvSpPr/>
          <p:nvPr/>
        </p:nvSpPr>
        <p:spPr>
          <a:xfrm>
            <a:off x="6843713" y="2024062"/>
            <a:ext cx="7524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5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855" dirty="0"/>
          </a:p>
        </p:txBody>
      </p:sp>
      <p:sp>
        <p:nvSpPr>
          <p:cNvPr id="35" name="Text 33"/>
          <p:cNvSpPr/>
          <p:nvPr/>
        </p:nvSpPr>
        <p:spPr>
          <a:xfrm>
            <a:off x="6843713" y="2376488"/>
            <a:ext cx="7524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6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Decide on any task that stops</a:t>
            </a:r>
            <a:endParaRPr lang="en-US" sz="641" dirty="0"/>
          </a:p>
        </p:txBody>
      </p:sp>
      <p:sp>
        <p:nvSpPr>
          <p:cNvPr id="36" name="Shape 34"/>
          <p:cNvSpPr/>
          <p:nvPr/>
        </p:nvSpPr>
        <p:spPr>
          <a:xfrm>
            <a:off x="7781925" y="1571625"/>
            <a:ext cx="981075" cy="1333500"/>
          </a:xfrm>
          <a:prstGeom prst="roundRect">
            <a:avLst>
              <a:gd name="adj" fmla="val 13049"/>
            </a:avLst>
          </a:prstGeom>
          <a:solidFill>
            <a:srgbClr val="F7F9FA"/>
          </a:solidFill>
          <a:ln w="4524">
            <a:solidFill>
              <a:srgbClr val="E1E6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00988" y="1728788"/>
            <a:ext cx="752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08</a:t>
            </a:r>
            <a:endParaRPr lang="en-US" sz="1425" dirty="0"/>
          </a:p>
        </p:txBody>
      </p:sp>
      <p:sp>
        <p:nvSpPr>
          <p:cNvPr id="38" name="Text 36"/>
          <p:cNvSpPr/>
          <p:nvPr/>
        </p:nvSpPr>
        <p:spPr>
          <a:xfrm>
            <a:off x="7900988" y="2024062"/>
            <a:ext cx="7524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5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855" dirty="0"/>
          </a:p>
        </p:txBody>
      </p:sp>
      <p:sp>
        <p:nvSpPr>
          <p:cNvPr id="39" name="Text 37"/>
          <p:cNvSpPr/>
          <p:nvPr/>
        </p:nvSpPr>
        <p:spPr>
          <a:xfrm>
            <a:off x="7900988" y="2376488"/>
            <a:ext cx="7524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6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Completed, or completed with failures</a:t>
            </a:r>
            <a:endParaRPr lang="en-US" sz="641" dirty="0"/>
          </a:p>
        </p:txBody>
      </p:sp>
      <p:sp>
        <p:nvSpPr>
          <p:cNvPr id="40" name="Shape 38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41" name="Text 39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pic>
        <p:nvPicPr>
          <p:cNvPr id="4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77200" y="4924425"/>
            <a:ext cx="68580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9295" y="714375"/>
            <a:ext cx="2554705" cy="40957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81000" y="209550"/>
            <a:ext cx="3119438" cy="228600"/>
          </a:xfrm>
          <a:prstGeom prst="rect">
            <a:avLst/>
          </a:prstGeom>
          <a:noFill/>
          <a:ln/>
        </p:spPr>
      </p:sp>
      <p:sp>
        <p:nvSpPr>
          <p:cNvPr id="5" name="Text 3"/>
          <p:cNvSpPr/>
          <p:nvPr/>
        </p:nvSpPr>
        <p:spPr>
          <a:xfrm>
            <a:off x="381000" y="209550"/>
            <a:ext cx="12811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1425" dirty="0"/>
          </a:p>
        </p:txBody>
      </p:sp>
      <p:sp>
        <p:nvSpPr>
          <p:cNvPr id="6" name="Shape 4"/>
          <p:cNvSpPr/>
          <p:nvPr/>
        </p:nvSpPr>
        <p:spPr>
          <a:xfrm>
            <a:off x="1728788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7" name="Text 5"/>
          <p:cNvSpPr/>
          <p:nvPr/>
        </p:nvSpPr>
        <p:spPr>
          <a:xfrm>
            <a:off x="1809750" y="209550"/>
            <a:ext cx="1690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Start with a new plan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381000" y="476250"/>
            <a:ext cx="83820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1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Name the plan, choose the operation and link the change record. One plan holds one operation and one change window.</a:t>
            </a:r>
            <a:endParaRPr lang="en-US" sz="784" dirty="0"/>
          </a:p>
        </p:txBody>
      </p:sp>
      <p:sp>
        <p:nvSpPr>
          <p:cNvPr id="9" name="Shape 7"/>
          <p:cNvSpPr/>
          <p:nvPr/>
        </p:nvSpPr>
        <p:spPr>
          <a:xfrm>
            <a:off x="6855995" y="752475"/>
            <a:ext cx="1905000" cy="1543050"/>
          </a:xfrm>
          <a:prstGeom prst="rect">
            <a:avLst/>
          </a:prstGeom>
          <a:noFill/>
          <a:ln/>
        </p:spPr>
      </p:sp>
      <p:sp>
        <p:nvSpPr>
          <p:cNvPr id="10" name="Text 8"/>
          <p:cNvSpPr/>
          <p:nvPr/>
        </p:nvSpPr>
        <p:spPr>
          <a:xfrm>
            <a:off x="6855995" y="752475"/>
            <a:ext cx="447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70" spc="34" kern="0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STEP 1 OF 8</a:t>
            </a:r>
            <a:endParaRPr lang="en-US" sz="570" dirty="0"/>
          </a:p>
        </p:txBody>
      </p:sp>
      <p:sp>
        <p:nvSpPr>
          <p:cNvPr id="11" name="Shape 9"/>
          <p:cNvSpPr/>
          <p:nvPr/>
        </p:nvSpPr>
        <p:spPr>
          <a:xfrm>
            <a:off x="6855995" y="91440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2" name="Shape 10"/>
          <p:cNvSpPr/>
          <p:nvPr/>
        </p:nvSpPr>
        <p:spPr>
          <a:xfrm>
            <a:off x="6855995" y="947737"/>
            <a:ext cx="47625" cy="47625"/>
          </a:xfrm>
          <a:prstGeom prst="ellipse">
            <a:avLst/>
          </a:prstGeom>
          <a:solidFill>
            <a:srgbClr val="00B1F5"/>
          </a:solidFill>
          <a:ln/>
        </p:spPr>
      </p:sp>
      <p:sp>
        <p:nvSpPr>
          <p:cNvPr id="13" name="Text 11"/>
          <p:cNvSpPr/>
          <p:nvPr/>
        </p:nvSpPr>
        <p:spPr>
          <a:xfrm>
            <a:off x="6960770" y="914400"/>
            <a:ext cx="5572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Find your work</a:t>
            </a:r>
            <a:endParaRPr lang="en-US" sz="641" dirty="0"/>
          </a:p>
        </p:txBody>
      </p:sp>
      <p:sp>
        <p:nvSpPr>
          <p:cNvPr id="14" name="Shape 12"/>
          <p:cNvSpPr/>
          <p:nvPr/>
        </p:nvSpPr>
        <p:spPr>
          <a:xfrm>
            <a:off x="6855995" y="1095375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5" name="Shape 13"/>
          <p:cNvSpPr/>
          <p:nvPr/>
        </p:nvSpPr>
        <p:spPr>
          <a:xfrm>
            <a:off x="6855995" y="112871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6" name="Text 14"/>
          <p:cNvSpPr/>
          <p:nvPr/>
        </p:nvSpPr>
        <p:spPr>
          <a:xfrm>
            <a:off x="6960770" y="1095375"/>
            <a:ext cx="571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641" dirty="0"/>
          </a:p>
        </p:txBody>
      </p:sp>
      <p:sp>
        <p:nvSpPr>
          <p:cNvPr id="17" name="Shape 15"/>
          <p:cNvSpPr/>
          <p:nvPr/>
        </p:nvSpPr>
        <p:spPr>
          <a:xfrm>
            <a:off x="6855995" y="127635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8" name="Shape 16"/>
          <p:cNvSpPr/>
          <p:nvPr/>
        </p:nvSpPr>
        <p:spPr>
          <a:xfrm>
            <a:off x="6855995" y="13096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9" name="Text 17"/>
          <p:cNvSpPr/>
          <p:nvPr/>
        </p:nvSpPr>
        <p:spPr>
          <a:xfrm>
            <a:off x="6960770" y="1276350"/>
            <a:ext cx="3762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641" dirty="0"/>
          </a:p>
        </p:txBody>
      </p:sp>
      <p:sp>
        <p:nvSpPr>
          <p:cNvPr id="20" name="Shape 18"/>
          <p:cNvSpPr/>
          <p:nvPr/>
        </p:nvSpPr>
        <p:spPr>
          <a:xfrm>
            <a:off x="6855995" y="1457325"/>
            <a:ext cx="1905000" cy="114300"/>
          </a:xfrm>
          <a:prstGeom prst="rect">
            <a:avLst/>
          </a:prstGeom>
          <a:noFill/>
          <a:ln/>
        </p:spPr>
      </p:sp>
      <p:sp>
        <p:nvSpPr>
          <p:cNvPr id="21" name="Shape 19"/>
          <p:cNvSpPr/>
          <p:nvPr/>
        </p:nvSpPr>
        <p:spPr>
          <a:xfrm>
            <a:off x="6855995" y="14906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2" name="Text 20"/>
          <p:cNvSpPr/>
          <p:nvPr/>
        </p:nvSpPr>
        <p:spPr>
          <a:xfrm>
            <a:off x="6960770" y="1457325"/>
            <a:ext cx="728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641" dirty="0"/>
          </a:p>
        </p:txBody>
      </p:sp>
      <p:sp>
        <p:nvSpPr>
          <p:cNvPr id="23" name="Shape 21"/>
          <p:cNvSpPr/>
          <p:nvPr/>
        </p:nvSpPr>
        <p:spPr>
          <a:xfrm>
            <a:off x="6855995" y="163830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24" name="Shape 22"/>
          <p:cNvSpPr/>
          <p:nvPr/>
        </p:nvSpPr>
        <p:spPr>
          <a:xfrm>
            <a:off x="6855995" y="167163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5" name="Text 23"/>
          <p:cNvSpPr/>
          <p:nvPr/>
        </p:nvSpPr>
        <p:spPr>
          <a:xfrm>
            <a:off x="6960770" y="1638300"/>
            <a:ext cx="7334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641" dirty="0"/>
          </a:p>
        </p:txBody>
      </p:sp>
      <p:sp>
        <p:nvSpPr>
          <p:cNvPr id="26" name="Shape 24"/>
          <p:cNvSpPr/>
          <p:nvPr/>
        </p:nvSpPr>
        <p:spPr>
          <a:xfrm>
            <a:off x="6855995" y="1819275"/>
            <a:ext cx="1905000" cy="114300"/>
          </a:xfrm>
          <a:prstGeom prst="rect">
            <a:avLst/>
          </a:prstGeom>
          <a:noFill/>
          <a:ln/>
        </p:spPr>
      </p:sp>
      <p:sp>
        <p:nvSpPr>
          <p:cNvPr id="27" name="Shape 25"/>
          <p:cNvSpPr/>
          <p:nvPr/>
        </p:nvSpPr>
        <p:spPr>
          <a:xfrm>
            <a:off x="6855995" y="1852612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8" name="Text 26"/>
          <p:cNvSpPr/>
          <p:nvPr/>
        </p:nvSpPr>
        <p:spPr>
          <a:xfrm>
            <a:off x="6960770" y="1819275"/>
            <a:ext cx="60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641" dirty="0"/>
          </a:p>
        </p:txBody>
      </p:sp>
      <p:sp>
        <p:nvSpPr>
          <p:cNvPr id="29" name="Shape 27"/>
          <p:cNvSpPr/>
          <p:nvPr/>
        </p:nvSpPr>
        <p:spPr>
          <a:xfrm>
            <a:off x="6855995" y="200025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30" name="Shape 28"/>
          <p:cNvSpPr/>
          <p:nvPr/>
        </p:nvSpPr>
        <p:spPr>
          <a:xfrm>
            <a:off x="6855995" y="20335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1" name="Text 29"/>
          <p:cNvSpPr/>
          <p:nvPr/>
        </p:nvSpPr>
        <p:spPr>
          <a:xfrm>
            <a:off x="6960770" y="2000250"/>
            <a:ext cx="6905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641" dirty="0"/>
          </a:p>
        </p:txBody>
      </p:sp>
      <p:sp>
        <p:nvSpPr>
          <p:cNvPr id="32" name="Shape 30"/>
          <p:cNvSpPr/>
          <p:nvPr/>
        </p:nvSpPr>
        <p:spPr>
          <a:xfrm>
            <a:off x="6855995" y="2181225"/>
            <a:ext cx="1905000" cy="114300"/>
          </a:xfrm>
          <a:prstGeom prst="rect">
            <a:avLst/>
          </a:prstGeom>
          <a:noFill/>
          <a:ln/>
        </p:spPr>
      </p:sp>
      <p:sp>
        <p:nvSpPr>
          <p:cNvPr id="33" name="Shape 31"/>
          <p:cNvSpPr/>
          <p:nvPr/>
        </p:nvSpPr>
        <p:spPr>
          <a:xfrm>
            <a:off x="6855995" y="22145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4" name="Text 32"/>
          <p:cNvSpPr/>
          <p:nvPr/>
        </p:nvSpPr>
        <p:spPr>
          <a:xfrm>
            <a:off x="6960770" y="2181225"/>
            <a:ext cx="6381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641" dirty="0"/>
          </a:p>
        </p:txBody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714375"/>
            <a:ext cx="6210300" cy="4095750"/>
          </a:xfrm>
          <a:prstGeom prst="rect">
            <a:avLst/>
          </a:prstGeom>
        </p:spPr>
      </p:pic>
      <p:sp>
        <p:nvSpPr>
          <p:cNvPr id="36" name="Shape 33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37" name="Text 34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077200" y="4924425"/>
            <a:ext cx="68580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9295" y="714375"/>
            <a:ext cx="2554705" cy="40957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81000" y="209550"/>
            <a:ext cx="3119438" cy="228600"/>
          </a:xfrm>
          <a:prstGeom prst="rect">
            <a:avLst/>
          </a:prstGeom>
          <a:noFill/>
          <a:ln/>
        </p:spPr>
      </p:sp>
      <p:sp>
        <p:nvSpPr>
          <p:cNvPr id="5" name="Text 3"/>
          <p:cNvSpPr/>
          <p:nvPr/>
        </p:nvSpPr>
        <p:spPr>
          <a:xfrm>
            <a:off x="381000" y="209550"/>
            <a:ext cx="12811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1425" dirty="0"/>
          </a:p>
        </p:txBody>
      </p:sp>
      <p:sp>
        <p:nvSpPr>
          <p:cNvPr id="6" name="Shape 4"/>
          <p:cNvSpPr/>
          <p:nvPr/>
        </p:nvSpPr>
        <p:spPr>
          <a:xfrm>
            <a:off x="1728788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7" name="Text 5"/>
          <p:cNvSpPr/>
          <p:nvPr/>
        </p:nvSpPr>
        <p:spPr>
          <a:xfrm>
            <a:off x="1809750" y="209550"/>
            <a:ext cx="1690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Start with a new plan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381000" y="476250"/>
            <a:ext cx="83820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1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Name the plan, choose the operation and link the change record. One plan holds one operation and one change window.</a:t>
            </a:r>
            <a:endParaRPr lang="en-US" sz="784" dirty="0"/>
          </a:p>
        </p:txBody>
      </p:sp>
      <p:sp>
        <p:nvSpPr>
          <p:cNvPr id="9" name="Shape 7"/>
          <p:cNvSpPr/>
          <p:nvPr/>
        </p:nvSpPr>
        <p:spPr>
          <a:xfrm>
            <a:off x="6855995" y="752475"/>
            <a:ext cx="1907005" cy="1543050"/>
          </a:xfrm>
          <a:prstGeom prst="rect">
            <a:avLst/>
          </a:prstGeom>
          <a:noFill/>
          <a:ln/>
        </p:spPr>
      </p:sp>
      <p:sp>
        <p:nvSpPr>
          <p:cNvPr id="10" name="Text 8"/>
          <p:cNvSpPr/>
          <p:nvPr/>
        </p:nvSpPr>
        <p:spPr>
          <a:xfrm>
            <a:off x="6855995" y="752475"/>
            <a:ext cx="447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70" spc="34" kern="0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STEP 2 OF 8</a:t>
            </a:r>
            <a:endParaRPr lang="en-US" sz="570" dirty="0"/>
          </a:p>
        </p:txBody>
      </p:sp>
      <p:sp>
        <p:nvSpPr>
          <p:cNvPr id="11" name="Shape 9"/>
          <p:cNvSpPr/>
          <p:nvPr/>
        </p:nvSpPr>
        <p:spPr>
          <a:xfrm>
            <a:off x="6855995" y="91440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2" name="Shape 10"/>
          <p:cNvSpPr/>
          <p:nvPr/>
        </p:nvSpPr>
        <p:spPr>
          <a:xfrm>
            <a:off x="6855995" y="947737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3" name="Text 11"/>
          <p:cNvSpPr/>
          <p:nvPr/>
        </p:nvSpPr>
        <p:spPr>
          <a:xfrm>
            <a:off x="6960770" y="914400"/>
            <a:ext cx="5381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Find your work</a:t>
            </a:r>
            <a:endParaRPr lang="en-US" sz="641" dirty="0"/>
          </a:p>
        </p:txBody>
      </p:sp>
      <p:sp>
        <p:nvSpPr>
          <p:cNvPr id="14" name="Shape 12"/>
          <p:cNvSpPr/>
          <p:nvPr/>
        </p:nvSpPr>
        <p:spPr>
          <a:xfrm>
            <a:off x="6855995" y="1095375"/>
            <a:ext cx="1907005" cy="114300"/>
          </a:xfrm>
          <a:prstGeom prst="rect">
            <a:avLst/>
          </a:prstGeom>
          <a:noFill/>
          <a:ln/>
        </p:spPr>
      </p:sp>
      <p:sp>
        <p:nvSpPr>
          <p:cNvPr id="15" name="Shape 13"/>
          <p:cNvSpPr/>
          <p:nvPr/>
        </p:nvSpPr>
        <p:spPr>
          <a:xfrm>
            <a:off x="6855995" y="1128713"/>
            <a:ext cx="47625" cy="47625"/>
          </a:xfrm>
          <a:prstGeom prst="ellipse">
            <a:avLst/>
          </a:prstGeom>
          <a:solidFill>
            <a:srgbClr val="00B1F5"/>
          </a:solidFill>
          <a:ln/>
        </p:spPr>
      </p:sp>
      <p:sp>
        <p:nvSpPr>
          <p:cNvPr id="16" name="Text 14"/>
          <p:cNvSpPr/>
          <p:nvPr/>
        </p:nvSpPr>
        <p:spPr>
          <a:xfrm>
            <a:off x="6960770" y="1095375"/>
            <a:ext cx="5762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641" dirty="0"/>
          </a:p>
        </p:txBody>
      </p:sp>
      <p:sp>
        <p:nvSpPr>
          <p:cNvPr id="17" name="Shape 15"/>
          <p:cNvSpPr/>
          <p:nvPr/>
        </p:nvSpPr>
        <p:spPr>
          <a:xfrm>
            <a:off x="6855995" y="1276350"/>
            <a:ext cx="1907005" cy="114300"/>
          </a:xfrm>
          <a:prstGeom prst="rect">
            <a:avLst/>
          </a:prstGeom>
          <a:noFill/>
          <a:ln/>
        </p:spPr>
      </p:sp>
      <p:sp>
        <p:nvSpPr>
          <p:cNvPr id="18" name="Shape 16"/>
          <p:cNvSpPr/>
          <p:nvPr/>
        </p:nvSpPr>
        <p:spPr>
          <a:xfrm>
            <a:off x="6855995" y="13096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9" name="Text 17"/>
          <p:cNvSpPr/>
          <p:nvPr/>
        </p:nvSpPr>
        <p:spPr>
          <a:xfrm>
            <a:off x="6960770" y="1276350"/>
            <a:ext cx="3762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641" dirty="0"/>
          </a:p>
        </p:txBody>
      </p:sp>
      <p:sp>
        <p:nvSpPr>
          <p:cNvPr id="20" name="Shape 18"/>
          <p:cNvSpPr/>
          <p:nvPr/>
        </p:nvSpPr>
        <p:spPr>
          <a:xfrm>
            <a:off x="6855995" y="1457325"/>
            <a:ext cx="1907005" cy="114300"/>
          </a:xfrm>
          <a:prstGeom prst="rect">
            <a:avLst/>
          </a:prstGeom>
          <a:noFill/>
          <a:ln/>
        </p:spPr>
      </p:sp>
      <p:sp>
        <p:nvSpPr>
          <p:cNvPr id="21" name="Shape 19"/>
          <p:cNvSpPr/>
          <p:nvPr/>
        </p:nvSpPr>
        <p:spPr>
          <a:xfrm>
            <a:off x="6855995" y="14906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2" name="Text 20"/>
          <p:cNvSpPr/>
          <p:nvPr/>
        </p:nvSpPr>
        <p:spPr>
          <a:xfrm>
            <a:off x="6960770" y="1457325"/>
            <a:ext cx="728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641" dirty="0"/>
          </a:p>
        </p:txBody>
      </p:sp>
      <p:sp>
        <p:nvSpPr>
          <p:cNvPr id="23" name="Shape 21"/>
          <p:cNvSpPr/>
          <p:nvPr/>
        </p:nvSpPr>
        <p:spPr>
          <a:xfrm>
            <a:off x="6855995" y="1638300"/>
            <a:ext cx="1907005" cy="114300"/>
          </a:xfrm>
          <a:prstGeom prst="rect">
            <a:avLst/>
          </a:prstGeom>
          <a:noFill/>
          <a:ln/>
        </p:spPr>
      </p:sp>
      <p:sp>
        <p:nvSpPr>
          <p:cNvPr id="24" name="Shape 22"/>
          <p:cNvSpPr/>
          <p:nvPr/>
        </p:nvSpPr>
        <p:spPr>
          <a:xfrm>
            <a:off x="6855995" y="167163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5" name="Text 23"/>
          <p:cNvSpPr/>
          <p:nvPr/>
        </p:nvSpPr>
        <p:spPr>
          <a:xfrm>
            <a:off x="6960770" y="1638300"/>
            <a:ext cx="7334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641" dirty="0"/>
          </a:p>
        </p:txBody>
      </p:sp>
      <p:sp>
        <p:nvSpPr>
          <p:cNvPr id="26" name="Shape 24"/>
          <p:cNvSpPr/>
          <p:nvPr/>
        </p:nvSpPr>
        <p:spPr>
          <a:xfrm>
            <a:off x="6855995" y="1819275"/>
            <a:ext cx="1907005" cy="114300"/>
          </a:xfrm>
          <a:prstGeom prst="rect">
            <a:avLst/>
          </a:prstGeom>
          <a:noFill/>
          <a:ln/>
        </p:spPr>
      </p:sp>
      <p:sp>
        <p:nvSpPr>
          <p:cNvPr id="27" name="Shape 25"/>
          <p:cNvSpPr/>
          <p:nvPr/>
        </p:nvSpPr>
        <p:spPr>
          <a:xfrm>
            <a:off x="6855995" y="1852612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8" name="Text 26"/>
          <p:cNvSpPr/>
          <p:nvPr/>
        </p:nvSpPr>
        <p:spPr>
          <a:xfrm>
            <a:off x="6960770" y="1819275"/>
            <a:ext cx="60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641" dirty="0"/>
          </a:p>
        </p:txBody>
      </p:sp>
      <p:sp>
        <p:nvSpPr>
          <p:cNvPr id="29" name="Shape 27"/>
          <p:cNvSpPr/>
          <p:nvPr/>
        </p:nvSpPr>
        <p:spPr>
          <a:xfrm>
            <a:off x="6855995" y="2000250"/>
            <a:ext cx="1907005" cy="114300"/>
          </a:xfrm>
          <a:prstGeom prst="rect">
            <a:avLst/>
          </a:prstGeom>
          <a:noFill/>
          <a:ln/>
        </p:spPr>
      </p:sp>
      <p:sp>
        <p:nvSpPr>
          <p:cNvPr id="30" name="Shape 28"/>
          <p:cNvSpPr/>
          <p:nvPr/>
        </p:nvSpPr>
        <p:spPr>
          <a:xfrm>
            <a:off x="6855995" y="20335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1" name="Text 29"/>
          <p:cNvSpPr/>
          <p:nvPr/>
        </p:nvSpPr>
        <p:spPr>
          <a:xfrm>
            <a:off x="6960770" y="2000250"/>
            <a:ext cx="6905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641" dirty="0"/>
          </a:p>
        </p:txBody>
      </p:sp>
      <p:sp>
        <p:nvSpPr>
          <p:cNvPr id="32" name="Shape 30"/>
          <p:cNvSpPr/>
          <p:nvPr/>
        </p:nvSpPr>
        <p:spPr>
          <a:xfrm>
            <a:off x="6855995" y="2181225"/>
            <a:ext cx="1907005" cy="114300"/>
          </a:xfrm>
          <a:prstGeom prst="rect">
            <a:avLst/>
          </a:prstGeom>
          <a:noFill/>
          <a:ln/>
        </p:spPr>
      </p:sp>
      <p:sp>
        <p:nvSpPr>
          <p:cNvPr id="33" name="Shape 31"/>
          <p:cNvSpPr/>
          <p:nvPr/>
        </p:nvSpPr>
        <p:spPr>
          <a:xfrm>
            <a:off x="6855995" y="22145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4" name="Text 32"/>
          <p:cNvSpPr/>
          <p:nvPr/>
        </p:nvSpPr>
        <p:spPr>
          <a:xfrm>
            <a:off x="6960770" y="2181225"/>
            <a:ext cx="6381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641" dirty="0"/>
          </a:p>
        </p:txBody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714375"/>
            <a:ext cx="6210300" cy="4095750"/>
          </a:xfrm>
          <a:prstGeom prst="rect">
            <a:avLst/>
          </a:prstGeom>
        </p:spPr>
      </p:pic>
      <p:sp>
        <p:nvSpPr>
          <p:cNvPr id="36" name="Shape 33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37" name="Text 34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077200" y="4924425"/>
            <a:ext cx="68580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91300" y="714375"/>
            <a:ext cx="2554705" cy="40957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81000" y="209550"/>
            <a:ext cx="4090987" cy="228600"/>
          </a:xfrm>
          <a:prstGeom prst="rect">
            <a:avLst/>
          </a:prstGeom>
          <a:noFill/>
          <a:ln/>
        </p:spPr>
      </p:sp>
      <p:sp>
        <p:nvSpPr>
          <p:cNvPr id="5" name="Text 3"/>
          <p:cNvSpPr/>
          <p:nvPr/>
        </p:nvSpPr>
        <p:spPr>
          <a:xfrm>
            <a:off x="381000" y="209550"/>
            <a:ext cx="12811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1425" dirty="0"/>
          </a:p>
        </p:txBody>
      </p:sp>
      <p:sp>
        <p:nvSpPr>
          <p:cNvPr id="6" name="Shape 4"/>
          <p:cNvSpPr/>
          <p:nvPr/>
        </p:nvSpPr>
        <p:spPr>
          <a:xfrm>
            <a:off x="1728788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7" name="Text 5"/>
          <p:cNvSpPr/>
          <p:nvPr/>
        </p:nvSpPr>
        <p:spPr>
          <a:xfrm>
            <a:off x="1809750" y="209550"/>
            <a:ext cx="26622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Quick Submit for a single change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381000" y="476250"/>
            <a:ext cx="83820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1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For one target, the same checks happen on a single screen. The system creates the plan in the background.</a:t>
            </a:r>
            <a:endParaRPr lang="en-US" sz="784" dirty="0"/>
          </a:p>
        </p:txBody>
      </p:sp>
      <p:sp>
        <p:nvSpPr>
          <p:cNvPr id="9" name="Shape 7"/>
          <p:cNvSpPr/>
          <p:nvPr/>
        </p:nvSpPr>
        <p:spPr>
          <a:xfrm>
            <a:off x="6858000" y="752475"/>
            <a:ext cx="1907000" cy="1543050"/>
          </a:xfrm>
          <a:prstGeom prst="rect">
            <a:avLst/>
          </a:prstGeom>
          <a:noFill/>
          <a:ln/>
        </p:spPr>
      </p:sp>
      <p:sp>
        <p:nvSpPr>
          <p:cNvPr id="10" name="Text 8"/>
          <p:cNvSpPr/>
          <p:nvPr/>
        </p:nvSpPr>
        <p:spPr>
          <a:xfrm>
            <a:off x="6858000" y="752475"/>
            <a:ext cx="447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70" spc="34" kern="0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STEP 2 OF 8</a:t>
            </a:r>
            <a:endParaRPr lang="en-US" sz="570" dirty="0"/>
          </a:p>
        </p:txBody>
      </p:sp>
      <p:sp>
        <p:nvSpPr>
          <p:cNvPr id="11" name="Shape 9"/>
          <p:cNvSpPr/>
          <p:nvPr/>
        </p:nvSpPr>
        <p:spPr>
          <a:xfrm>
            <a:off x="6858000" y="91440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2" name="Shape 10"/>
          <p:cNvSpPr/>
          <p:nvPr/>
        </p:nvSpPr>
        <p:spPr>
          <a:xfrm>
            <a:off x="6858000" y="947737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3" name="Text 11"/>
          <p:cNvSpPr/>
          <p:nvPr/>
        </p:nvSpPr>
        <p:spPr>
          <a:xfrm>
            <a:off x="6962775" y="914400"/>
            <a:ext cx="5381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Find your work</a:t>
            </a:r>
            <a:endParaRPr lang="en-US" sz="641" dirty="0"/>
          </a:p>
        </p:txBody>
      </p:sp>
      <p:sp>
        <p:nvSpPr>
          <p:cNvPr id="14" name="Shape 12"/>
          <p:cNvSpPr/>
          <p:nvPr/>
        </p:nvSpPr>
        <p:spPr>
          <a:xfrm>
            <a:off x="6858000" y="10953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5" name="Shape 13"/>
          <p:cNvSpPr/>
          <p:nvPr/>
        </p:nvSpPr>
        <p:spPr>
          <a:xfrm>
            <a:off x="6858000" y="1128713"/>
            <a:ext cx="47625" cy="47625"/>
          </a:xfrm>
          <a:prstGeom prst="ellipse">
            <a:avLst/>
          </a:prstGeom>
          <a:solidFill>
            <a:srgbClr val="00B1F5"/>
          </a:solidFill>
          <a:ln/>
        </p:spPr>
      </p:sp>
      <p:sp>
        <p:nvSpPr>
          <p:cNvPr id="16" name="Text 14"/>
          <p:cNvSpPr/>
          <p:nvPr/>
        </p:nvSpPr>
        <p:spPr>
          <a:xfrm>
            <a:off x="6962775" y="1095375"/>
            <a:ext cx="5762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641" dirty="0"/>
          </a:p>
        </p:txBody>
      </p:sp>
      <p:sp>
        <p:nvSpPr>
          <p:cNvPr id="17" name="Shape 15"/>
          <p:cNvSpPr/>
          <p:nvPr/>
        </p:nvSpPr>
        <p:spPr>
          <a:xfrm>
            <a:off x="6858000" y="12763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8" name="Shape 16"/>
          <p:cNvSpPr/>
          <p:nvPr/>
        </p:nvSpPr>
        <p:spPr>
          <a:xfrm>
            <a:off x="6858000" y="13096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9" name="Text 17"/>
          <p:cNvSpPr/>
          <p:nvPr/>
        </p:nvSpPr>
        <p:spPr>
          <a:xfrm>
            <a:off x="6962775" y="1276350"/>
            <a:ext cx="3762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641" dirty="0"/>
          </a:p>
        </p:txBody>
      </p:sp>
      <p:sp>
        <p:nvSpPr>
          <p:cNvPr id="20" name="Shape 18"/>
          <p:cNvSpPr/>
          <p:nvPr/>
        </p:nvSpPr>
        <p:spPr>
          <a:xfrm>
            <a:off x="6858000" y="14573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1" name="Shape 19"/>
          <p:cNvSpPr/>
          <p:nvPr/>
        </p:nvSpPr>
        <p:spPr>
          <a:xfrm>
            <a:off x="6858000" y="14906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2" name="Text 20"/>
          <p:cNvSpPr/>
          <p:nvPr/>
        </p:nvSpPr>
        <p:spPr>
          <a:xfrm>
            <a:off x="6962775" y="1457325"/>
            <a:ext cx="728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641" dirty="0"/>
          </a:p>
        </p:txBody>
      </p:sp>
      <p:sp>
        <p:nvSpPr>
          <p:cNvPr id="23" name="Shape 21"/>
          <p:cNvSpPr/>
          <p:nvPr/>
        </p:nvSpPr>
        <p:spPr>
          <a:xfrm>
            <a:off x="6858000" y="163830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4" name="Shape 22"/>
          <p:cNvSpPr/>
          <p:nvPr/>
        </p:nvSpPr>
        <p:spPr>
          <a:xfrm>
            <a:off x="6858000" y="167163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5" name="Text 23"/>
          <p:cNvSpPr/>
          <p:nvPr/>
        </p:nvSpPr>
        <p:spPr>
          <a:xfrm>
            <a:off x="6962775" y="1638300"/>
            <a:ext cx="7334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641" dirty="0"/>
          </a:p>
        </p:txBody>
      </p:sp>
      <p:sp>
        <p:nvSpPr>
          <p:cNvPr id="26" name="Shape 24"/>
          <p:cNvSpPr/>
          <p:nvPr/>
        </p:nvSpPr>
        <p:spPr>
          <a:xfrm>
            <a:off x="6858000" y="18192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7" name="Shape 25"/>
          <p:cNvSpPr/>
          <p:nvPr/>
        </p:nvSpPr>
        <p:spPr>
          <a:xfrm>
            <a:off x="6858000" y="1852612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8" name="Text 26"/>
          <p:cNvSpPr/>
          <p:nvPr/>
        </p:nvSpPr>
        <p:spPr>
          <a:xfrm>
            <a:off x="6962775" y="1819275"/>
            <a:ext cx="60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641" dirty="0"/>
          </a:p>
        </p:txBody>
      </p:sp>
      <p:sp>
        <p:nvSpPr>
          <p:cNvPr id="29" name="Shape 27"/>
          <p:cNvSpPr/>
          <p:nvPr/>
        </p:nvSpPr>
        <p:spPr>
          <a:xfrm>
            <a:off x="6858000" y="20002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30" name="Shape 28"/>
          <p:cNvSpPr/>
          <p:nvPr/>
        </p:nvSpPr>
        <p:spPr>
          <a:xfrm>
            <a:off x="6858000" y="20335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1" name="Text 29"/>
          <p:cNvSpPr/>
          <p:nvPr/>
        </p:nvSpPr>
        <p:spPr>
          <a:xfrm>
            <a:off x="6962775" y="2000250"/>
            <a:ext cx="6905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641" dirty="0"/>
          </a:p>
        </p:txBody>
      </p:sp>
      <p:sp>
        <p:nvSpPr>
          <p:cNvPr id="32" name="Shape 30"/>
          <p:cNvSpPr/>
          <p:nvPr/>
        </p:nvSpPr>
        <p:spPr>
          <a:xfrm>
            <a:off x="6858000" y="21812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33" name="Shape 31"/>
          <p:cNvSpPr/>
          <p:nvPr/>
        </p:nvSpPr>
        <p:spPr>
          <a:xfrm>
            <a:off x="6858000" y="22145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4" name="Text 32"/>
          <p:cNvSpPr/>
          <p:nvPr/>
        </p:nvSpPr>
        <p:spPr>
          <a:xfrm>
            <a:off x="6962775" y="2181225"/>
            <a:ext cx="6381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641" dirty="0"/>
          </a:p>
        </p:txBody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714375"/>
            <a:ext cx="6210300" cy="4095750"/>
          </a:xfrm>
          <a:prstGeom prst="rect">
            <a:avLst/>
          </a:prstGeom>
        </p:spPr>
      </p:pic>
      <p:sp>
        <p:nvSpPr>
          <p:cNvPr id="36" name="Shape 33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37" name="Text 34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077200" y="4924425"/>
            <a:ext cx="68580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81000" y="209550"/>
            <a:ext cx="3028950" cy="22860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81000" y="209550"/>
            <a:ext cx="847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1295400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6" name="Text 4"/>
          <p:cNvSpPr/>
          <p:nvPr/>
        </p:nvSpPr>
        <p:spPr>
          <a:xfrm>
            <a:off x="1376363" y="209550"/>
            <a:ext cx="20335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The plan opens as a draft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381000" y="476250"/>
            <a:ext cx="83820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1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the targets one by one. Nothing runs until the plan is submitted, so the draft can be changed freely.</a:t>
            </a:r>
            <a:endParaRPr lang="en-US" sz="784" dirty="0"/>
          </a:p>
        </p:txBody>
      </p:sp>
      <p:sp>
        <p:nvSpPr>
          <p:cNvPr id="8" name="Shape 6"/>
          <p:cNvSpPr/>
          <p:nvPr/>
        </p:nvSpPr>
        <p:spPr>
          <a:xfrm>
            <a:off x="6858000" y="752475"/>
            <a:ext cx="1907000" cy="1543050"/>
          </a:xfrm>
          <a:prstGeom prst="rect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6858000" y="752475"/>
            <a:ext cx="447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70" spc="34" kern="0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STEP 3 OF 8</a:t>
            </a:r>
            <a:endParaRPr lang="en-US" sz="570" dirty="0"/>
          </a:p>
        </p:txBody>
      </p:sp>
      <p:sp>
        <p:nvSpPr>
          <p:cNvPr id="10" name="Shape 8"/>
          <p:cNvSpPr/>
          <p:nvPr/>
        </p:nvSpPr>
        <p:spPr>
          <a:xfrm>
            <a:off x="6858000" y="91440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6858000" y="947737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2" name="Text 10"/>
          <p:cNvSpPr/>
          <p:nvPr/>
        </p:nvSpPr>
        <p:spPr>
          <a:xfrm>
            <a:off x="6962775" y="914400"/>
            <a:ext cx="5381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Find your work</a:t>
            </a:r>
            <a:endParaRPr lang="en-US" sz="641" dirty="0"/>
          </a:p>
        </p:txBody>
      </p:sp>
      <p:sp>
        <p:nvSpPr>
          <p:cNvPr id="13" name="Shape 11"/>
          <p:cNvSpPr/>
          <p:nvPr/>
        </p:nvSpPr>
        <p:spPr>
          <a:xfrm>
            <a:off x="6858000" y="10953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6858000" y="112871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5" name="Text 13"/>
          <p:cNvSpPr/>
          <p:nvPr/>
        </p:nvSpPr>
        <p:spPr>
          <a:xfrm>
            <a:off x="6962775" y="1095375"/>
            <a:ext cx="571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641" dirty="0"/>
          </a:p>
        </p:txBody>
      </p:sp>
      <p:sp>
        <p:nvSpPr>
          <p:cNvPr id="16" name="Shape 14"/>
          <p:cNvSpPr/>
          <p:nvPr/>
        </p:nvSpPr>
        <p:spPr>
          <a:xfrm>
            <a:off x="6858000" y="12763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6858000" y="1309688"/>
            <a:ext cx="47625" cy="47625"/>
          </a:xfrm>
          <a:prstGeom prst="ellipse">
            <a:avLst/>
          </a:prstGeom>
          <a:solidFill>
            <a:srgbClr val="00B1F5"/>
          </a:solidFill>
          <a:ln/>
        </p:spPr>
      </p:sp>
      <p:sp>
        <p:nvSpPr>
          <p:cNvPr id="18" name="Text 16"/>
          <p:cNvSpPr/>
          <p:nvPr/>
        </p:nvSpPr>
        <p:spPr>
          <a:xfrm>
            <a:off x="6962775" y="1276350"/>
            <a:ext cx="381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641" dirty="0"/>
          </a:p>
        </p:txBody>
      </p:sp>
      <p:sp>
        <p:nvSpPr>
          <p:cNvPr id="19" name="Shape 17"/>
          <p:cNvSpPr/>
          <p:nvPr/>
        </p:nvSpPr>
        <p:spPr>
          <a:xfrm>
            <a:off x="6858000" y="14573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0" name="Shape 18"/>
          <p:cNvSpPr/>
          <p:nvPr/>
        </p:nvSpPr>
        <p:spPr>
          <a:xfrm>
            <a:off x="6858000" y="14906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1" name="Text 19"/>
          <p:cNvSpPr/>
          <p:nvPr/>
        </p:nvSpPr>
        <p:spPr>
          <a:xfrm>
            <a:off x="6962775" y="1457325"/>
            <a:ext cx="728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641" dirty="0"/>
          </a:p>
        </p:txBody>
      </p:sp>
      <p:sp>
        <p:nvSpPr>
          <p:cNvPr id="22" name="Shape 20"/>
          <p:cNvSpPr/>
          <p:nvPr/>
        </p:nvSpPr>
        <p:spPr>
          <a:xfrm>
            <a:off x="6858000" y="163830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3" name="Shape 21"/>
          <p:cNvSpPr/>
          <p:nvPr/>
        </p:nvSpPr>
        <p:spPr>
          <a:xfrm>
            <a:off x="6858000" y="167163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4" name="Text 22"/>
          <p:cNvSpPr/>
          <p:nvPr/>
        </p:nvSpPr>
        <p:spPr>
          <a:xfrm>
            <a:off x="6962775" y="1638300"/>
            <a:ext cx="7334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641" dirty="0"/>
          </a:p>
        </p:txBody>
      </p:sp>
      <p:sp>
        <p:nvSpPr>
          <p:cNvPr id="25" name="Shape 23"/>
          <p:cNvSpPr/>
          <p:nvPr/>
        </p:nvSpPr>
        <p:spPr>
          <a:xfrm>
            <a:off x="6858000" y="18192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6" name="Shape 24"/>
          <p:cNvSpPr/>
          <p:nvPr/>
        </p:nvSpPr>
        <p:spPr>
          <a:xfrm>
            <a:off x="6858000" y="1852612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7" name="Text 25"/>
          <p:cNvSpPr/>
          <p:nvPr/>
        </p:nvSpPr>
        <p:spPr>
          <a:xfrm>
            <a:off x="6962775" y="1819275"/>
            <a:ext cx="60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641" dirty="0"/>
          </a:p>
        </p:txBody>
      </p:sp>
      <p:sp>
        <p:nvSpPr>
          <p:cNvPr id="28" name="Shape 26"/>
          <p:cNvSpPr/>
          <p:nvPr/>
        </p:nvSpPr>
        <p:spPr>
          <a:xfrm>
            <a:off x="6858000" y="20002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9" name="Shape 27"/>
          <p:cNvSpPr/>
          <p:nvPr/>
        </p:nvSpPr>
        <p:spPr>
          <a:xfrm>
            <a:off x="6858000" y="20335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0" name="Text 28"/>
          <p:cNvSpPr/>
          <p:nvPr/>
        </p:nvSpPr>
        <p:spPr>
          <a:xfrm>
            <a:off x="6962775" y="2000250"/>
            <a:ext cx="6905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641" dirty="0"/>
          </a:p>
        </p:txBody>
      </p:sp>
      <p:sp>
        <p:nvSpPr>
          <p:cNvPr id="31" name="Shape 29"/>
          <p:cNvSpPr/>
          <p:nvPr/>
        </p:nvSpPr>
        <p:spPr>
          <a:xfrm>
            <a:off x="6858000" y="21812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32" name="Shape 30"/>
          <p:cNvSpPr/>
          <p:nvPr/>
        </p:nvSpPr>
        <p:spPr>
          <a:xfrm>
            <a:off x="6858000" y="22145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3" name="Text 31"/>
          <p:cNvSpPr/>
          <p:nvPr/>
        </p:nvSpPr>
        <p:spPr>
          <a:xfrm>
            <a:off x="6962775" y="2181225"/>
            <a:ext cx="6381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641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714375"/>
            <a:ext cx="6210300" cy="4095750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36" name="Text 33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077200" y="4924425"/>
            <a:ext cx="68580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81000" y="209550"/>
            <a:ext cx="3490913" cy="22860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81000" y="209550"/>
            <a:ext cx="847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1295400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6" name="Text 4"/>
          <p:cNvSpPr/>
          <p:nvPr/>
        </p:nvSpPr>
        <p:spPr>
          <a:xfrm>
            <a:off x="1376363" y="209550"/>
            <a:ext cx="2495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an item and see its impact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381000" y="476250"/>
            <a:ext cx="83820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1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Choose the device, tenant and target version. The impact check lists everything the change touches before the item is added.</a:t>
            </a:r>
            <a:endParaRPr lang="en-US" sz="784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714375"/>
            <a:ext cx="5453063" cy="409575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858000" y="752475"/>
            <a:ext cx="1907000" cy="154305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6858000" y="752475"/>
            <a:ext cx="447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70" spc="34" kern="0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STEP 3 OF 8</a:t>
            </a:r>
            <a:endParaRPr lang="en-US" sz="570" dirty="0"/>
          </a:p>
        </p:txBody>
      </p:sp>
      <p:sp>
        <p:nvSpPr>
          <p:cNvPr id="11" name="Shape 8"/>
          <p:cNvSpPr/>
          <p:nvPr/>
        </p:nvSpPr>
        <p:spPr>
          <a:xfrm>
            <a:off x="6858000" y="91440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2" name="Shape 9"/>
          <p:cNvSpPr/>
          <p:nvPr/>
        </p:nvSpPr>
        <p:spPr>
          <a:xfrm>
            <a:off x="6858000" y="947737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3" name="Text 10"/>
          <p:cNvSpPr/>
          <p:nvPr/>
        </p:nvSpPr>
        <p:spPr>
          <a:xfrm>
            <a:off x="6962775" y="914400"/>
            <a:ext cx="5381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Find your work</a:t>
            </a:r>
            <a:endParaRPr lang="en-US" sz="641" dirty="0"/>
          </a:p>
        </p:txBody>
      </p:sp>
      <p:sp>
        <p:nvSpPr>
          <p:cNvPr id="14" name="Shape 11"/>
          <p:cNvSpPr/>
          <p:nvPr/>
        </p:nvSpPr>
        <p:spPr>
          <a:xfrm>
            <a:off x="6858000" y="10953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5" name="Shape 12"/>
          <p:cNvSpPr/>
          <p:nvPr/>
        </p:nvSpPr>
        <p:spPr>
          <a:xfrm>
            <a:off x="6858000" y="112871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6" name="Text 13"/>
          <p:cNvSpPr/>
          <p:nvPr/>
        </p:nvSpPr>
        <p:spPr>
          <a:xfrm>
            <a:off x="6962775" y="1095375"/>
            <a:ext cx="571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641" dirty="0"/>
          </a:p>
        </p:txBody>
      </p:sp>
      <p:sp>
        <p:nvSpPr>
          <p:cNvPr id="17" name="Shape 14"/>
          <p:cNvSpPr/>
          <p:nvPr/>
        </p:nvSpPr>
        <p:spPr>
          <a:xfrm>
            <a:off x="6858000" y="12763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8" name="Shape 15"/>
          <p:cNvSpPr/>
          <p:nvPr/>
        </p:nvSpPr>
        <p:spPr>
          <a:xfrm>
            <a:off x="6858000" y="1309688"/>
            <a:ext cx="47625" cy="47625"/>
          </a:xfrm>
          <a:prstGeom prst="ellipse">
            <a:avLst/>
          </a:prstGeom>
          <a:solidFill>
            <a:srgbClr val="00B1F5"/>
          </a:solidFill>
          <a:ln/>
        </p:spPr>
      </p:sp>
      <p:sp>
        <p:nvSpPr>
          <p:cNvPr id="19" name="Text 16"/>
          <p:cNvSpPr/>
          <p:nvPr/>
        </p:nvSpPr>
        <p:spPr>
          <a:xfrm>
            <a:off x="6962775" y="1276350"/>
            <a:ext cx="381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641" dirty="0"/>
          </a:p>
        </p:txBody>
      </p:sp>
      <p:sp>
        <p:nvSpPr>
          <p:cNvPr id="20" name="Shape 17"/>
          <p:cNvSpPr/>
          <p:nvPr/>
        </p:nvSpPr>
        <p:spPr>
          <a:xfrm>
            <a:off x="6858000" y="14573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1" name="Shape 18"/>
          <p:cNvSpPr/>
          <p:nvPr/>
        </p:nvSpPr>
        <p:spPr>
          <a:xfrm>
            <a:off x="6858000" y="14906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2" name="Text 19"/>
          <p:cNvSpPr/>
          <p:nvPr/>
        </p:nvSpPr>
        <p:spPr>
          <a:xfrm>
            <a:off x="6962775" y="1457325"/>
            <a:ext cx="728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641" dirty="0"/>
          </a:p>
        </p:txBody>
      </p:sp>
      <p:sp>
        <p:nvSpPr>
          <p:cNvPr id="23" name="Shape 20"/>
          <p:cNvSpPr/>
          <p:nvPr/>
        </p:nvSpPr>
        <p:spPr>
          <a:xfrm>
            <a:off x="6858000" y="163830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4" name="Shape 21"/>
          <p:cNvSpPr/>
          <p:nvPr/>
        </p:nvSpPr>
        <p:spPr>
          <a:xfrm>
            <a:off x="6858000" y="167163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5" name="Text 22"/>
          <p:cNvSpPr/>
          <p:nvPr/>
        </p:nvSpPr>
        <p:spPr>
          <a:xfrm>
            <a:off x="6962775" y="1638300"/>
            <a:ext cx="7334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641" dirty="0"/>
          </a:p>
        </p:txBody>
      </p:sp>
      <p:sp>
        <p:nvSpPr>
          <p:cNvPr id="26" name="Shape 23"/>
          <p:cNvSpPr/>
          <p:nvPr/>
        </p:nvSpPr>
        <p:spPr>
          <a:xfrm>
            <a:off x="6858000" y="18192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7" name="Shape 24"/>
          <p:cNvSpPr/>
          <p:nvPr/>
        </p:nvSpPr>
        <p:spPr>
          <a:xfrm>
            <a:off x="6858000" y="1852612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8" name="Text 25"/>
          <p:cNvSpPr/>
          <p:nvPr/>
        </p:nvSpPr>
        <p:spPr>
          <a:xfrm>
            <a:off x="6962775" y="1819275"/>
            <a:ext cx="60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641" dirty="0"/>
          </a:p>
        </p:txBody>
      </p:sp>
      <p:sp>
        <p:nvSpPr>
          <p:cNvPr id="29" name="Shape 26"/>
          <p:cNvSpPr/>
          <p:nvPr/>
        </p:nvSpPr>
        <p:spPr>
          <a:xfrm>
            <a:off x="6858000" y="20002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30" name="Shape 27"/>
          <p:cNvSpPr/>
          <p:nvPr/>
        </p:nvSpPr>
        <p:spPr>
          <a:xfrm>
            <a:off x="6858000" y="20335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1" name="Text 28"/>
          <p:cNvSpPr/>
          <p:nvPr/>
        </p:nvSpPr>
        <p:spPr>
          <a:xfrm>
            <a:off x="6962775" y="2000250"/>
            <a:ext cx="6905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641" dirty="0"/>
          </a:p>
        </p:txBody>
      </p:sp>
      <p:sp>
        <p:nvSpPr>
          <p:cNvPr id="32" name="Shape 29"/>
          <p:cNvSpPr/>
          <p:nvPr/>
        </p:nvSpPr>
        <p:spPr>
          <a:xfrm>
            <a:off x="6858000" y="21812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33" name="Shape 30"/>
          <p:cNvSpPr/>
          <p:nvPr/>
        </p:nvSpPr>
        <p:spPr>
          <a:xfrm>
            <a:off x="6858000" y="22145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4" name="Text 31"/>
          <p:cNvSpPr/>
          <p:nvPr/>
        </p:nvSpPr>
        <p:spPr>
          <a:xfrm>
            <a:off x="6962775" y="2181225"/>
            <a:ext cx="6381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641" dirty="0"/>
          </a:p>
        </p:txBody>
      </p:sp>
      <p:sp>
        <p:nvSpPr>
          <p:cNvPr id="35" name="Shape 32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36" name="Text 33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077200" y="4924425"/>
            <a:ext cx="68580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81000" y="209550"/>
            <a:ext cx="4491038" cy="22860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81000" y="209550"/>
            <a:ext cx="1647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2095500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6" name="Text 4"/>
          <p:cNvSpPr/>
          <p:nvPr/>
        </p:nvSpPr>
        <p:spPr>
          <a:xfrm>
            <a:off x="2176463" y="209550"/>
            <a:ext cx="2695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Submit, and the system checks it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381000" y="476250"/>
            <a:ext cx="83820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1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The plan details and every item are validated. If anything is wrong, the plan comes back with the errors marked, ready to fix.</a:t>
            </a:r>
            <a:endParaRPr lang="en-US" sz="784" dirty="0"/>
          </a:p>
        </p:txBody>
      </p:sp>
      <p:sp>
        <p:nvSpPr>
          <p:cNvPr id="8" name="Shape 6"/>
          <p:cNvSpPr/>
          <p:nvPr/>
        </p:nvSpPr>
        <p:spPr>
          <a:xfrm>
            <a:off x="6858001" y="752475"/>
            <a:ext cx="1907000" cy="1543050"/>
          </a:xfrm>
          <a:prstGeom prst="rect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6858001" y="752475"/>
            <a:ext cx="447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70" spc="34" kern="0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STEP 4 OF 8</a:t>
            </a:r>
            <a:endParaRPr lang="en-US" sz="570" dirty="0"/>
          </a:p>
        </p:txBody>
      </p:sp>
      <p:sp>
        <p:nvSpPr>
          <p:cNvPr id="10" name="Shape 8"/>
          <p:cNvSpPr/>
          <p:nvPr/>
        </p:nvSpPr>
        <p:spPr>
          <a:xfrm>
            <a:off x="6858001" y="91440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6858001" y="947737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2" name="Text 10"/>
          <p:cNvSpPr/>
          <p:nvPr/>
        </p:nvSpPr>
        <p:spPr>
          <a:xfrm>
            <a:off x="6962776" y="914400"/>
            <a:ext cx="5381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Find your work</a:t>
            </a:r>
            <a:endParaRPr lang="en-US" sz="641" dirty="0"/>
          </a:p>
        </p:txBody>
      </p:sp>
      <p:sp>
        <p:nvSpPr>
          <p:cNvPr id="13" name="Shape 11"/>
          <p:cNvSpPr/>
          <p:nvPr/>
        </p:nvSpPr>
        <p:spPr>
          <a:xfrm>
            <a:off x="6858001" y="10953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6858001" y="112871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5" name="Text 13"/>
          <p:cNvSpPr/>
          <p:nvPr/>
        </p:nvSpPr>
        <p:spPr>
          <a:xfrm>
            <a:off x="6962776" y="1095375"/>
            <a:ext cx="571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641" dirty="0"/>
          </a:p>
        </p:txBody>
      </p:sp>
      <p:sp>
        <p:nvSpPr>
          <p:cNvPr id="16" name="Shape 14"/>
          <p:cNvSpPr/>
          <p:nvPr/>
        </p:nvSpPr>
        <p:spPr>
          <a:xfrm>
            <a:off x="6858001" y="12763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6858001" y="13096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8" name="Text 16"/>
          <p:cNvSpPr/>
          <p:nvPr/>
        </p:nvSpPr>
        <p:spPr>
          <a:xfrm>
            <a:off x="6962776" y="1276350"/>
            <a:ext cx="3762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641" dirty="0"/>
          </a:p>
        </p:txBody>
      </p:sp>
      <p:sp>
        <p:nvSpPr>
          <p:cNvPr id="19" name="Shape 17"/>
          <p:cNvSpPr/>
          <p:nvPr/>
        </p:nvSpPr>
        <p:spPr>
          <a:xfrm>
            <a:off x="6858001" y="14573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0" name="Shape 18"/>
          <p:cNvSpPr/>
          <p:nvPr/>
        </p:nvSpPr>
        <p:spPr>
          <a:xfrm>
            <a:off x="6858001" y="1490663"/>
            <a:ext cx="47625" cy="47625"/>
          </a:xfrm>
          <a:prstGeom prst="ellipse">
            <a:avLst/>
          </a:prstGeom>
          <a:solidFill>
            <a:srgbClr val="00B1F5"/>
          </a:solidFill>
          <a:ln/>
        </p:spPr>
      </p:sp>
      <p:sp>
        <p:nvSpPr>
          <p:cNvPr id="21" name="Text 19"/>
          <p:cNvSpPr/>
          <p:nvPr/>
        </p:nvSpPr>
        <p:spPr>
          <a:xfrm>
            <a:off x="6962776" y="1457325"/>
            <a:ext cx="7429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641" dirty="0"/>
          </a:p>
        </p:txBody>
      </p:sp>
      <p:sp>
        <p:nvSpPr>
          <p:cNvPr id="22" name="Shape 20"/>
          <p:cNvSpPr/>
          <p:nvPr/>
        </p:nvSpPr>
        <p:spPr>
          <a:xfrm>
            <a:off x="6858001" y="163830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3" name="Shape 21"/>
          <p:cNvSpPr/>
          <p:nvPr/>
        </p:nvSpPr>
        <p:spPr>
          <a:xfrm>
            <a:off x="6858001" y="167163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4" name="Text 22"/>
          <p:cNvSpPr/>
          <p:nvPr/>
        </p:nvSpPr>
        <p:spPr>
          <a:xfrm>
            <a:off x="6962776" y="1638300"/>
            <a:ext cx="7334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641" dirty="0"/>
          </a:p>
        </p:txBody>
      </p:sp>
      <p:sp>
        <p:nvSpPr>
          <p:cNvPr id="25" name="Shape 23"/>
          <p:cNvSpPr/>
          <p:nvPr/>
        </p:nvSpPr>
        <p:spPr>
          <a:xfrm>
            <a:off x="6858001" y="18192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6" name="Shape 24"/>
          <p:cNvSpPr/>
          <p:nvPr/>
        </p:nvSpPr>
        <p:spPr>
          <a:xfrm>
            <a:off x="6858001" y="1852612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7" name="Text 25"/>
          <p:cNvSpPr/>
          <p:nvPr/>
        </p:nvSpPr>
        <p:spPr>
          <a:xfrm>
            <a:off x="6962776" y="1819275"/>
            <a:ext cx="60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641" dirty="0"/>
          </a:p>
        </p:txBody>
      </p:sp>
      <p:sp>
        <p:nvSpPr>
          <p:cNvPr id="28" name="Shape 26"/>
          <p:cNvSpPr/>
          <p:nvPr/>
        </p:nvSpPr>
        <p:spPr>
          <a:xfrm>
            <a:off x="6858001" y="20002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9" name="Shape 27"/>
          <p:cNvSpPr/>
          <p:nvPr/>
        </p:nvSpPr>
        <p:spPr>
          <a:xfrm>
            <a:off x="6858001" y="20335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0" name="Text 28"/>
          <p:cNvSpPr/>
          <p:nvPr/>
        </p:nvSpPr>
        <p:spPr>
          <a:xfrm>
            <a:off x="6962776" y="2000250"/>
            <a:ext cx="6905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641" dirty="0"/>
          </a:p>
        </p:txBody>
      </p:sp>
      <p:sp>
        <p:nvSpPr>
          <p:cNvPr id="31" name="Shape 29"/>
          <p:cNvSpPr/>
          <p:nvPr/>
        </p:nvSpPr>
        <p:spPr>
          <a:xfrm>
            <a:off x="6858001" y="21812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32" name="Shape 30"/>
          <p:cNvSpPr/>
          <p:nvPr/>
        </p:nvSpPr>
        <p:spPr>
          <a:xfrm>
            <a:off x="6858001" y="22145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3" name="Text 31"/>
          <p:cNvSpPr/>
          <p:nvPr/>
        </p:nvSpPr>
        <p:spPr>
          <a:xfrm>
            <a:off x="6962776" y="2181225"/>
            <a:ext cx="6381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641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714375"/>
            <a:ext cx="6210300" cy="4095750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36" name="Text 33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077200" y="4924425"/>
            <a:ext cx="68580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81000" y="209550"/>
            <a:ext cx="4605338" cy="22860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81000" y="209550"/>
            <a:ext cx="1666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2114550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6" name="Text 4"/>
          <p:cNvSpPr/>
          <p:nvPr/>
        </p:nvSpPr>
        <p:spPr>
          <a:xfrm>
            <a:off x="2195513" y="209550"/>
            <a:ext cx="2790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Scheduled until the window opens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381000" y="476250"/>
            <a:ext cx="83820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1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Validation passed and the change record is in place. The plan waits for its change window.</a:t>
            </a:r>
            <a:endParaRPr lang="en-US" sz="784" dirty="0"/>
          </a:p>
        </p:txBody>
      </p:sp>
      <p:sp>
        <p:nvSpPr>
          <p:cNvPr id="8" name="Shape 6"/>
          <p:cNvSpPr/>
          <p:nvPr/>
        </p:nvSpPr>
        <p:spPr>
          <a:xfrm>
            <a:off x="6858001" y="752475"/>
            <a:ext cx="1907000" cy="1543050"/>
          </a:xfrm>
          <a:prstGeom prst="rect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6858001" y="752475"/>
            <a:ext cx="447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70" spc="34" kern="0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STEP 5 OF 8</a:t>
            </a:r>
            <a:endParaRPr lang="en-US" sz="570" dirty="0"/>
          </a:p>
        </p:txBody>
      </p:sp>
      <p:sp>
        <p:nvSpPr>
          <p:cNvPr id="10" name="Shape 8"/>
          <p:cNvSpPr/>
          <p:nvPr/>
        </p:nvSpPr>
        <p:spPr>
          <a:xfrm>
            <a:off x="6858001" y="91440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6858001" y="947737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2" name="Text 10"/>
          <p:cNvSpPr/>
          <p:nvPr/>
        </p:nvSpPr>
        <p:spPr>
          <a:xfrm>
            <a:off x="6962776" y="914400"/>
            <a:ext cx="5381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Find your work</a:t>
            </a:r>
            <a:endParaRPr lang="en-US" sz="641" dirty="0"/>
          </a:p>
        </p:txBody>
      </p:sp>
      <p:sp>
        <p:nvSpPr>
          <p:cNvPr id="13" name="Shape 11"/>
          <p:cNvSpPr/>
          <p:nvPr/>
        </p:nvSpPr>
        <p:spPr>
          <a:xfrm>
            <a:off x="6858001" y="10953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6858001" y="112871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5" name="Text 13"/>
          <p:cNvSpPr/>
          <p:nvPr/>
        </p:nvSpPr>
        <p:spPr>
          <a:xfrm>
            <a:off x="6962776" y="1095375"/>
            <a:ext cx="571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641" dirty="0"/>
          </a:p>
        </p:txBody>
      </p:sp>
      <p:sp>
        <p:nvSpPr>
          <p:cNvPr id="16" name="Shape 14"/>
          <p:cNvSpPr/>
          <p:nvPr/>
        </p:nvSpPr>
        <p:spPr>
          <a:xfrm>
            <a:off x="6858001" y="12763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6858001" y="13096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8" name="Text 16"/>
          <p:cNvSpPr/>
          <p:nvPr/>
        </p:nvSpPr>
        <p:spPr>
          <a:xfrm>
            <a:off x="6962776" y="1276350"/>
            <a:ext cx="3762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641" dirty="0"/>
          </a:p>
        </p:txBody>
      </p:sp>
      <p:sp>
        <p:nvSpPr>
          <p:cNvPr id="19" name="Shape 17"/>
          <p:cNvSpPr/>
          <p:nvPr/>
        </p:nvSpPr>
        <p:spPr>
          <a:xfrm>
            <a:off x="6858001" y="14573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0" name="Shape 18"/>
          <p:cNvSpPr/>
          <p:nvPr/>
        </p:nvSpPr>
        <p:spPr>
          <a:xfrm>
            <a:off x="6858001" y="14906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1" name="Text 19"/>
          <p:cNvSpPr/>
          <p:nvPr/>
        </p:nvSpPr>
        <p:spPr>
          <a:xfrm>
            <a:off x="6962776" y="1457325"/>
            <a:ext cx="728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641" dirty="0"/>
          </a:p>
        </p:txBody>
      </p:sp>
      <p:sp>
        <p:nvSpPr>
          <p:cNvPr id="22" name="Shape 20"/>
          <p:cNvSpPr/>
          <p:nvPr/>
        </p:nvSpPr>
        <p:spPr>
          <a:xfrm>
            <a:off x="6858001" y="163830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3" name="Shape 21"/>
          <p:cNvSpPr/>
          <p:nvPr/>
        </p:nvSpPr>
        <p:spPr>
          <a:xfrm>
            <a:off x="6858001" y="1671638"/>
            <a:ext cx="47625" cy="47625"/>
          </a:xfrm>
          <a:prstGeom prst="ellipse">
            <a:avLst/>
          </a:prstGeom>
          <a:solidFill>
            <a:srgbClr val="00B1F5"/>
          </a:solidFill>
          <a:ln/>
        </p:spPr>
      </p:sp>
      <p:sp>
        <p:nvSpPr>
          <p:cNvPr id="24" name="Text 22"/>
          <p:cNvSpPr/>
          <p:nvPr/>
        </p:nvSpPr>
        <p:spPr>
          <a:xfrm>
            <a:off x="6962776" y="1638300"/>
            <a:ext cx="7524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641" dirty="0"/>
          </a:p>
        </p:txBody>
      </p:sp>
      <p:sp>
        <p:nvSpPr>
          <p:cNvPr id="25" name="Shape 23"/>
          <p:cNvSpPr/>
          <p:nvPr/>
        </p:nvSpPr>
        <p:spPr>
          <a:xfrm>
            <a:off x="6858001" y="18192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6" name="Shape 24"/>
          <p:cNvSpPr/>
          <p:nvPr/>
        </p:nvSpPr>
        <p:spPr>
          <a:xfrm>
            <a:off x="6858001" y="1852612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7" name="Text 25"/>
          <p:cNvSpPr/>
          <p:nvPr/>
        </p:nvSpPr>
        <p:spPr>
          <a:xfrm>
            <a:off x="6962776" y="1819275"/>
            <a:ext cx="60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641" dirty="0"/>
          </a:p>
        </p:txBody>
      </p:sp>
      <p:sp>
        <p:nvSpPr>
          <p:cNvPr id="28" name="Shape 26"/>
          <p:cNvSpPr/>
          <p:nvPr/>
        </p:nvSpPr>
        <p:spPr>
          <a:xfrm>
            <a:off x="6858001" y="20002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9" name="Shape 27"/>
          <p:cNvSpPr/>
          <p:nvPr/>
        </p:nvSpPr>
        <p:spPr>
          <a:xfrm>
            <a:off x="6858001" y="20335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0" name="Text 28"/>
          <p:cNvSpPr/>
          <p:nvPr/>
        </p:nvSpPr>
        <p:spPr>
          <a:xfrm>
            <a:off x="6962776" y="2000250"/>
            <a:ext cx="6905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641" dirty="0"/>
          </a:p>
        </p:txBody>
      </p:sp>
      <p:sp>
        <p:nvSpPr>
          <p:cNvPr id="31" name="Shape 29"/>
          <p:cNvSpPr/>
          <p:nvPr/>
        </p:nvSpPr>
        <p:spPr>
          <a:xfrm>
            <a:off x="6858001" y="21812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32" name="Shape 30"/>
          <p:cNvSpPr/>
          <p:nvPr/>
        </p:nvSpPr>
        <p:spPr>
          <a:xfrm>
            <a:off x="6858001" y="22145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3" name="Text 31"/>
          <p:cNvSpPr/>
          <p:nvPr/>
        </p:nvSpPr>
        <p:spPr>
          <a:xfrm>
            <a:off x="6962776" y="2181225"/>
            <a:ext cx="6381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641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714375"/>
            <a:ext cx="6210300" cy="4095750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36" name="Text 33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077200" y="4924425"/>
            <a:ext cx="68580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81000" y="209550"/>
            <a:ext cx="4633913" cy="22860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81000" y="209550"/>
            <a:ext cx="13763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1824038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6" name="Text 4"/>
          <p:cNvSpPr/>
          <p:nvPr/>
        </p:nvSpPr>
        <p:spPr>
          <a:xfrm>
            <a:off x="1905000" y="209550"/>
            <a:ext cx="31099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The plan runs when the window opens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381000" y="476250"/>
            <a:ext cx="83820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1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The plan workflow starts and items run in parallel. Each step shows where the plan stands.</a:t>
            </a:r>
            <a:endParaRPr lang="en-US" sz="784" dirty="0"/>
          </a:p>
        </p:txBody>
      </p:sp>
      <p:sp>
        <p:nvSpPr>
          <p:cNvPr id="8" name="Shape 6"/>
          <p:cNvSpPr/>
          <p:nvPr/>
        </p:nvSpPr>
        <p:spPr>
          <a:xfrm>
            <a:off x="6858001" y="752475"/>
            <a:ext cx="1907000" cy="1543050"/>
          </a:xfrm>
          <a:prstGeom prst="rect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6858001" y="752475"/>
            <a:ext cx="447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70" spc="34" kern="0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STEP 6 OF 8</a:t>
            </a:r>
            <a:endParaRPr lang="en-US" sz="570" dirty="0"/>
          </a:p>
        </p:txBody>
      </p:sp>
      <p:sp>
        <p:nvSpPr>
          <p:cNvPr id="10" name="Shape 8"/>
          <p:cNvSpPr/>
          <p:nvPr/>
        </p:nvSpPr>
        <p:spPr>
          <a:xfrm>
            <a:off x="6858001" y="91440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6858001" y="947737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2" name="Text 10"/>
          <p:cNvSpPr/>
          <p:nvPr/>
        </p:nvSpPr>
        <p:spPr>
          <a:xfrm>
            <a:off x="6962776" y="914400"/>
            <a:ext cx="5381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Find your work</a:t>
            </a:r>
            <a:endParaRPr lang="en-US" sz="641" dirty="0"/>
          </a:p>
        </p:txBody>
      </p:sp>
      <p:sp>
        <p:nvSpPr>
          <p:cNvPr id="13" name="Shape 11"/>
          <p:cNvSpPr/>
          <p:nvPr/>
        </p:nvSpPr>
        <p:spPr>
          <a:xfrm>
            <a:off x="6858001" y="10953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6858001" y="112871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5" name="Text 13"/>
          <p:cNvSpPr/>
          <p:nvPr/>
        </p:nvSpPr>
        <p:spPr>
          <a:xfrm>
            <a:off x="6962776" y="1095375"/>
            <a:ext cx="571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641" dirty="0"/>
          </a:p>
        </p:txBody>
      </p:sp>
      <p:sp>
        <p:nvSpPr>
          <p:cNvPr id="16" name="Shape 14"/>
          <p:cNvSpPr/>
          <p:nvPr/>
        </p:nvSpPr>
        <p:spPr>
          <a:xfrm>
            <a:off x="6858001" y="12763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6858001" y="13096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8" name="Text 16"/>
          <p:cNvSpPr/>
          <p:nvPr/>
        </p:nvSpPr>
        <p:spPr>
          <a:xfrm>
            <a:off x="6962776" y="1276350"/>
            <a:ext cx="3762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641" dirty="0"/>
          </a:p>
        </p:txBody>
      </p:sp>
      <p:sp>
        <p:nvSpPr>
          <p:cNvPr id="19" name="Shape 17"/>
          <p:cNvSpPr/>
          <p:nvPr/>
        </p:nvSpPr>
        <p:spPr>
          <a:xfrm>
            <a:off x="6858001" y="14573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0" name="Shape 18"/>
          <p:cNvSpPr/>
          <p:nvPr/>
        </p:nvSpPr>
        <p:spPr>
          <a:xfrm>
            <a:off x="6858001" y="14906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1" name="Text 19"/>
          <p:cNvSpPr/>
          <p:nvPr/>
        </p:nvSpPr>
        <p:spPr>
          <a:xfrm>
            <a:off x="6962776" y="1457325"/>
            <a:ext cx="728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641" dirty="0"/>
          </a:p>
        </p:txBody>
      </p:sp>
      <p:sp>
        <p:nvSpPr>
          <p:cNvPr id="22" name="Shape 20"/>
          <p:cNvSpPr/>
          <p:nvPr/>
        </p:nvSpPr>
        <p:spPr>
          <a:xfrm>
            <a:off x="6858001" y="163830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3" name="Shape 21"/>
          <p:cNvSpPr/>
          <p:nvPr/>
        </p:nvSpPr>
        <p:spPr>
          <a:xfrm>
            <a:off x="6858001" y="167163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4" name="Text 22"/>
          <p:cNvSpPr/>
          <p:nvPr/>
        </p:nvSpPr>
        <p:spPr>
          <a:xfrm>
            <a:off x="6962776" y="1638300"/>
            <a:ext cx="7334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641" dirty="0"/>
          </a:p>
        </p:txBody>
      </p:sp>
      <p:sp>
        <p:nvSpPr>
          <p:cNvPr id="25" name="Shape 23"/>
          <p:cNvSpPr/>
          <p:nvPr/>
        </p:nvSpPr>
        <p:spPr>
          <a:xfrm>
            <a:off x="6858001" y="18192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6" name="Shape 24"/>
          <p:cNvSpPr/>
          <p:nvPr/>
        </p:nvSpPr>
        <p:spPr>
          <a:xfrm>
            <a:off x="6858001" y="1852612"/>
            <a:ext cx="47625" cy="47625"/>
          </a:xfrm>
          <a:prstGeom prst="ellipse">
            <a:avLst/>
          </a:prstGeom>
          <a:solidFill>
            <a:srgbClr val="00B1F5"/>
          </a:solidFill>
          <a:ln/>
        </p:spPr>
      </p:sp>
      <p:sp>
        <p:nvSpPr>
          <p:cNvPr id="27" name="Text 25"/>
          <p:cNvSpPr/>
          <p:nvPr/>
        </p:nvSpPr>
        <p:spPr>
          <a:xfrm>
            <a:off x="6962776" y="1819275"/>
            <a:ext cx="6238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641" dirty="0"/>
          </a:p>
        </p:txBody>
      </p:sp>
      <p:sp>
        <p:nvSpPr>
          <p:cNvPr id="28" name="Shape 26"/>
          <p:cNvSpPr/>
          <p:nvPr/>
        </p:nvSpPr>
        <p:spPr>
          <a:xfrm>
            <a:off x="6858001" y="20002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9" name="Shape 27"/>
          <p:cNvSpPr/>
          <p:nvPr/>
        </p:nvSpPr>
        <p:spPr>
          <a:xfrm>
            <a:off x="6858001" y="20335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0" name="Text 28"/>
          <p:cNvSpPr/>
          <p:nvPr/>
        </p:nvSpPr>
        <p:spPr>
          <a:xfrm>
            <a:off x="6962776" y="2000250"/>
            <a:ext cx="6905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641" dirty="0"/>
          </a:p>
        </p:txBody>
      </p:sp>
      <p:sp>
        <p:nvSpPr>
          <p:cNvPr id="31" name="Shape 29"/>
          <p:cNvSpPr/>
          <p:nvPr/>
        </p:nvSpPr>
        <p:spPr>
          <a:xfrm>
            <a:off x="6858001" y="21812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32" name="Shape 30"/>
          <p:cNvSpPr/>
          <p:nvPr/>
        </p:nvSpPr>
        <p:spPr>
          <a:xfrm>
            <a:off x="6858001" y="22145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3" name="Text 31"/>
          <p:cNvSpPr/>
          <p:nvPr/>
        </p:nvSpPr>
        <p:spPr>
          <a:xfrm>
            <a:off x="6962776" y="2181225"/>
            <a:ext cx="6381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641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714375"/>
            <a:ext cx="6210300" cy="4095750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36" name="Text 33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077200" y="4924425"/>
            <a:ext cx="68580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81000" y="209550"/>
            <a:ext cx="3309938" cy="22860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81000" y="209550"/>
            <a:ext cx="13763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1824038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6" name="Text 4"/>
          <p:cNvSpPr/>
          <p:nvPr/>
        </p:nvSpPr>
        <p:spPr>
          <a:xfrm>
            <a:off x="1905000" y="209550"/>
            <a:ext cx="17859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Every item at a glance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381000" y="476250"/>
            <a:ext cx="83820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1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Filter by what needs action, what failed, what is running and what is done. Open any item for its detail.</a:t>
            </a:r>
            <a:endParaRPr lang="en-US" sz="784" dirty="0"/>
          </a:p>
        </p:txBody>
      </p:sp>
      <p:sp>
        <p:nvSpPr>
          <p:cNvPr id="8" name="Shape 6"/>
          <p:cNvSpPr/>
          <p:nvPr/>
        </p:nvSpPr>
        <p:spPr>
          <a:xfrm>
            <a:off x="6858001" y="752475"/>
            <a:ext cx="1907000" cy="1543050"/>
          </a:xfrm>
          <a:prstGeom prst="rect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6858001" y="752475"/>
            <a:ext cx="447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70" spc="34" kern="0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STEP 6 OF 8</a:t>
            </a:r>
            <a:endParaRPr lang="en-US" sz="570" dirty="0"/>
          </a:p>
        </p:txBody>
      </p:sp>
      <p:sp>
        <p:nvSpPr>
          <p:cNvPr id="10" name="Shape 8"/>
          <p:cNvSpPr/>
          <p:nvPr/>
        </p:nvSpPr>
        <p:spPr>
          <a:xfrm>
            <a:off x="6858001" y="91440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6858001" y="947737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2" name="Text 10"/>
          <p:cNvSpPr/>
          <p:nvPr/>
        </p:nvSpPr>
        <p:spPr>
          <a:xfrm>
            <a:off x="6962776" y="914400"/>
            <a:ext cx="5381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Find your work</a:t>
            </a:r>
            <a:endParaRPr lang="en-US" sz="641" dirty="0"/>
          </a:p>
        </p:txBody>
      </p:sp>
      <p:sp>
        <p:nvSpPr>
          <p:cNvPr id="13" name="Shape 11"/>
          <p:cNvSpPr/>
          <p:nvPr/>
        </p:nvSpPr>
        <p:spPr>
          <a:xfrm>
            <a:off x="6858001" y="10953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6858001" y="112871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5" name="Text 13"/>
          <p:cNvSpPr/>
          <p:nvPr/>
        </p:nvSpPr>
        <p:spPr>
          <a:xfrm>
            <a:off x="6962776" y="1095375"/>
            <a:ext cx="571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641" dirty="0"/>
          </a:p>
        </p:txBody>
      </p:sp>
      <p:sp>
        <p:nvSpPr>
          <p:cNvPr id="16" name="Shape 14"/>
          <p:cNvSpPr/>
          <p:nvPr/>
        </p:nvSpPr>
        <p:spPr>
          <a:xfrm>
            <a:off x="6858001" y="12763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6858001" y="13096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8" name="Text 16"/>
          <p:cNvSpPr/>
          <p:nvPr/>
        </p:nvSpPr>
        <p:spPr>
          <a:xfrm>
            <a:off x="6962776" y="1276350"/>
            <a:ext cx="3762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641" dirty="0"/>
          </a:p>
        </p:txBody>
      </p:sp>
      <p:sp>
        <p:nvSpPr>
          <p:cNvPr id="19" name="Shape 17"/>
          <p:cNvSpPr/>
          <p:nvPr/>
        </p:nvSpPr>
        <p:spPr>
          <a:xfrm>
            <a:off x="6858001" y="14573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0" name="Shape 18"/>
          <p:cNvSpPr/>
          <p:nvPr/>
        </p:nvSpPr>
        <p:spPr>
          <a:xfrm>
            <a:off x="6858001" y="14906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1" name="Text 19"/>
          <p:cNvSpPr/>
          <p:nvPr/>
        </p:nvSpPr>
        <p:spPr>
          <a:xfrm>
            <a:off x="6962776" y="1457325"/>
            <a:ext cx="728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641" dirty="0"/>
          </a:p>
        </p:txBody>
      </p:sp>
      <p:sp>
        <p:nvSpPr>
          <p:cNvPr id="22" name="Shape 20"/>
          <p:cNvSpPr/>
          <p:nvPr/>
        </p:nvSpPr>
        <p:spPr>
          <a:xfrm>
            <a:off x="6858001" y="163830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3" name="Shape 21"/>
          <p:cNvSpPr/>
          <p:nvPr/>
        </p:nvSpPr>
        <p:spPr>
          <a:xfrm>
            <a:off x="6858001" y="167163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4" name="Text 22"/>
          <p:cNvSpPr/>
          <p:nvPr/>
        </p:nvSpPr>
        <p:spPr>
          <a:xfrm>
            <a:off x="6962776" y="1638300"/>
            <a:ext cx="7334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641" dirty="0"/>
          </a:p>
        </p:txBody>
      </p:sp>
      <p:sp>
        <p:nvSpPr>
          <p:cNvPr id="25" name="Shape 23"/>
          <p:cNvSpPr/>
          <p:nvPr/>
        </p:nvSpPr>
        <p:spPr>
          <a:xfrm>
            <a:off x="6858001" y="18192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6" name="Shape 24"/>
          <p:cNvSpPr/>
          <p:nvPr/>
        </p:nvSpPr>
        <p:spPr>
          <a:xfrm>
            <a:off x="6858001" y="1852612"/>
            <a:ext cx="47625" cy="47625"/>
          </a:xfrm>
          <a:prstGeom prst="ellipse">
            <a:avLst/>
          </a:prstGeom>
          <a:solidFill>
            <a:srgbClr val="00B1F5"/>
          </a:solidFill>
          <a:ln/>
        </p:spPr>
      </p:sp>
      <p:sp>
        <p:nvSpPr>
          <p:cNvPr id="27" name="Text 25"/>
          <p:cNvSpPr/>
          <p:nvPr/>
        </p:nvSpPr>
        <p:spPr>
          <a:xfrm>
            <a:off x="6962776" y="1819275"/>
            <a:ext cx="6238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641" dirty="0"/>
          </a:p>
        </p:txBody>
      </p:sp>
      <p:sp>
        <p:nvSpPr>
          <p:cNvPr id="28" name="Shape 26"/>
          <p:cNvSpPr/>
          <p:nvPr/>
        </p:nvSpPr>
        <p:spPr>
          <a:xfrm>
            <a:off x="6858001" y="20002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9" name="Shape 27"/>
          <p:cNvSpPr/>
          <p:nvPr/>
        </p:nvSpPr>
        <p:spPr>
          <a:xfrm>
            <a:off x="6858001" y="20335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0" name="Text 28"/>
          <p:cNvSpPr/>
          <p:nvPr/>
        </p:nvSpPr>
        <p:spPr>
          <a:xfrm>
            <a:off x="6962776" y="2000250"/>
            <a:ext cx="6905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641" dirty="0"/>
          </a:p>
        </p:txBody>
      </p:sp>
      <p:sp>
        <p:nvSpPr>
          <p:cNvPr id="31" name="Shape 29"/>
          <p:cNvSpPr/>
          <p:nvPr/>
        </p:nvSpPr>
        <p:spPr>
          <a:xfrm>
            <a:off x="6858001" y="21812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32" name="Shape 30"/>
          <p:cNvSpPr/>
          <p:nvPr/>
        </p:nvSpPr>
        <p:spPr>
          <a:xfrm>
            <a:off x="6858001" y="22145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3" name="Text 31"/>
          <p:cNvSpPr/>
          <p:nvPr/>
        </p:nvSpPr>
        <p:spPr>
          <a:xfrm>
            <a:off x="6962776" y="2181225"/>
            <a:ext cx="6381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641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714375"/>
            <a:ext cx="6210300" cy="4095750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36" name="Text 33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077200" y="4924425"/>
            <a:ext cx="68580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81000" y="209550"/>
            <a:ext cx="3857625" cy="22860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81000" y="209550"/>
            <a:ext cx="1552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2000250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6" name="Text 4"/>
          <p:cNvSpPr/>
          <p:nvPr/>
        </p:nvSpPr>
        <p:spPr>
          <a:xfrm>
            <a:off x="2081212" y="209550"/>
            <a:ext cx="21574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One item needs a decision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381000" y="476250"/>
            <a:ext cx="83820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1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The plan keeps running. The item that stopped is called out, one click away from its detail.</a:t>
            </a:r>
            <a:endParaRPr lang="en-US" sz="784" dirty="0"/>
          </a:p>
        </p:txBody>
      </p:sp>
      <p:sp>
        <p:nvSpPr>
          <p:cNvPr id="8" name="Shape 6"/>
          <p:cNvSpPr/>
          <p:nvPr/>
        </p:nvSpPr>
        <p:spPr>
          <a:xfrm>
            <a:off x="6858001" y="752475"/>
            <a:ext cx="1907000" cy="1543050"/>
          </a:xfrm>
          <a:prstGeom prst="rect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6858001" y="752475"/>
            <a:ext cx="447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70" spc="34" kern="0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STEP 7 OF 8</a:t>
            </a:r>
            <a:endParaRPr lang="en-US" sz="570" dirty="0"/>
          </a:p>
        </p:txBody>
      </p:sp>
      <p:sp>
        <p:nvSpPr>
          <p:cNvPr id="10" name="Shape 8"/>
          <p:cNvSpPr/>
          <p:nvPr/>
        </p:nvSpPr>
        <p:spPr>
          <a:xfrm>
            <a:off x="6858001" y="91440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6858001" y="947737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2" name="Text 10"/>
          <p:cNvSpPr/>
          <p:nvPr/>
        </p:nvSpPr>
        <p:spPr>
          <a:xfrm>
            <a:off x="6962776" y="914400"/>
            <a:ext cx="5381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Find your work</a:t>
            </a:r>
            <a:endParaRPr lang="en-US" sz="641" dirty="0"/>
          </a:p>
        </p:txBody>
      </p:sp>
      <p:sp>
        <p:nvSpPr>
          <p:cNvPr id="13" name="Shape 11"/>
          <p:cNvSpPr/>
          <p:nvPr/>
        </p:nvSpPr>
        <p:spPr>
          <a:xfrm>
            <a:off x="6858001" y="10953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6858001" y="112871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5" name="Text 13"/>
          <p:cNvSpPr/>
          <p:nvPr/>
        </p:nvSpPr>
        <p:spPr>
          <a:xfrm>
            <a:off x="6962776" y="1095375"/>
            <a:ext cx="571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641" dirty="0"/>
          </a:p>
        </p:txBody>
      </p:sp>
      <p:sp>
        <p:nvSpPr>
          <p:cNvPr id="16" name="Shape 14"/>
          <p:cNvSpPr/>
          <p:nvPr/>
        </p:nvSpPr>
        <p:spPr>
          <a:xfrm>
            <a:off x="6858001" y="12763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6858001" y="13096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8" name="Text 16"/>
          <p:cNvSpPr/>
          <p:nvPr/>
        </p:nvSpPr>
        <p:spPr>
          <a:xfrm>
            <a:off x="6962776" y="1276350"/>
            <a:ext cx="3762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641" dirty="0"/>
          </a:p>
        </p:txBody>
      </p:sp>
      <p:sp>
        <p:nvSpPr>
          <p:cNvPr id="19" name="Shape 17"/>
          <p:cNvSpPr/>
          <p:nvPr/>
        </p:nvSpPr>
        <p:spPr>
          <a:xfrm>
            <a:off x="6858001" y="14573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0" name="Shape 18"/>
          <p:cNvSpPr/>
          <p:nvPr/>
        </p:nvSpPr>
        <p:spPr>
          <a:xfrm>
            <a:off x="6858001" y="14906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1" name="Text 19"/>
          <p:cNvSpPr/>
          <p:nvPr/>
        </p:nvSpPr>
        <p:spPr>
          <a:xfrm>
            <a:off x="6962776" y="1457325"/>
            <a:ext cx="728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641" dirty="0"/>
          </a:p>
        </p:txBody>
      </p:sp>
      <p:sp>
        <p:nvSpPr>
          <p:cNvPr id="22" name="Shape 20"/>
          <p:cNvSpPr/>
          <p:nvPr/>
        </p:nvSpPr>
        <p:spPr>
          <a:xfrm>
            <a:off x="6858001" y="163830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3" name="Shape 21"/>
          <p:cNvSpPr/>
          <p:nvPr/>
        </p:nvSpPr>
        <p:spPr>
          <a:xfrm>
            <a:off x="6858001" y="167163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4" name="Text 22"/>
          <p:cNvSpPr/>
          <p:nvPr/>
        </p:nvSpPr>
        <p:spPr>
          <a:xfrm>
            <a:off x="6962776" y="1638300"/>
            <a:ext cx="7334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641" dirty="0"/>
          </a:p>
        </p:txBody>
      </p:sp>
      <p:sp>
        <p:nvSpPr>
          <p:cNvPr id="25" name="Shape 23"/>
          <p:cNvSpPr/>
          <p:nvPr/>
        </p:nvSpPr>
        <p:spPr>
          <a:xfrm>
            <a:off x="6858001" y="18192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6" name="Shape 24"/>
          <p:cNvSpPr/>
          <p:nvPr/>
        </p:nvSpPr>
        <p:spPr>
          <a:xfrm>
            <a:off x="6858001" y="1852612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7" name="Text 25"/>
          <p:cNvSpPr/>
          <p:nvPr/>
        </p:nvSpPr>
        <p:spPr>
          <a:xfrm>
            <a:off x="6962776" y="1819275"/>
            <a:ext cx="60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641" dirty="0"/>
          </a:p>
        </p:txBody>
      </p:sp>
      <p:sp>
        <p:nvSpPr>
          <p:cNvPr id="28" name="Shape 26"/>
          <p:cNvSpPr/>
          <p:nvPr/>
        </p:nvSpPr>
        <p:spPr>
          <a:xfrm>
            <a:off x="6858001" y="20002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9" name="Shape 27"/>
          <p:cNvSpPr/>
          <p:nvPr/>
        </p:nvSpPr>
        <p:spPr>
          <a:xfrm>
            <a:off x="6858001" y="2033588"/>
            <a:ext cx="47625" cy="47625"/>
          </a:xfrm>
          <a:prstGeom prst="ellipse">
            <a:avLst/>
          </a:prstGeom>
          <a:solidFill>
            <a:srgbClr val="00B1F5"/>
          </a:solidFill>
          <a:ln/>
        </p:spPr>
      </p:sp>
      <p:sp>
        <p:nvSpPr>
          <p:cNvPr id="30" name="Text 28"/>
          <p:cNvSpPr/>
          <p:nvPr/>
        </p:nvSpPr>
        <p:spPr>
          <a:xfrm>
            <a:off x="6962776" y="2000250"/>
            <a:ext cx="7000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641" dirty="0"/>
          </a:p>
        </p:txBody>
      </p:sp>
      <p:sp>
        <p:nvSpPr>
          <p:cNvPr id="31" name="Shape 29"/>
          <p:cNvSpPr/>
          <p:nvPr/>
        </p:nvSpPr>
        <p:spPr>
          <a:xfrm>
            <a:off x="6858001" y="21812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32" name="Shape 30"/>
          <p:cNvSpPr/>
          <p:nvPr/>
        </p:nvSpPr>
        <p:spPr>
          <a:xfrm>
            <a:off x="6858001" y="22145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3" name="Text 31"/>
          <p:cNvSpPr/>
          <p:nvPr/>
        </p:nvSpPr>
        <p:spPr>
          <a:xfrm>
            <a:off x="6962776" y="2181225"/>
            <a:ext cx="6381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641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714375"/>
            <a:ext cx="6210300" cy="4095750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36" name="Text 33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077200" y="4924425"/>
            <a:ext cx="68580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81000" y="209550"/>
            <a:ext cx="4038600" cy="22860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81000" y="209550"/>
            <a:ext cx="1552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2000250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6" name="Text 4"/>
          <p:cNvSpPr/>
          <p:nvPr/>
        </p:nvSpPr>
        <p:spPr>
          <a:xfrm>
            <a:off x="2081212" y="209550"/>
            <a:ext cx="23383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Everything needed to decide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381000" y="476250"/>
            <a:ext cx="83820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1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The stopped task shows where and why it failed. The operator chooses Retry, Roll back or Cancel.</a:t>
            </a:r>
            <a:endParaRPr lang="en-US" sz="784" dirty="0"/>
          </a:p>
        </p:txBody>
      </p:sp>
      <p:sp>
        <p:nvSpPr>
          <p:cNvPr id="8" name="Shape 6"/>
          <p:cNvSpPr/>
          <p:nvPr/>
        </p:nvSpPr>
        <p:spPr>
          <a:xfrm>
            <a:off x="6858001" y="752475"/>
            <a:ext cx="1907000" cy="1543050"/>
          </a:xfrm>
          <a:prstGeom prst="rect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6858001" y="752475"/>
            <a:ext cx="447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70" spc="34" kern="0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STEP 7 OF 8</a:t>
            </a:r>
            <a:endParaRPr lang="en-US" sz="570" dirty="0"/>
          </a:p>
        </p:txBody>
      </p:sp>
      <p:sp>
        <p:nvSpPr>
          <p:cNvPr id="10" name="Shape 8"/>
          <p:cNvSpPr/>
          <p:nvPr/>
        </p:nvSpPr>
        <p:spPr>
          <a:xfrm>
            <a:off x="6858001" y="91440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6858001" y="947737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2" name="Text 10"/>
          <p:cNvSpPr/>
          <p:nvPr/>
        </p:nvSpPr>
        <p:spPr>
          <a:xfrm>
            <a:off x="6962776" y="914400"/>
            <a:ext cx="5381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Find your work</a:t>
            </a:r>
            <a:endParaRPr lang="en-US" sz="641" dirty="0"/>
          </a:p>
        </p:txBody>
      </p:sp>
      <p:sp>
        <p:nvSpPr>
          <p:cNvPr id="13" name="Shape 11"/>
          <p:cNvSpPr/>
          <p:nvPr/>
        </p:nvSpPr>
        <p:spPr>
          <a:xfrm>
            <a:off x="6858001" y="10953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6858001" y="112871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5" name="Text 13"/>
          <p:cNvSpPr/>
          <p:nvPr/>
        </p:nvSpPr>
        <p:spPr>
          <a:xfrm>
            <a:off x="6962776" y="1095375"/>
            <a:ext cx="571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641" dirty="0"/>
          </a:p>
        </p:txBody>
      </p:sp>
      <p:sp>
        <p:nvSpPr>
          <p:cNvPr id="16" name="Shape 14"/>
          <p:cNvSpPr/>
          <p:nvPr/>
        </p:nvSpPr>
        <p:spPr>
          <a:xfrm>
            <a:off x="6858001" y="12763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6858001" y="13096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8" name="Text 16"/>
          <p:cNvSpPr/>
          <p:nvPr/>
        </p:nvSpPr>
        <p:spPr>
          <a:xfrm>
            <a:off x="6962776" y="1276350"/>
            <a:ext cx="3762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641" dirty="0"/>
          </a:p>
        </p:txBody>
      </p:sp>
      <p:sp>
        <p:nvSpPr>
          <p:cNvPr id="19" name="Shape 17"/>
          <p:cNvSpPr/>
          <p:nvPr/>
        </p:nvSpPr>
        <p:spPr>
          <a:xfrm>
            <a:off x="6858001" y="14573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0" name="Shape 18"/>
          <p:cNvSpPr/>
          <p:nvPr/>
        </p:nvSpPr>
        <p:spPr>
          <a:xfrm>
            <a:off x="6858001" y="14906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1" name="Text 19"/>
          <p:cNvSpPr/>
          <p:nvPr/>
        </p:nvSpPr>
        <p:spPr>
          <a:xfrm>
            <a:off x="6962776" y="1457325"/>
            <a:ext cx="728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641" dirty="0"/>
          </a:p>
        </p:txBody>
      </p:sp>
      <p:sp>
        <p:nvSpPr>
          <p:cNvPr id="22" name="Shape 20"/>
          <p:cNvSpPr/>
          <p:nvPr/>
        </p:nvSpPr>
        <p:spPr>
          <a:xfrm>
            <a:off x="6858001" y="163830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3" name="Shape 21"/>
          <p:cNvSpPr/>
          <p:nvPr/>
        </p:nvSpPr>
        <p:spPr>
          <a:xfrm>
            <a:off x="6858001" y="167163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4" name="Text 22"/>
          <p:cNvSpPr/>
          <p:nvPr/>
        </p:nvSpPr>
        <p:spPr>
          <a:xfrm>
            <a:off x="6962776" y="1638300"/>
            <a:ext cx="7334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641" dirty="0"/>
          </a:p>
        </p:txBody>
      </p:sp>
      <p:sp>
        <p:nvSpPr>
          <p:cNvPr id="25" name="Shape 23"/>
          <p:cNvSpPr/>
          <p:nvPr/>
        </p:nvSpPr>
        <p:spPr>
          <a:xfrm>
            <a:off x="6858001" y="18192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6" name="Shape 24"/>
          <p:cNvSpPr/>
          <p:nvPr/>
        </p:nvSpPr>
        <p:spPr>
          <a:xfrm>
            <a:off x="6858001" y="1852612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7" name="Text 25"/>
          <p:cNvSpPr/>
          <p:nvPr/>
        </p:nvSpPr>
        <p:spPr>
          <a:xfrm>
            <a:off x="6962776" y="1819275"/>
            <a:ext cx="60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641" dirty="0"/>
          </a:p>
        </p:txBody>
      </p:sp>
      <p:sp>
        <p:nvSpPr>
          <p:cNvPr id="28" name="Shape 26"/>
          <p:cNvSpPr/>
          <p:nvPr/>
        </p:nvSpPr>
        <p:spPr>
          <a:xfrm>
            <a:off x="6858001" y="20002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9" name="Shape 27"/>
          <p:cNvSpPr/>
          <p:nvPr/>
        </p:nvSpPr>
        <p:spPr>
          <a:xfrm>
            <a:off x="6858001" y="2033588"/>
            <a:ext cx="47625" cy="47625"/>
          </a:xfrm>
          <a:prstGeom prst="ellipse">
            <a:avLst/>
          </a:prstGeom>
          <a:solidFill>
            <a:srgbClr val="00B1F5"/>
          </a:solidFill>
          <a:ln/>
        </p:spPr>
      </p:sp>
      <p:sp>
        <p:nvSpPr>
          <p:cNvPr id="30" name="Text 28"/>
          <p:cNvSpPr/>
          <p:nvPr/>
        </p:nvSpPr>
        <p:spPr>
          <a:xfrm>
            <a:off x="6962776" y="2000250"/>
            <a:ext cx="7000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641" dirty="0"/>
          </a:p>
        </p:txBody>
      </p:sp>
      <p:sp>
        <p:nvSpPr>
          <p:cNvPr id="31" name="Shape 29"/>
          <p:cNvSpPr/>
          <p:nvPr/>
        </p:nvSpPr>
        <p:spPr>
          <a:xfrm>
            <a:off x="6858001" y="21812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32" name="Shape 30"/>
          <p:cNvSpPr/>
          <p:nvPr/>
        </p:nvSpPr>
        <p:spPr>
          <a:xfrm>
            <a:off x="6858001" y="22145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3" name="Text 31"/>
          <p:cNvSpPr/>
          <p:nvPr/>
        </p:nvSpPr>
        <p:spPr>
          <a:xfrm>
            <a:off x="6962776" y="2181225"/>
            <a:ext cx="6381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641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714375"/>
            <a:ext cx="6210300" cy="4095750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36" name="Text 33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077200" y="4924425"/>
            <a:ext cx="68580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81000" y="209550"/>
            <a:ext cx="3729038" cy="22860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81000" y="209550"/>
            <a:ext cx="1552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2000250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6" name="Text 4"/>
          <p:cNvSpPr/>
          <p:nvPr/>
        </p:nvSpPr>
        <p:spPr>
          <a:xfrm>
            <a:off x="2081212" y="209550"/>
            <a:ext cx="2028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Retry runs the task again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381000" y="476250"/>
            <a:ext cx="83820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1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Retry restarts the whole task from its first milestone, and the item returns to In Progress.</a:t>
            </a:r>
            <a:endParaRPr lang="en-US" sz="784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714375"/>
            <a:ext cx="6210300" cy="409575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858000" y="752475"/>
            <a:ext cx="1907000" cy="154305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6858000" y="752475"/>
            <a:ext cx="447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70" spc="34" kern="0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STEP 7 OF 8</a:t>
            </a:r>
            <a:endParaRPr lang="en-US" sz="570" dirty="0"/>
          </a:p>
        </p:txBody>
      </p:sp>
      <p:sp>
        <p:nvSpPr>
          <p:cNvPr id="11" name="Shape 8"/>
          <p:cNvSpPr/>
          <p:nvPr/>
        </p:nvSpPr>
        <p:spPr>
          <a:xfrm>
            <a:off x="6858000" y="91440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2" name="Shape 9"/>
          <p:cNvSpPr/>
          <p:nvPr/>
        </p:nvSpPr>
        <p:spPr>
          <a:xfrm>
            <a:off x="6858000" y="947737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3" name="Text 10"/>
          <p:cNvSpPr/>
          <p:nvPr/>
        </p:nvSpPr>
        <p:spPr>
          <a:xfrm>
            <a:off x="6962775" y="914400"/>
            <a:ext cx="5381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Find your work</a:t>
            </a:r>
            <a:endParaRPr lang="en-US" sz="641" dirty="0"/>
          </a:p>
        </p:txBody>
      </p:sp>
      <p:sp>
        <p:nvSpPr>
          <p:cNvPr id="14" name="Shape 11"/>
          <p:cNvSpPr/>
          <p:nvPr/>
        </p:nvSpPr>
        <p:spPr>
          <a:xfrm>
            <a:off x="6858000" y="10953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5" name="Shape 12"/>
          <p:cNvSpPr/>
          <p:nvPr/>
        </p:nvSpPr>
        <p:spPr>
          <a:xfrm>
            <a:off x="6858000" y="112871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6" name="Text 13"/>
          <p:cNvSpPr/>
          <p:nvPr/>
        </p:nvSpPr>
        <p:spPr>
          <a:xfrm>
            <a:off x="6962775" y="1095375"/>
            <a:ext cx="571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641" dirty="0"/>
          </a:p>
        </p:txBody>
      </p:sp>
      <p:sp>
        <p:nvSpPr>
          <p:cNvPr id="17" name="Shape 14"/>
          <p:cNvSpPr/>
          <p:nvPr/>
        </p:nvSpPr>
        <p:spPr>
          <a:xfrm>
            <a:off x="6858000" y="12763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8" name="Shape 15"/>
          <p:cNvSpPr/>
          <p:nvPr/>
        </p:nvSpPr>
        <p:spPr>
          <a:xfrm>
            <a:off x="6858000" y="13096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9" name="Text 16"/>
          <p:cNvSpPr/>
          <p:nvPr/>
        </p:nvSpPr>
        <p:spPr>
          <a:xfrm>
            <a:off x="6962775" y="1276350"/>
            <a:ext cx="3762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641" dirty="0"/>
          </a:p>
        </p:txBody>
      </p:sp>
      <p:sp>
        <p:nvSpPr>
          <p:cNvPr id="20" name="Shape 17"/>
          <p:cNvSpPr/>
          <p:nvPr/>
        </p:nvSpPr>
        <p:spPr>
          <a:xfrm>
            <a:off x="6858000" y="14573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1" name="Shape 18"/>
          <p:cNvSpPr/>
          <p:nvPr/>
        </p:nvSpPr>
        <p:spPr>
          <a:xfrm>
            <a:off x="6858000" y="14906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2" name="Text 19"/>
          <p:cNvSpPr/>
          <p:nvPr/>
        </p:nvSpPr>
        <p:spPr>
          <a:xfrm>
            <a:off x="6962775" y="1457325"/>
            <a:ext cx="728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641" dirty="0"/>
          </a:p>
        </p:txBody>
      </p:sp>
      <p:sp>
        <p:nvSpPr>
          <p:cNvPr id="23" name="Shape 20"/>
          <p:cNvSpPr/>
          <p:nvPr/>
        </p:nvSpPr>
        <p:spPr>
          <a:xfrm>
            <a:off x="6858000" y="163830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4" name="Shape 21"/>
          <p:cNvSpPr/>
          <p:nvPr/>
        </p:nvSpPr>
        <p:spPr>
          <a:xfrm>
            <a:off x="6858000" y="167163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5" name="Text 22"/>
          <p:cNvSpPr/>
          <p:nvPr/>
        </p:nvSpPr>
        <p:spPr>
          <a:xfrm>
            <a:off x="6962775" y="1638300"/>
            <a:ext cx="7334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641" dirty="0"/>
          </a:p>
        </p:txBody>
      </p:sp>
      <p:sp>
        <p:nvSpPr>
          <p:cNvPr id="26" name="Shape 23"/>
          <p:cNvSpPr/>
          <p:nvPr/>
        </p:nvSpPr>
        <p:spPr>
          <a:xfrm>
            <a:off x="6858000" y="18192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7" name="Shape 24"/>
          <p:cNvSpPr/>
          <p:nvPr/>
        </p:nvSpPr>
        <p:spPr>
          <a:xfrm>
            <a:off x="6858000" y="1852612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8" name="Text 25"/>
          <p:cNvSpPr/>
          <p:nvPr/>
        </p:nvSpPr>
        <p:spPr>
          <a:xfrm>
            <a:off x="6962775" y="1819275"/>
            <a:ext cx="60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641" dirty="0"/>
          </a:p>
        </p:txBody>
      </p:sp>
      <p:sp>
        <p:nvSpPr>
          <p:cNvPr id="29" name="Shape 26"/>
          <p:cNvSpPr/>
          <p:nvPr/>
        </p:nvSpPr>
        <p:spPr>
          <a:xfrm>
            <a:off x="6858000" y="20002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30" name="Shape 27"/>
          <p:cNvSpPr/>
          <p:nvPr/>
        </p:nvSpPr>
        <p:spPr>
          <a:xfrm>
            <a:off x="6858000" y="2033588"/>
            <a:ext cx="47625" cy="47625"/>
          </a:xfrm>
          <a:prstGeom prst="ellipse">
            <a:avLst/>
          </a:prstGeom>
          <a:solidFill>
            <a:srgbClr val="00B1F5"/>
          </a:solidFill>
          <a:ln/>
        </p:spPr>
      </p:sp>
      <p:sp>
        <p:nvSpPr>
          <p:cNvPr id="31" name="Text 28"/>
          <p:cNvSpPr/>
          <p:nvPr/>
        </p:nvSpPr>
        <p:spPr>
          <a:xfrm>
            <a:off x="6962775" y="2000250"/>
            <a:ext cx="7000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641" dirty="0"/>
          </a:p>
        </p:txBody>
      </p:sp>
      <p:sp>
        <p:nvSpPr>
          <p:cNvPr id="32" name="Shape 29"/>
          <p:cNvSpPr/>
          <p:nvPr/>
        </p:nvSpPr>
        <p:spPr>
          <a:xfrm>
            <a:off x="6858000" y="21812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33" name="Shape 30"/>
          <p:cNvSpPr/>
          <p:nvPr/>
        </p:nvSpPr>
        <p:spPr>
          <a:xfrm>
            <a:off x="6858000" y="22145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4" name="Text 31"/>
          <p:cNvSpPr/>
          <p:nvPr/>
        </p:nvSpPr>
        <p:spPr>
          <a:xfrm>
            <a:off x="6962775" y="2181225"/>
            <a:ext cx="6381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641" dirty="0"/>
          </a:p>
        </p:txBody>
      </p:sp>
      <p:sp>
        <p:nvSpPr>
          <p:cNvPr id="35" name="Shape 32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36" name="Text 33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077200" y="4924425"/>
            <a:ext cx="68580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81000" y="209550"/>
            <a:ext cx="3214688" cy="22860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81000" y="209550"/>
            <a:ext cx="14239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1871663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6" name="Text 4"/>
          <p:cNvSpPr/>
          <p:nvPr/>
        </p:nvSpPr>
        <p:spPr>
          <a:xfrm>
            <a:off x="1952625" y="209550"/>
            <a:ext cx="1643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The item completes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381000" y="476250"/>
            <a:ext cx="83820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1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Every task has finished and the item is marked Completed.</a:t>
            </a:r>
            <a:endParaRPr lang="en-US" sz="784" dirty="0"/>
          </a:p>
        </p:txBody>
      </p:sp>
      <p:sp>
        <p:nvSpPr>
          <p:cNvPr id="8" name="Shape 6"/>
          <p:cNvSpPr/>
          <p:nvPr/>
        </p:nvSpPr>
        <p:spPr>
          <a:xfrm>
            <a:off x="6858001" y="752475"/>
            <a:ext cx="1907000" cy="1543050"/>
          </a:xfrm>
          <a:prstGeom prst="rect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6858001" y="752475"/>
            <a:ext cx="447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70" spc="34" kern="0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STEP 8 OF 8</a:t>
            </a:r>
            <a:endParaRPr lang="en-US" sz="570" dirty="0"/>
          </a:p>
        </p:txBody>
      </p:sp>
      <p:sp>
        <p:nvSpPr>
          <p:cNvPr id="10" name="Shape 8"/>
          <p:cNvSpPr/>
          <p:nvPr/>
        </p:nvSpPr>
        <p:spPr>
          <a:xfrm>
            <a:off x="6858001" y="91440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6858001" y="947737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2" name="Text 10"/>
          <p:cNvSpPr/>
          <p:nvPr/>
        </p:nvSpPr>
        <p:spPr>
          <a:xfrm>
            <a:off x="6962776" y="914400"/>
            <a:ext cx="5381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Find your work</a:t>
            </a:r>
            <a:endParaRPr lang="en-US" sz="641" dirty="0"/>
          </a:p>
        </p:txBody>
      </p:sp>
      <p:sp>
        <p:nvSpPr>
          <p:cNvPr id="13" name="Shape 11"/>
          <p:cNvSpPr/>
          <p:nvPr/>
        </p:nvSpPr>
        <p:spPr>
          <a:xfrm>
            <a:off x="6858001" y="10953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6858001" y="112871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5" name="Text 13"/>
          <p:cNvSpPr/>
          <p:nvPr/>
        </p:nvSpPr>
        <p:spPr>
          <a:xfrm>
            <a:off x="6962776" y="1095375"/>
            <a:ext cx="571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641" dirty="0"/>
          </a:p>
        </p:txBody>
      </p:sp>
      <p:sp>
        <p:nvSpPr>
          <p:cNvPr id="16" name="Shape 14"/>
          <p:cNvSpPr/>
          <p:nvPr/>
        </p:nvSpPr>
        <p:spPr>
          <a:xfrm>
            <a:off x="6858001" y="12763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6858001" y="13096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8" name="Text 16"/>
          <p:cNvSpPr/>
          <p:nvPr/>
        </p:nvSpPr>
        <p:spPr>
          <a:xfrm>
            <a:off x="6962776" y="1276350"/>
            <a:ext cx="3762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641" dirty="0"/>
          </a:p>
        </p:txBody>
      </p:sp>
      <p:sp>
        <p:nvSpPr>
          <p:cNvPr id="19" name="Shape 17"/>
          <p:cNvSpPr/>
          <p:nvPr/>
        </p:nvSpPr>
        <p:spPr>
          <a:xfrm>
            <a:off x="6858001" y="14573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0" name="Shape 18"/>
          <p:cNvSpPr/>
          <p:nvPr/>
        </p:nvSpPr>
        <p:spPr>
          <a:xfrm>
            <a:off x="6858001" y="14906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1" name="Text 19"/>
          <p:cNvSpPr/>
          <p:nvPr/>
        </p:nvSpPr>
        <p:spPr>
          <a:xfrm>
            <a:off x="6962776" y="1457325"/>
            <a:ext cx="728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641" dirty="0"/>
          </a:p>
        </p:txBody>
      </p:sp>
      <p:sp>
        <p:nvSpPr>
          <p:cNvPr id="22" name="Shape 20"/>
          <p:cNvSpPr/>
          <p:nvPr/>
        </p:nvSpPr>
        <p:spPr>
          <a:xfrm>
            <a:off x="6858001" y="163830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3" name="Shape 21"/>
          <p:cNvSpPr/>
          <p:nvPr/>
        </p:nvSpPr>
        <p:spPr>
          <a:xfrm>
            <a:off x="6858001" y="167163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4" name="Text 22"/>
          <p:cNvSpPr/>
          <p:nvPr/>
        </p:nvSpPr>
        <p:spPr>
          <a:xfrm>
            <a:off x="6962776" y="1638300"/>
            <a:ext cx="7334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641" dirty="0"/>
          </a:p>
        </p:txBody>
      </p:sp>
      <p:sp>
        <p:nvSpPr>
          <p:cNvPr id="25" name="Shape 23"/>
          <p:cNvSpPr/>
          <p:nvPr/>
        </p:nvSpPr>
        <p:spPr>
          <a:xfrm>
            <a:off x="6858001" y="18192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6" name="Shape 24"/>
          <p:cNvSpPr/>
          <p:nvPr/>
        </p:nvSpPr>
        <p:spPr>
          <a:xfrm>
            <a:off x="6858001" y="1852612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7" name="Text 25"/>
          <p:cNvSpPr/>
          <p:nvPr/>
        </p:nvSpPr>
        <p:spPr>
          <a:xfrm>
            <a:off x="6962776" y="1819275"/>
            <a:ext cx="60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641" dirty="0"/>
          </a:p>
        </p:txBody>
      </p:sp>
      <p:sp>
        <p:nvSpPr>
          <p:cNvPr id="28" name="Shape 26"/>
          <p:cNvSpPr/>
          <p:nvPr/>
        </p:nvSpPr>
        <p:spPr>
          <a:xfrm>
            <a:off x="6858001" y="20002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9" name="Shape 27"/>
          <p:cNvSpPr/>
          <p:nvPr/>
        </p:nvSpPr>
        <p:spPr>
          <a:xfrm>
            <a:off x="6858001" y="20335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0" name="Text 28"/>
          <p:cNvSpPr/>
          <p:nvPr/>
        </p:nvSpPr>
        <p:spPr>
          <a:xfrm>
            <a:off x="6962776" y="2000250"/>
            <a:ext cx="6905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641" dirty="0"/>
          </a:p>
        </p:txBody>
      </p:sp>
      <p:sp>
        <p:nvSpPr>
          <p:cNvPr id="31" name="Shape 29"/>
          <p:cNvSpPr/>
          <p:nvPr/>
        </p:nvSpPr>
        <p:spPr>
          <a:xfrm>
            <a:off x="6858001" y="21812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32" name="Shape 30"/>
          <p:cNvSpPr/>
          <p:nvPr/>
        </p:nvSpPr>
        <p:spPr>
          <a:xfrm>
            <a:off x="6858001" y="2214563"/>
            <a:ext cx="47625" cy="47625"/>
          </a:xfrm>
          <a:prstGeom prst="ellipse">
            <a:avLst/>
          </a:prstGeom>
          <a:solidFill>
            <a:srgbClr val="00B1F5"/>
          </a:solidFill>
          <a:ln/>
        </p:spPr>
      </p:sp>
      <p:sp>
        <p:nvSpPr>
          <p:cNvPr id="33" name="Text 31"/>
          <p:cNvSpPr/>
          <p:nvPr/>
        </p:nvSpPr>
        <p:spPr>
          <a:xfrm>
            <a:off x="6962776" y="2181225"/>
            <a:ext cx="6429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641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714375"/>
            <a:ext cx="6210300" cy="4095750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36" name="Text 33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077200" y="4924425"/>
            <a:ext cx="68580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81000" y="209550"/>
            <a:ext cx="2833688" cy="22860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81000" y="209550"/>
            <a:ext cx="14239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1871663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6" name="Text 4"/>
          <p:cNvSpPr/>
          <p:nvPr/>
        </p:nvSpPr>
        <p:spPr>
          <a:xfrm>
            <a:off x="1952625" y="209550"/>
            <a:ext cx="1262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The plan closes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381000" y="476250"/>
            <a:ext cx="83820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1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When every item has finished, the change record is closed and the plan shows its outcome.</a:t>
            </a:r>
            <a:endParaRPr lang="en-US" sz="784" dirty="0"/>
          </a:p>
        </p:txBody>
      </p:sp>
      <p:sp>
        <p:nvSpPr>
          <p:cNvPr id="8" name="Shape 6"/>
          <p:cNvSpPr/>
          <p:nvPr/>
        </p:nvSpPr>
        <p:spPr>
          <a:xfrm>
            <a:off x="6858001" y="752475"/>
            <a:ext cx="1907000" cy="1543050"/>
          </a:xfrm>
          <a:prstGeom prst="rect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6858001" y="752475"/>
            <a:ext cx="447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70" spc="34" kern="0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STEP 8 OF 8</a:t>
            </a:r>
            <a:endParaRPr lang="en-US" sz="570" dirty="0"/>
          </a:p>
        </p:txBody>
      </p:sp>
      <p:sp>
        <p:nvSpPr>
          <p:cNvPr id="10" name="Shape 8"/>
          <p:cNvSpPr/>
          <p:nvPr/>
        </p:nvSpPr>
        <p:spPr>
          <a:xfrm>
            <a:off x="6858001" y="91440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6858001" y="947737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2" name="Text 10"/>
          <p:cNvSpPr/>
          <p:nvPr/>
        </p:nvSpPr>
        <p:spPr>
          <a:xfrm>
            <a:off x="6962776" y="914400"/>
            <a:ext cx="5381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Find your work</a:t>
            </a:r>
            <a:endParaRPr lang="en-US" sz="641" dirty="0"/>
          </a:p>
        </p:txBody>
      </p:sp>
      <p:sp>
        <p:nvSpPr>
          <p:cNvPr id="13" name="Shape 11"/>
          <p:cNvSpPr/>
          <p:nvPr/>
        </p:nvSpPr>
        <p:spPr>
          <a:xfrm>
            <a:off x="6858001" y="10953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6858001" y="112871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5" name="Text 13"/>
          <p:cNvSpPr/>
          <p:nvPr/>
        </p:nvSpPr>
        <p:spPr>
          <a:xfrm>
            <a:off x="6962776" y="1095375"/>
            <a:ext cx="571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641" dirty="0"/>
          </a:p>
        </p:txBody>
      </p:sp>
      <p:sp>
        <p:nvSpPr>
          <p:cNvPr id="16" name="Shape 14"/>
          <p:cNvSpPr/>
          <p:nvPr/>
        </p:nvSpPr>
        <p:spPr>
          <a:xfrm>
            <a:off x="6858001" y="12763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6858001" y="13096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8" name="Text 16"/>
          <p:cNvSpPr/>
          <p:nvPr/>
        </p:nvSpPr>
        <p:spPr>
          <a:xfrm>
            <a:off x="6962776" y="1276350"/>
            <a:ext cx="3762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641" dirty="0"/>
          </a:p>
        </p:txBody>
      </p:sp>
      <p:sp>
        <p:nvSpPr>
          <p:cNvPr id="19" name="Shape 17"/>
          <p:cNvSpPr/>
          <p:nvPr/>
        </p:nvSpPr>
        <p:spPr>
          <a:xfrm>
            <a:off x="6858001" y="14573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0" name="Shape 18"/>
          <p:cNvSpPr/>
          <p:nvPr/>
        </p:nvSpPr>
        <p:spPr>
          <a:xfrm>
            <a:off x="6858001" y="14906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1" name="Text 19"/>
          <p:cNvSpPr/>
          <p:nvPr/>
        </p:nvSpPr>
        <p:spPr>
          <a:xfrm>
            <a:off x="6962776" y="1457325"/>
            <a:ext cx="728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641" dirty="0"/>
          </a:p>
        </p:txBody>
      </p:sp>
      <p:sp>
        <p:nvSpPr>
          <p:cNvPr id="22" name="Shape 20"/>
          <p:cNvSpPr/>
          <p:nvPr/>
        </p:nvSpPr>
        <p:spPr>
          <a:xfrm>
            <a:off x="6858001" y="163830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3" name="Shape 21"/>
          <p:cNvSpPr/>
          <p:nvPr/>
        </p:nvSpPr>
        <p:spPr>
          <a:xfrm>
            <a:off x="6858001" y="167163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4" name="Text 22"/>
          <p:cNvSpPr/>
          <p:nvPr/>
        </p:nvSpPr>
        <p:spPr>
          <a:xfrm>
            <a:off x="6962776" y="1638300"/>
            <a:ext cx="7334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641" dirty="0"/>
          </a:p>
        </p:txBody>
      </p:sp>
      <p:sp>
        <p:nvSpPr>
          <p:cNvPr id="25" name="Shape 23"/>
          <p:cNvSpPr/>
          <p:nvPr/>
        </p:nvSpPr>
        <p:spPr>
          <a:xfrm>
            <a:off x="6858001" y="18192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6" name="Shape 24"/>
          <p:cNvSpPr/>
          <p:nvPr/>
        </p:nvSpPr>
        <p:spPr>
          <a:xfrm>
            <a:off x="6858001" y="1852612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7" name="Text 25"/>
          <p:cNvSpPr/>
          <p:nvPr/>
        </p:nvSpPr>
        <p:spPr>
          <a:xfrm>
            <a:off x="6962776" y="1819275"/>
            <a:ext cx="60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641" dirty="0"/>
          </a:p>
        </p:txBody>
      </p:sp>
      <p:sp>
        <p:nvSpPr>
          <p:cNvPr id="28" name="Shape 26"/>
          <p:cNvSpPr/>
          <p:nvPr/>
        </p:nvSpPr>
        <p:spPr>
          <a:xfrm>
            <a:off x="6858001" y="20002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9" name="Shape 27"/>
          <p:cNvSpPr/>
          <p:nvPr/>
        </p:nvSpPr>
        <p:spPr>
          <a:xfrm>
            <a:off x="6858001" y="20335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0" name="Text 28"/>
          <p:cNvSpPr/>
          <p:nvPr/>
        </p:nvSpPr>
        <p:spPr>
          <a:xfrm>
            <a:off x="6962776" y="2000250"/>
            <a:ext cx="6905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641" dirty="0"/>
          </a:p>
        </p:txBody>
      </p:sp>
      <p:sp>
        <p:nvSpPr>
          <p:cNvPr id="31" name="Shape 29"/>
          <p:cNvSpPr/>
          <p:nvPr/>
        </p:nvSpPr>
        <p:spPr>
          <a:xfrm>
            <a:off x="6858001" y="21812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32" name="Shape 30"/>
          <p:cNvSpPr/>
          <p:nvPr/>
        </p:nvSpPr>
        <p:spPr>
          <a:xfrm>
            <a:off x="6858001" y="2214563"/>
            <a:ext cx="47625" cy="47625"/>
          </a:xfrm>
          <a:prstGeom prst="ellipse">
            <a:avLst/>
          </a:prstGeom>
          <a:solidFill>
            <a:srgbClr val="00B1F5"/>
          </a:solidFill>
          <a:ln/>
        </p:spPr>
      </p:sp>
      <p:sp>
        <p:nvSpPr>
          <p:cNvPr id="33" name="Text 31"/>
          <p:cNvSpPr/>
          <p:nvPr/>
        </p:nvSpPr>
        <p:spPr>
          <a:xfrm>
            <a:off x="6962776" y="2181225"/>
            <a:ext cx="6429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641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714375"/>
            <a:ext cx="6210300" cy="4095750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36" name="Text 33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077200" y="4924425"/>
            <a:ext cx="68580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81000" y="209550"/>
            <a:ext cx="4090987" cy="22860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81000" y="209550"/>
            <a:ext cx="14239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1871663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6" name="Text 4"/>
          <p:cNvSpPr/>
          <p:nvPr/>
        </p:nvSpPr>
        <p:spPr>
          <a:xfrm>
            <a:off x="1952625" y="209550"/>
            <a:ext cx="25193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When not every item succeeds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381000" y="476250"/>
            <a:ext cx="83820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1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The plan finishes as Completed with failures. The Items tab shows exactly which items did not complete.</a:t>
            </a:r>
            <a:endParaRPr lang="en-US" sz="784" dirty="0"/>
          </a:p>
        </p:txBody>
      </p:sp>
      <p:sp>
        <p:nvSpPr>
          <p:cNvPr id="8" name="Shape 6"/>
          <p:cNvSpPr/>
          <p:nvPr/>
        </p:nvSpPr>
        <p:spPr>
          <a:xfrm>
            <a:off x="6858001" y="752475"/>
            <a:ext cx="1907000" cy="1543050"/>
          </a:xfrm>
          <a:prstGeom prst="rect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6858001" y="752475"/>
            <a:ext cx="447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70" spc="34" kern="0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STEP 8 OF 8</a:t>
            </a:r>
            <a:endParaRPr lang="en-US" sz="570" dirty="0"/>
          </a:p>
        </p:txBody>
      </p:sp>
      <p:sp>
        <p:nvSpPr>
          <p:cNvPr id="10" name="Shape 8"/>
          <p:cNvSpPr/>
          <p:nvPr/>
        </p:nvSpPr>
        <p:spPr>
          <a:xfrm>
            <a:off x="6858001" y="91440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6858001" y="947737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2" name="Text 10"/>
          <p:cNvSpPr/>
          <p:nvPr/>
        </p:nvSpPr>
        <p:spPr>
          <a:xfrm>
            <a:off x="6962776" y="914400"/>
            <a:ext cx="5381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Find your work</a:t>
            </a:r>
            <a:endParaRPr lang="en-US" sz="641" dirty="0"/>
          </a:p>
        </p:txBody>
      </p:sp>
      <p:sp>
        <p:nvSpPr>
          <p:cNvPr id="13" name="Shape 11"/>
          <p:cNvSpPr/>
          <p:nvPr/>
        </p:nvSpPr>
        <p:spPr>
          <a:xfrm>
            <a:off x="6858001" y="10953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6858001" y="112871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5" name="Text 13"/>
          <p:cNvSpPr/>
          <p:nvPr/>
        </p:nvSpPr>
        <p:spPr>
          <a:xfrm>
            <a:off x="6962776" y="1095375"/>
            <a:ext cx="571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641" dirty="0"/>
          </a:p>
        </p:txBody>
      </p:sp>
      <p:sp>
        <p:nvSpPr>
          <p:cNvPr id="16" name="Shape 14"/>
          <p:cNvSpPr/>
          <p:nvPr/>
        </p:nvSpPr>
        <p:spPr>
          <a:xfrm>
            <a:off x="6858001" y="12763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6858001" y="13096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8" name="Text 16"/>
          <p:cNvSpPr/>
          <p:nvPr/>
        </p:nvSpPr>
        <p:spPr>
          <a:xfrm>
            <a:off x="6962776" y="1276350"/>
            <a:ext cx="3762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641" dirty="0"/>
          </a:p>
        </p:txBody>
      </p:sp>
      <p:sp>
        <p:nvSpPr>
          <p:cNvPr id="19" name="Shape 17"/>
          <p:cNvSpPr/>
          <p:nvPr/>
        </p:nvSpPr>
        <p:spPr>
          <a:xfrm>
            <a:off x="6858001" y="14573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0" name="Shape 18"/>
          <p:cNvSpPr/>
          <p:nvPr/>
        </p:nvSpPr>
        <p:spPr>
          <a:xfrm>
            <a:off x="6858001" y="14906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1" name="Text 19"/>
          <p:cNvSpPr/>
          <p:nvPr/>
        </p:nvSpPr>
        <p:spPr>
          <a:xfrm>
            <a:off x="6962776" y="1457325"/>
            <a:ext cx="728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641" dirty="0"/>
          </a:p>
        </p:txBody>
      </p:sp>
      <p:sp>
        <p:nvSpPr>
          <p:cNvPr id="22" name="Shape 20"/>
          <p:cNvSpPr/>
          <p:nvPr/>
        </p:nvSpPr>
        <p:spPr>
          <a:xfrm>
            <a:off x="6858001" y="163830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3" name="Shape 21"/>
          <p:cNvSpPr/>
          <p:nvPr/>
        </p:nvSpPr>
        <p:spPr>
          <a:xfrm>
            <a:off x="6858001" y="167163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4" name="Text 22"/>
          <p:cNvSpPr/>
          <p:nvPr/>
        </p:nvSpPr>
        <p:spPr>
          <a:xfrm>
            <a:off x="6962776" y="1638300"/>
            <a:ext cx="7334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641" dirty="0"/>
          </a:p>
        </p:txBody>
      </p:sp>
      <p:sp>
        <p:nvSpPr>
          <p:cNvPr id="25" name="Shape 23"/>
          <p:cNvSpPr/>
          <p:nvPr/>
        </p:nvSpPr>
        <p:spPr>
          <a:xfrm>
            <a:off x="6858001" y="18192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6" name="Shape 24"/>
          <p:cNvSpPr/>
          <p:nvPr/>
        </p:nvSpPr>
        <p:spPr>
          <a:xfrm>
            <a:off x="6858001" y="1852612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7" name="Text 25"/>
          <p:cNvSpPr/>
          <p:nvPr/>
        </p:nvSpPr>
        <p:spPr>
          <a:xfrm>
            <a:off x="6962776" y="1819275"/>
            <a:ext cx="60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641" dirty="0"/>
          </a:p>
        </p:txBody>
      </p:sp>
      <p:sp>
        <p:nvSpPr>
          <p:cNvPr id="28" name="Shape 26"/>
          <p:cNvSpPr/>
          <p:nvPr/>
        </p:nvSpPr>
        <p:spPr>
          <a:xfrm>
            <a:off x="6858001" y="20002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9" name="Shape 27"/>
          <p:cNvSpPr/>
          <p:nvPr/>
        </p:nvSpPr>
        <p:spPr>
          <a:xfrm>
            <a:off x="6858001" y="20335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0" name="Text 28"/>
          <p:cNvSpPr/>
          <p:nvPr/>
        </p:nvSpPr>
        <p:spPr>
          <a:xfrm>
            <a:off x="6962776" y="2000250"/>
            <a:ext cx="6905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641" dirty="0"/>
          </a:p>
        </p:txBody>
      </p:sp>
      <p:sp>
        <p:nvSpPr>
          <p:cNvPr id="31" name="Shape 29"/>
          <p:cNvSpPr/>
          <p:nvPr/>
        </p:nvSpPr>
        <p:spPr>
          <a:xfrm>
            <a:off x="6858001" y="21812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32" name="Shape 30"/>
          <p:cNvSpPr/>
          <p:nvPr/>
        </p:nvSpPr>
        <p:spPr>
          <a:xfrm>
            <a:off x="6858001" y="2214563"/>
            <a:ext cx="47625" cy="47625"/>
          </a:xfrm>
          <a:prstGeom prst="ellipse">
            <a:avLst/>
          </a:prstGeom>
          <a:solidFill>
            <a:srgbClr val="00B1F5"/>
          </a:solidFill>
          <a:ln/>
        </p:spPr>
      </p:sp>
      <p:sp>
        <p:nvSpPr>
          <p:cNvPr id="33" name="Text 31"/>
          <p:cNvSpPr/>
          <p:nvPr/>
        </p:nvSpPr>
        <p:spPr>
          <a:xfrm>
            <a:off x="6962776" y="2181225"/>
            <a:ext cx="6429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641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714375"/>
            <a:ext cx="6210300" cy="4095750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36" name="Text 33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077200" y="4924425"/>
            <a:ext cx="68580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781050" y="2400300"/>
            <a:ext cx="7586663" cy="34290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781050" y="2400300"/>
            <a:ext cx="75866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1995" dirty="0">
                <a:solidFill>
                  <a:srgbClr val="000000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Let's take a look at the actual scenario of creating plan for firewall</a:t>
            </a:r>
            <a:endParaRPr lang="en-US" sz="1995" dirty="0"/>
          </a:p>
        </p:txBody>
      </p:sp>
      <p:sp>
        <p:nvSpPr>
          <p:cNvPr id="5" name="Shape 3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6" name="Text 4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77200" y="4924425"/>
            <a:ext cx="68580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209550"/>
            <a:ext cx="4090987" cy="228600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381000" y="209550"/>
            <a:ext cx="1381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Firewall upgrade</a:t>
            </a:r>
            <a:endParaRPr lang="en-US" sz="1425" dirty="0"/>
          </a:p>
        </p:txBody>
      </p:sp>
      <p:sp>
        <p:nvSpPr>
          <p:cNvPr id="4" name="Shape 2"/>
          <p:cNvSpPr/>
          <p:nvPr/>
        </p:nvSpPr>
        <p:spPr>
          <a:xfrm>
            <a:off x="1828800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5" name="Text 3"/>
          <p:cNvSpPr/>
          <p:nvPr/>
        </p:nvSpPr>
        <p:spPr>
          <a:xfrm>
            <a:off x="1909762" y="209550"/>
            <a:ext cx="2562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From many firewalls to one plan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381000" y="476250"/>
            <a:ext cx="83820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1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Five choices narrow the fleet down to the right firewalls. Every firewall picked becomes its own item in the plan.</a:t>
            </a:r>
            <a:endParaRPr lang="en-US" sz="784" dirty="0"/>
          </a:p>
        </p:txBody>
      </p:sp>
      <p:sp>
        <p:nvSpPr>
          <p:cNvPr id="7" name="Shape 5"/>
          <p:cNvSpPr/>
          <p:nvPr/>
        </p:nvSpPr>
        <p:spPr>
          <a:xfrm>
            <a:off x="381000" y="1571625"/>
            <a:ext cx="8382000" cy="1333500"/>
          </a:xfrm>
          <a:prstGeom prst="rect">
            <a:avLst/>
          </a:prstGeom>
          <a:noFill/>
          <a:ln/>
        </p:spPr>
      </p:sp>
      <p:sp>
        <p:nvSpPr>
          <p:cNvPr id="8" name="Shape 6"/>
          <p:cNvSpPr/>
          <p:nvPr/>
        </p:nvSpPr>
        <p:spPr>
          <a:xfrm>
            <a:off x="381000" y="1571625"/>
            <a:ext cx="1615440" cy="1333500"/>
          </a:xfrm>
          <a:prstGeom prst="roundRect">
            <a:avLst>
              <a:gd name="adj" fmla="val 9600"/>
            </a:avLst>
          </a:prstGeom>
          <a:solidFill>
            <a:srgbClr val="F7F9FA"/>
          </a:solidFill>
          <a:ln w="4524">
            <a:solidFill>
              <a:srgbClr val="E1E6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0063" y="1728788"/>
            <a:ext cx="13773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01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500063" y="2024062"/>
            <a:ext cx="13773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5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Manager</a:t>
            </a:r>
            <a:endParaRPr lang="en-US" sz="855" dirty="0"/>
          </a:p>
        </p:txBody>
      </p:sp>
      <p:sp>
        <p:nvSpPr>
          <p:cNvPr id="11" name="Text 9"/>
          <p:cNvSpPr/>
          <p:nvPr/>
        </p:nvSpPr>
        <p:spPr>
          <a:xfrm>
            <a:off x="500063" y="2233613"/>
            <a:ext cx="137731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6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Pick the manager that holds the firewalls</a:t>
            </a:r>
            <a:endParaRPr lang="en-US" sz="641" dirty="0"/>
          </a:p>
        </p:txBody>
      </p:sp>
      <p:sp>
        <p:nvSpPr>
          <p:cNvPr id="12" name="Shape 10"/>
          <p:cNvSpPr/>
          <p:nvPr/>
        </p:nvSpPr>
        <p:spPr>
          <a:xfrm>
            <a:off x="2072640" y="1571625"/>
            <a:ext cx="1615440" cy="1333500"/>
          </a:xfrm>
          <a:prstGeom prst="roundRect">
            <a:avLst>
              <a:gd name="adj" fmla="val 9600"/>
            </a:avLst>
          </a:prstGeom>
          <a:solidFill>
            <a:srgbClr val="F7F9FA"/>
          </a:solidFill>
          <a:ln w="4524">
            <a:solidFill>
              <a:srgbClr val="E1E6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91703" y="1728788"/>
            <a:ext cx="13773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02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2191703" y="2024062"/>
            <a:ext cx="13773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5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ADOM</a:t>
            </a:r>
            <a:endParaRPr lang="en-US" sz="855" dirty="0"/>
          </a:p>
        </p:txBody>
      </p:sp>
      <p:sp>
        <p:nvSpPr>
          <p:cNvPr id="15" name="Text 13"/>
          <p:cNvSpPr/>
          <p:nvPr/>
        </p:nvSpPr>
        <p:spPr>
          <a:xfrm>
            <a:off x="2191703" y="2233613"/>
            <a:ext cx="137731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6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Choose the administrative domain inside it</a:t>
            </a:r>
            <a:endParaRPr lang="en-US" sz="641" dirty="0"/>
          </a:p>
        </p:txBody>
      </p:sp>
      <p:sp>
        <p:nvSpPr>
          <p:cNvPr id="16" name="Shape 14"/>
          <p:cNvSpPr/>
          <p:nvPr/>
        </p:nvSpPr>
        <p:spPr>
          <a:xfrm>
            <a:off x="3764280" y="1571625"/>
            <a:ext cx="1615440" cy="1333500"/>
          </a:xfrm>
          <a:prstGeom prst="roundRect">
            <a:avLst>
              <a:gd name="adj" fmla="val 9600"/>
            </a:avLst>
          </a:prstGeom>
          <a:solidFill>
            <a:srgbClr val="F7F9FA"/>
          </a:solidFill>
          <a:ln w="4524">
            <a:solidFill>
              <a:srgbClr val="E1E6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83343" y="1728788"/>
            <a:ext cx="13773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03</a:t>
            </a:r>
            <a:endParaRPr lang="en-US" sz="1425" dirty="0"/>
          </a:p>
        </p:txBody>
      </p:sp>
      <p:sp>
        <p:nvSpPr>
          <p:cNvPr id="18" name="Text 16"/>
          <p:cNvSpPr/>
          <p:nvPr/>
        </p:nvSpPr>
        <p:spPr>
          <a:xfrm>
            <a:off x="3883343" y="2024062"/>
            <a:ext cx="13773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5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Platform</a:t>
            </a:r>
            <a:endParaRPr lang="en-US" sz="855" dirty="0"/>
          </a:p>
        </p:txBody>
      </p:sp>
      <p:sp>
        <p:nvSpPr>
          <p:cNvPr id="19" name="Text 17"/>
          <p:cNvSpPr/>
          <p:nvPr/>
        </p:nvSpPr>
        <p:spPr>
          <a:xfrm>
            <a:off x="3883343" y="2233613"/>
            <a:ext cx="137731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6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Narrow to one firewall model</a:t>
            </a:r>
            <a:endParaRPr lang="en-US" sz="641" dirty="0"/>
          </a:p>
        </p:txBody>
      </p:sp>
      <p:sp>
        <p:nvSpPr>
          <p:cNvPr id="20" name="Shape 18"/>
          <p:cNvSpPr/>
          <p:nvPr/>
        </p:nvSpPr>
        <p:spPr>
          <a:xfrm>
            <a:off x="5455920" y="1571625"/>
            <a:ext cx="1615440" cy="1333500"/>
          </a:xfrm>
          <a:prstGeom prst="roundRect">
            <a:avLst>
              <a:gd name="adj" fmla="val 9600"/>
            </a:avLst>
          </a:prstGeom>
          <a:solidFill>
            <a:srgbClr val="F7F9FA"/>
          </a:solidFill>
          <a:ln w="4524">
            <a:solidFill>
              <a:srgbClr val="E1E6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74983" y="1728788"/>
            <a:ext cx="13773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04</a:t>
            </a:r>
            <a:endParaRPr lang="en-US" sz="1425" dirty="0"/>
          </a:p>
        </p:txBody>
      </p:sp>
      <p:sp>
        <p:nvSpPr>
          <p:cNvPr id="22" name="Text 20"/>
          <p:cNvSpPr/>
          <p:nvPr/>
        </p:nvSpPr>
        <p:spPr>
          <a:xfrm>
            <a:off x="5574983" y="2024062"/>
            <a:ext cx="13773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5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Target version</a:t>
            </a:r>
            <a:endParaRPr lang="en-US" sz="855" dirty="0"/>
          </a:p>
        </p:txBody>
      </p:sp>
      <p:sp>
        <p:nvSpPr>
          <p:cNvPr id="23" name="Text 21"/>
          <p:cNvSpPr/>
          <p:nvPr/>
        </p:nvSpPr>
        <p:spPr>
          <a:xfrm>
            <a:off x="5574983" y="2233613"/>
            <a:ext cx="137731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6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Set the version every firewall moves to</a:t>
            </a:r>
            <a:endParaRPr lang="en-US" sz="641" dirty="0"/>
          </a:p>
        </p:txBody>
      </p:sp>
      <p:sp>
        <p:nvSpPr>
          <p:cNvPr id="24" name="Shape 22"/>
          <p:cNvSpPr/>
          <p:nvPr/>
        </p:nvSpPr>
        <p:spPr>
          <a:xfrm>
            <a:off x="7147560" y="1571625"/>
            <a:ext cx="1615440" cy="1333500"/>
          </a:xfrm>
          <a:prstGeom prst="roundRect">
            <a:avLst>
              <a:gd name="adj" fmla="val 9600"/>
            </a:avLst>
          </a:prstGeom>
          <a:solidFill>
            <a:srgbClr val="F7F9FA"/>
          </a:solidFill>
          <a:ln w="4524">
            <a:solidFill>
              <a:srgbClr val="E1E6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66623" y="1728788"/>
            <a:ext cx="13773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05</a:t>
            </a:r>
            <a:endParaRPr lang="en-US" sz="1425" dirty="0"/>
          </a:p>
        </p:txBody>
      </p:sp>
      <p:sp>
        <p:nvSpPr>
          <p:cNvPr id="26" name="Text 24"/>
          <p:cNvSpPr/>
          <p:nvPr/>
        </p:nvSpPr>
        <p:spPr>
          <a:xfrm>
            <a:off x="7266623" y="2024062"/>
            <a:ext cx="13773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5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Firewalls</a:t>
            </a:r>
            <a:endParaRPr lang="en-US" sz="855" dirty="0"/>
          </a:p>
        </p:txBody>
      </p:sp>
      <p:sp>
        <p:nvSpPr>
          <p:cNvPr id="27" name="Text 25"/>
          <p:cNvSpPr/>
          <p:nvPr/>
        </p:nvSpPr>
        <p:spPr>
          <a:xfrm>
            <a:off x="7266623" y="2233613"/>
            <a:ext cx="137731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6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Tick every firewall that needs it, or Select all</a:t>
            </a:r>
            <a:endParaRPr lang="en-US" sz="641" dirty="0"/>
          </a:p>
        </p:txBody>
      </p:sp>
      <p:sp>
        <p:nvSpPr>
          <p:cNvPr id="28" name="Shape 26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29" name="Text 27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77200" y="4924425"/>
            <a:ext cx="685800" cy="13335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381000" y="3133725"/>
            <a:ext cx="28670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1"/>
              </a:lnSpc>
              <a:buNone/>
            </a:pPr>
            <a:r>
              <a:rPr lang="en-US" sz="784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Then the plan is submitted, validated and run like any other plan.</a:t>
            </a:r>
            <a:endParaRPr lang="en-US" sz="784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9295" y="714375"/>
            <a:ext cx="2554705" cy="40957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81000" y="209550"/>
            <a:ext cx="3952875" cy="228600"/>
          </a:xfrm>
          <a:prstGeom prst="rect">
            <a:avLst/>
          </a:prstGeom>
          <a:noFill/>
          <a:ln/>
        </p:spPr>
      </p:sp>
      <p:sp>
        <p:nvSpPr>
          <p:cNvPr id="5" name="Text 3"/>
          <p:cNvSpPr/>
          <p:nvPr/>
        </p:nvSpPr>
        <p:spPr>
          <a:xfrm>
            <a:off x="381000" y="209550"/>
            <a:ext cx="12811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1425" dirty="0"/>
          </a:p>
        </p:txBody>
      </p:sp>
      <p:sp>
        <p:nvSpPr>
          <p:cNvPr id="6" name="Shape 4"/>
          <p:cNvSpPr/>
          <p:nvPr/>
        </p:nvSpPr>
        <p:spPr>
          <a:xfrm>
            <a:off x="1728788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7" name="Text 5"/>
          <p:cNvSpPr/>
          <p:nvPr/>
        </p:nvSpPr>
        <p:spPr>
          <a:xfrm>
            <a:off x="1809750" y="209550"/>
            <a:ext cx="2524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Firewall upgrade, same journey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381000" y="476250"/>
            <a:ext cx="83820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1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Firewall upgrade is one more operation type in the same create form. Name, description and change record work exactly as before.</a:t>
            </a:r>
            <a:endParaRPr lang="en-US" sz="784" dirty="0"/>
          </a:p>
        </p:txBody>
      </p:sp>
      <p:sp>
        <p:nvSpPr>
          <p:cNvPr id="9" name="Shape 7"/>
          <p:cNvSpPr/>
          <p:nvPr/>
        </p:nvSpPr>
        <p:spPr>
          <a:xfrm>
            <a:off x="6855995" y="752475"/>
            <a:ext cx="1907005" cy="1543050"/>
          </a:xfrm>
          <a:prstGeom prst="rect">
            <a:avLst/>
          </a:prstGeom>
          <a:noFill/>
          <a:ln/>
        </p:spPr>
      </p:sp>
      <p:sp>
        <p:nvSpPr>
          <p:cNvPr id="10" name="Text 8"/>
          <p:cNvSpPr/>
          <p:nvPr/>
        </p:nvSpPr>
        <p:spPr>
          <a:xfrm>
            <a:off x="6855995" y="752475"/>
            <a:ext cx="447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70" spc="34" kern="0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STEP 2 OF 8</a:t>
            </a:r>
            <a:endParaRPr lang="en-US" sz="570" dirty="0"/>
          </a:p>
        </p:txBody>
      </p:sp>
      <p:sp>
        <p:nvSpPr>
          <p:cNvPr id="11" name="Shape 9"/>
          <p:cNvSpPr/>
          <p:nvPr/>
        </p:nvSpPr>
        <p:spPr>
          <a:xfrm>
            <a:off x="6855995" y="91440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2" name="Shape 10"/>
          <p:cNvSpPr/>
          <p:nvPr/>
        </p:nvSpPr>
        <p:spPr>
          <a:xfrm>
            <a:off x="6855995" y="947737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3" name="Text 11"/>
          <p:cNvSpPr/>
          <p:nvPr/>
        </p:nvSpPr>
        <p:spPr>
          <a:xfrm>
            <a:off x="6960770" y="914400"/>
            <a:ext cx="5381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Find your work</a:t>
            </a:r>
            <a:endParaRPr lang="en-US" sz="641" dirty="0"/>
          </a:p>
        </p:txBody>
      </p:sp>
      <p:sp>
        <p:nvSpPr>
          <p:cNvPr id="14" name="Shape 12"/>
          <p:cNvSpPr/>
          <p:nvPr/>
        </p:nvSpPr>
        <p:spPr>
          <a:xfrm>
            <a:off x="6855995" y="1095375"/>
            <a:ext cx="1907005" cy="114300"/>
          </a:xfrm>
          <a:prstGeom prst="rect">
            <a:avLst/>
          </a:prstGeom>
          <a:noFill/>
          <a:ln/>
        </p:spPr>
      </p:sp>
      <p:sp>
        <p:nvSpPr>
          <p:cNvPr id="15" name="Shape 13"/>
          <p:cNvSpPr/>
          <p:nvPr/>
        </p:nvSpPr>
        <p:spPr>
          <a:xfrm>
            <a:off x="6855995" y="1128713"/>
            <a:ext cx="47625" cy="47625"/>
          </a:xfrm>
          <a:prstGeom prst="ellipse">
            <a:avLst/>
          </a:prstGeom>
          <a:solidFill>
            <a:srgbClr val="00B1F5"/>
          </a:solidFill>
          <a:ln/>
        </p:spPr>
      </p:sp>
      <p:sp>
        <p:nvSpPr>
          <p:cNvPr id="16" name="Text 14"/>
          <p:cNvSpPr/>
          <p:nvPr/>
        </p:nvSpPr>
        <p:spPr>
          <a:xfrm>
            <a:off x="6960770" y="1095375"/>
            <a:ext cx="5762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641" dirty="0"/>
          </a:p>
        </p:txBody>
      </p:sp>
      <p:sp>
        <p:nvSpPr>
          <p:cNvPr id="17" name="Shape 15"/>
          <p:cNvSpPr/>
          <p:nvPr/>
        </p:nvSpPr>
        <p:spPr>
          <a:xfrm>
            <a:off x="6855995" y="1276350"/>
            <a:ext cx="1907005" cy="114300"/>
          </a:xfrm>
          <a:prstGeom prst="rect">
            <a:avLst/>
          </a:prstGeom>
          <a:noFill/>
          <a:ln/>
        </p:spPr>
      </p:sp>
      <p:sp>
        <p:nvSpPr>
          <p:cNvPr id="18" name="Shape 16"/>
          <p:cNvSpPr/>
          <p:nvPr/>
        </p:nvSpPr>
        <p:spPr>
          <a:xfrm>
            <a:off x="6855995" y="13096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9" name="Text 17"/>
          <p:cNvSpPr/>
          <p:nvPr/>
        </p:nvSpPr>
        <p:spPr>
          <a:xfrm>
            <a:off x="6960770" y="1276350"/>
            <a:ext cx="3762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641" dirty="0"/>
          </a:p>
        </p:txBody>
      </p:sp>
      <p:sp>
        <p:nvSpPr>
          <p:cNvPr id="20" name="Shape 18"/>
          <p:cNvSpPr/>
          <p:nvPr/>
        </p:nvSpPr>
        <p:spPr>
          <a:xfrm>
            <a:off x="6855995" y="1457325"/>
            <a:ext cx="1907005" cy="114300"/>
          </a:xfrm>
          <a:prstGeom prst="rect">
            <a:avLst/>
          </a:prstGeom>
          <a:noFill/>
          <a:ln/>
        </p:spPr>
      </p:sp>
      <p:sp>
        <p:nvSpPr>
          <p:cNvPr id="21" name="Shape 19"/>
          <p:cNvSpPr/>
          <p:nvPr/>
        </p:nvSpPr>
        <p:spPr>
          <a:xfrm>
            <a:off x="6855995" y="14906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2" name="Text 20"/>
          <p:cNvSpPr/>
          <p:nvPr/>
        </p:nvSpPr>
        <p:spPr>
          <a:xfrm>
            <a:off x="6960770" y="1457325"/>
            <a:ext cx="728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641" dirty="0"/>
          </a:p>
        </p:txBody>
      </p:sp>
      <p:sp>
        <p:nvSpPr>
          <p:cNvPr id="23" name="Shape 21"/>
          <p:cNvSpPr/>
          <p:nvPr/>
        </p:nvSpPr>
        <p:spPr>
          <a:xfrm>
            <a:off x="6855995" y="1638300"/>
            <a:ext cx="1907005" cy="114300"/>
          </a:xfrm>
          <a:prstGeom prst="rect">
            <a:avLst/>
          </a:prstGeom>
          <a:noFill/>
          <a:ln/>
        </p:spPr>
      </p:sp>
      <p:sp>
        <p:nvSpPr>
          <p:cNvPr id="24" name="Shape 22"/>
          <p:cNvSpPr/>
          <p:nvPr/>
        </p:nvSpPr>
        <p:spPr>
          <a:xfrm>
            <a:off x="6855995" y="167163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5" name="Text 23"/>
          <p:cNvSpPr/>
          <p:nvPr/>
        </p:nvSpPr>
        <p:spPr>
          <a:xfrm>
            <a:off x="6960770" y="1638300"/>
            <a:ext cx="7334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641" dirty="0"/>
          </a:p>
        </p:txBody>
      </p:sp>
      <p:sp>
        <p:nvSpPr>
          <p:cNvPr id="26" name="Shape 24"/>
          <p:cNvSpPr/>
          <p:nvPr/>
        </p:nvSpPr>
        <p:spPr>
          <a:xfrm>
            <a:off x="6855995" y="1819275"/>
            <a:ext cx="1907005" cy="114300"/>
          </a:xfrm>
          <a:prstGeom prst="rect">
            <a:avLst/>
          </a:prstGeom>
          <a:noFill/>
          <a:ln/>
        </p:spPr>
      </p:sp>
      <p:sp>
        <p:nvSpPr>
          <p:cNvPr id="27" name="Shape 25"/>
          <p:cNvSpPr/>
          <p:nvPr/>
        </p:nvSpPr>
        <p:spPr>
          <a:xfrm>
            <a:off x="6855995" y="1852612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8" name="Text 26"/>
          <p:cNvSpPr/>
          <p:nvPr/>
        </p:nvSpPr>
        <p:spPr>
          <a:xfrm>
            <a:off x="6960770" y="1819275"/>
            <a:ext cx="60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641" dirty="0"/>
          </a:p>
        </p:txBody>
      </p:sp>
      <p:sp>
        <p:nvSpPr>
          <p:cNvPr id="29" name="Shape 27"/>
          <p:cNvSpPr/>
          <p:nvPr/>
        </p:nvSpPr>
        <p:spPr>
          <a:xfrm>
            <a:off x="6855995" y="2000250"/>
            <a:ext cx="1907005" cy="114300"/>
          </a:xfrm>
          <a:prstGeom prst="rect">
            <a:avLst/>
          </a:prstGeom>
          <a:noFill/>
          <a:ln/>
        </p:spPr>
      </p:sp>
      <p:sp>
        <p:nvSpPr>
          <p:cNvPr id="30" name="Shape 28"/>
          <p:cNvSpPr/>
          <p:nvPr/>
        </p:nvSpPr>
        <p:spPr>
          <a:xfrm>
            <a:off x="6855995" y="20335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1" name="Text 29"/>
          <p:cNvSpPr/>
          <p:nvPr/>
        </p:nvSpPr>
        <p:spPr>
          <a:xfrm>
            <a:off x="6960770" y="2000250"/>
            <a:ext cx="6905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641" dirty="0"/>
          </a:p>
        </p:txBody>
      </p:sp>
      <p:sp>
        <p:nvSpPr>
          <p:cNvPr id="32" name="Shape 30"/>
          <p:cNvSpPr/>
          <p:nvPr/>
        </p:nvSpPr>
        <p:spPr>
          <a:xfrm>
            <a:off x="6855995" y="2181225"/>
            <a:ext cx="1907005" cy="114300"/>
          </a:xfrm>
          <a:prstGeom prst="rect">
            <a:avLst/>
          </a:prstGeom>
          <a:noFill/>
          <a:ln/>
        </p:spPr>
      </p:sp>
      <p:sp>
        <p:nvSpPr>
          <p:cNvPr id="33" name="Shape 31"/>
          <p:cNvSpPr/>
          <p:nvPr/>
        </p:nvSpPr>
        <p:spPr>
          <a:xfrm>
            <a:off x="6855995" y="22145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4" name="Text 32"/>
          <p:cNvSpPr/>
          <p:nvPr/>
        </p:nvSpPr>
        <p:spPr>
          <a:xfrm>
            <a:off x="6960770" y="2181225"/>
            <a:ext cx="6381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641" dirty="0"/>
          </a:p>
        </p:txBody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714375"/>
            <a:ext cx="6210300" cy="4095750"/>
          </a:xfrm>
          <a:prstGeom prst="rect">
            <a:avLst/>
          </a:prstGeom>
        </p:spPr>
      </p:pic>
      <p:sp>
        <p:nvSpPr>
          <p:cNvPr id="36" name="Shape 33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37" name="Text 34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077200" y="4924425"/>
            <a:ext cx="68580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81000" y="209550"/>
            <a:ext cx="3752850" cy="22860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81000" y="209550"/>
            <a:ext cx="847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1295400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6" name="Text 4"/>
          <p:cNvSpPr/>
          <p:nvPr/>
        </p:nvSpPr>
        <p:spPr>
          <a:xfrm>
            <a:off x="1376363" y="209550"/>
            <a:ext cx="2757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Narrow down to the right firewalls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381000" y="476250"/>
            <a:ext cx="83820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1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Manager, ADOM, platform, then target version. Each field opens only after the one above it, so the list that follows is already filtered.</a:t>
            </a:r>
            <a:endParaRPr lang="en-US" sz="784" dirty="0"/>
          </a:p>
        </p:txBody>
      </p:sp>
      <p:sp>
        <p:nvSpPr>
          <p:cNvPr id="8" name="Shape 6"/>
          <p:cNvSpPr/>
          <p:nvPr/>
        </p:nvSpPr>
        <p:spPr>
          <a:xfrm>
            <a:off x="6858000" y="752475"/>
            <a:ext cx="1907000" cy="1543050"/>
          </a:xfrm>
          <a:prstGeom prst="rect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6858000" y="752475"/>
            <a:ext cx="447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70" spc="34" kern="0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STEP 3 OF 8</a:t>
            </a:r>
            <a:endParaRPr lang="en-US" sz="570" dirty="0"/>
          </a:p>
        </p:txBody>
      </p:sp>
      <p:sp>
        <p:nvSpPr>
          <p:cNvPr id="10" name="Shape 8"/>
          <p:cNvSpPr/>
          <p:nvPr/>
        </p:nvSpPr>
        <p:spPr>
          <a:xfrm>
            <a:off x="6858000" y="91440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6858000" y="947737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2" name="Text 10"/>
          <p:cNvSpPr/>
          <p:nvPr/>
        </p:nvSpPr>
        <p:spPr>
          <a:xfrm>
            <a:off x="6962775" y="914400"/>
            <a:ext cx="5381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Find your work</a:t>
            </a:r>
            <a:endParaRPr lang="en-US" sz="641" dirty="0"/>
          </a:p>
        </p:txBody>
      </p:sp>
      <p:sp>
        <p:nvSpPr>
          <p:cNvPr id="13" name="Shape 11"/>
          <p:cNvSpPr/>
          <p:nvPr/>
        </p:nvSpPr>
        <p:spPr>
          <a:xfrm>
            <a:off x="6858000" y="10953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6858000" y="112871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5" name="Text 13"/>
          <p:cNvSpPr/>
          <p:nvPr/>
        </p:nvSpPr>
        <p:spPr>
          <a:xfrm>
            <a:off x="6962775" y="1095375"/>
            <a:ext cx="571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641" dirty="0"/>
          </a:p>
        </p:txBody>
      </p:sp>
      <p:sp>
        <p:nvSpPr>
          <p:cNvPr id="16" name="Shape 14"/>
          <p:cNvSpPr/>
          <p:nvPr/>
        </p:nvSpPr>
        <p:spPr>
          <a:xfrm>
            <a:off x="6858000" y="12763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6858000" y="1309688"/>
            <a:ext cx="47625" cy="47625"/>
          </a:xfrm>
          <a:prstGeom prst="ellipse">
            <a:avLst/>
          </a:prstGeom>
          <a:solidFill>
            <a:srgbClr val="00B1F5"/>
          </a:solidFill>
          <a:ln/>
        </p:spPr>
      </p:sp>
      <p:sp>
        <p:nvSpPr>
          <p:cNvPr id="18" name="Text 16"/>
          <p:cNvSpPr/>
          <p:nvPr/>
        </p:nvSpPr>
        <p:spPr>
          <a:xfrm>
            <a:off x="6962775" y="1276350"/>
            <a:ext cx="381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641" dirty="0"/>
          </a:p>
        </p:txBody>
      </p:sp>
      <p:sp>
        <p:nvSpPr>
          <p:cNvPr id="19" name="Shape 17"/>
          <p:cNvSpPr/>
          <p:nvPr/>
        </p:nvSpPr>
        <p:spPr>
          <a:xfrm>
            <a:off x="6858000" y="14573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0" name="Shape 18"/>
          <p:cNvSpPr/>
          <p:nvPr/>
        </p:nvSpPr>
        <p:spPr>
          <a:xfrm>
            <a:off x="6858000" y="14906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1" name="Text 19"/>
          <p:cNvSpPr/>
          <p:nvPr/>
        </p:nvSpPr>
        <p:spPr>
          <a:xfrm>
            <a:off x="6962775" y="1457325"/>
            <a:ext cx="728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641" dirty="0"/>
          </a:p>
        </p:txBody>
      </p:sp>
      <p:sp>
        <p:nvSpPr>
          <p:cNvPr id="22" name="Shape 20"/>
          <p:cNvSpPr/>
          <p:nvPr/>
        </p:nvSpPr>
        <p:spPr>
          <a:xfrm>
            <a:off x="6858000" y="163830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3" name="Shape 21"/>
          <p:cNvSpPr/>
          <p:nvPr/>
        </p:nvSpPr>
        <p:spPr>
          <a:xfrm>
            <a:off x="6858000" y="167163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4" name="Text 22"/>
          <p:cNvSpPr/>
          <p:nvPr/>
        </p:nvSpPr>
        <p:spPr>
          <a:xfrm>
            <a:off x="6962775" y="1638300"/>
            <a:ext cx="7334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641" dirty="0"/>
          </a:p>
        </p:txBody>
      </p:sp>
      <p:sp>
        <p:nvSpPr>
          <p:cNvPr id="25" name="Shape 23"/>
          <p:cNvSpPr/>
          <p:nvPr/>
        </p:nvSpPr>
        <p:spPr>
          <a:xfrm>
            <a:off x="6858000" y="18192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6" name="Shape 24"/>
          <p:cNvSpPr/>
          <p:nvPr/>
        </p:nvSpPr>
        <p:spPr>
          <a:xfrm>
            <a:off x="6858000" y="1852612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7" name="Text 25"/>
          <p:cNvSpPr/>
          <p:nvPr/>
        </p:nvSpPr>
        <p:spPr>
          <a:xfrm>
            <a:off x="6962775" y="1819275"/>
            <a:ext cx="60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641" dirty="0"/>
          </a:p>
        </p:txBody>
      </p:sp>
      <p:sp>
        <p:nvSpPr>
          <p:cNvPr id="28" name="Shape 26"/>
          <p:cNvSpPr/>
          <p:nvPr/>
        </p:nvSpPr>
        <p:spPr>
          <a:xfrm>
            <a:off x="6858000" y="20002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9" name="Shape 27"/>
          <p:cNvSpPr/>
          <p:nvPr/>
        </p:nvSpPr>
        <p:spPr>
          <a:xfrm>
            <a:off x="6858000" y="20335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0" name="Text 28"/>
          <p:cNvSpPr/>
          <p:nvPr/>
        </p:nvSpPr>
        <p:spPr>
          <a:xfrm>
            <a:off x="6962775" y="2000250"/>
            <a:ext cx="6905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641" dirty="0"/>
          </a:p>
        </p:txBody>
      </p:sp>
      <p:sp>
        <p:nvSpPr>
          <p:cNvPr id="31" name="Shape 29"/>
          <p:cNvSpPr/>
          <p:nvPr/>
        </p:nvSpPr>
        <p:spPr>
          <a:xfrm>
            <a:off x="6858000" y="21812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32" name="Shape 30"/>
          <p:cNvSpPr/>
          <p:nvPr/>
        </p:nvSpPr>
        <p:spPr>
          <a:xfrm>
            <a:off x="6858000" y="22145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3" name="Text 31"/>
          <p:cNvSpPr/>
          <p:nvPr/>
        </p:nvSpPr>
        <p:spPr>
          <a:xfrm>
            <a:off x="6962775" y="2181225"/>
            <a:ext cx="6381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641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714375"/>
            <a:ext cx="5453063" cy="4095750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36" name="Text 33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077200" y="4924425"/>
            <a:ext cx="68580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81000" y="209550"/>
            <a:ext cx="3438525" cy="22860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81000" y="209550"/>
            <a:ext cx="847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1295400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6" name="Text 4"/>
          <p:cNvSpPr/>
          <p:nvPr/>
        </p:nvSpPr>
        <p:spPr>
          <a:xfrm>
            <a:off x="1376363" y="209550"/>
            <a:ext cx="24431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Pick several firewalls in one go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381000" y="476250"/>
            <a:ext cx="83820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1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Every eligible firewall is listed with its current version. Select all, or tick the ones needed; one already on the target version cannot be picked.</a:t>
            </a:r>
            <a:endParaRPr lang="en-US" sz="784" dirty="0"/>
          </a:p>
        </p:txBody>
      </p:sp>
      <p:sp>
        <p:nvSpPr>
          <p:cNvPr id="8" name="Shape 6"/>
          <p:cNvSpPr/>
          <p:nvPr/>
        </p:nvSpPr>
        <p:spPr>
          <a:xfrm>
            <a:off x="6858000" y="752475"/>
            <a:ext cx="1907000" cy="1543050"/>
          </a:xfrm>
          <a:prstGeom prst="rect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6858000" y="752475"/>
            <a:ext cx="447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70" spc="34" kern="0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STEP 3 OF 8</a:t>
            </a:r>
            <a:endParaRPr lang="en-US" sz="570" dirty="0"/>
          </a:p>
        </p:txBody>
      </p:sp>
      <p:sp>
        <p:nvSpPr>
          <p:cNvPr id="10" name="Shape 8"/>
          <p:cNvSpPr/>
          <p:nvPr/>
        </p:nvSpPr>
        <p:spPr>
          <a:xfrm>
            <a:off x="6858000" y="91440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6858000" y="947737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2" name="Text 10"/>
          <p:cNvSpPr/>
          <p:nvPr/>
        </p:nvSpPr>
        <p:spPr>
          <a:xfrm>
            <a:off x="6962775" y="914400"/>
            <a:ext cx="5381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Find your work</a:t>
            </a:r>
            <a:endParaRPr lang="en-US" sz="641" dirty="0"/>
          </a:p>
        </p:txBody>
      </p:sp>
      <p:sp>
        <p:nvSpPr>
          <p:cNvPr id="13" name="Shape 11"/>
          <p:cNvSpPr/>
          <p:nvPr/>
        </p:nvSpPr>
        <p:spPr>
          <a:xfrm>
            <a:off x="6858000" y="10953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6858000" y="112871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5" name="Text 13"/>
          <p:cNvSpPr/>
          <p:nvPr/>
        </p:nvSpPr>
        <p:spPr>
          <a:xfrm>
            <a:off x="6962775" y="1095375"/>
            <a:ext cx="571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641" dirty="0"/>
          </a:p>
        </p:txBody>
      </p:sp>
      <p:sp>
        <p:nvSpPr>
          <p:cNvPr id="16" name="Shape 14"/>
          <p:cNvSpPr/>
          <p:nvPr/>
        </p:nvSpPr>
        <p:spPr>
          <a:xfrm>
            <a:off x="6858000" y="12763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6858000" y="1309688"/>
            <a:ext cx="47625" cy="47625"/>
          </a:xfrm>
          <a:prstGeom prst="ellipse">
            <a:avLst/>
          </a:prstGeom>
          <a:solidFill>
            <a:srgbClr val="00B1F5"/>
          </a:solidFill>
          <a:ln/>
        </p:spPr>
      </p:sp>
      <p:sp>
        <p:nvSpPr>
          <p:cNvPr id="18" name="Text 16"/>
          <p:cNvSpPr/>
          <p:nvPr/>
        </p:nvSpPr>
        <p:spPr>
          <a:xfrm>
            <a:off x="6962775" y="1276350"/>
            <a:ext cx="381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641" dirty="0"/>
          </a:p>
        </p:txBody>
      </p:sp>
      <p:sp>
        <p:nvSpPr>
          <p:cNvPr id="19" name="Shape 17"/>
          <p:cNvSpPr/>
          <p:nvPr/>
        </p:nvSpPr>
        <p:spPr>
          <a:xfrm>
            <a:off x="6858000" y="14573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0" name="Shape 18"/>
          <p:cNvSpPr/>
          <p:nvPr/>
        </p:nvSpPr>
        <p:spPr>
          <a:xfrm>
            <a:off x="6858000" y="14906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1" name="Text 19"/>
          <p:cNvSpPr/>
          <p:nvPr/>
        </p:nvSpPr>
        <p:spPr>
          <a:xfrm>
            <a:off x="6962775" y="1457325"/>
            <a:ext cx="728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641" dirty="0"/>
          </a:p>
        </p:txBody>
      </p:sp>
      <p:sp>
        <p:nvSpPr>
          <p:cNvPr id="22" name="Shape 20"/>
          <p:cNvSpPr/>
          <p:nvPr/>
        </p:nvSpPr>
        <p:spPr>
          <a:xfrm>
            <a:off x="6858000" y="163830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3" name="Shape 21"/>
          <p:cNvSpPr/>
          <p:nvPr/>
        </p:nvSpPr>
        <p:spPr>
          <a:xfrm>
            <a:off x="6858000" y="167163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4" name="Text 22"/>
          <p:cNvSpPr/>
          <p:nvPr/>
        </p:nvSpPr>
        <p:spPr>
          <a:xfrm>
            <a:off x="6962775" y="1638300"/>
            <a:ext cx="7334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641" dirty="0"/>
          </a:p>
        </p:txBody>
      </p:sp>
      <p:sp>
        <p:nvSpPr>
          <p:cNvPr id="25" name="Shape 23"/>
          <p:cNvSpPr/>
          <p:nvPr/>
        </p:nvSpPr>
        <p:spPr>
          <a:xfrm>
            <a:off x="6858000" y="18192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6" name="Shape 24"/>
          <p:cNvSpPr/>
          <p:nvPr/>
        </p:nvSpPr>
        <p:spPr>
          <a:xfrm>
            <a:off x="6858000" y="1852612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7" name="Text 25"/>
          <p:cNvSpPr/>
          <p:nvPr/>
        </p:nvSpPr>
        <p:spPr>
          <a:xfrm>
            <a:off x="6962775" y="1819275"/>
            <a:ext cx="60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641" dirty="0"/>
          </a:p>
        </p:txBody>
      </p:sp>
      <p:sp>
        <p:nvSpPr>
          <p:cNvPr id="28" name="Shape 26"/>
          <p:cNvSpPr/>
          <p:nvPr/>
        </p:nvSpPr>
        <p:spPr>
          <a:xfrm>
            <a:off x="6858000" y="20002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9" name="Shape 27"/>
          <p:cNvSpPr/>
          <p:nvPr/>
        </p:nvSpPr>
        <p:spPr>
          <a:xfrm>
            <a:off x="6858000" y="20335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0" name="Text 28"/>
          <p:cNvSpPr/>
          <p:nvPr/>
        </p:nvSpPr>
        <p:spPr>
          <a:xfrm>
            <a:off x="6962775" y="2000250"/>
            <a:ext cx="6905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641" dirty="0"/>
          </a:p>
        </p:txBody>
      </p:sp>
      <p:sp>
        <p:nvSpPr>
          <p:cNvPr id="31" name="Shape 29"/>
          <p:cNvSpPr/>
          <p:nvPr/>
        </p:nvSpPr>
        <p:spPr>
          <a:xfrm>
            <a:off x="6858000" y="21812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32" name="Shape 30"/>
          <p:cNvSpPr/>
          <p:nvPr/>
        </p:nvSpPr>
        <p:spPr>
          <a:xfrm>
            <a:off x="6858000" y="22145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3" name="Text 31"/>
          <p:cNvSpPr/>
          <p:nvPr/>
        </p:nvSpPr>
        <p:spPr>
          <a:xfrm>
            <a:off x="6962775" y="2181225"/>
            <a:ext cx="6381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641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714375"/>
            <a:ext cx="5453063" cy="4095750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36" name="Text 33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077200" y="4924425"/>
            <a:ext cx="68580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81000" y="209550"/>
            <a:ext cx="3400425" cy="22860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81000" y="209550"/>
            <a:ext cx="847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1295400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6" name="Text 4"/>
          <p:cNvSpPr/>
          <p:nvPr/>
        </p:nvSpPr>
        <p:spPr>
          <a:xfrm>
            <a:off x="1376363" y="209550"/>
            <a:ext cx="2405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impact before adding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381000" y="476250"/>
            <a:ext cx="83820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1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An optional check lists the selected firewalls under their manager and ADOM before anything is added.</a:t>
            </a:r>
            <a:endParaRPr lang="en-US" sz="784" dirty="0"/>
          </a:p>
        </p:txBody>
      </p:sp>
      <p:sp>
        <p:nvSpPr>
          <p:cNvPr id="8" name="Shape 6"/>
          <p:cNvSpPr/>
          <p:nvPr/>
        </p:nvSpPr>
        <p:spPr>
          <a:xfrm>
            <a:off x="6858000" y="752475"/>
            <a:ext cx="1907000" cy="1543050"/>
          </a:xfrm>
          <a:prstGeom prst="rect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6858000" y="752475"/>
            <a:ext cx="447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70" spc="34" kern="0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STEP 3 OF 8</a:t>
            </a:r>
            <a:endParaRPr lang="en-US" sz="570" dirty="0"/>
          </a:p>
        </p:txBody>
      </p:sp>
      <p:sp>
        <p:nvSpPr>
          <p:cNvPr id="10" name="Shape 8"/>
          <p:cNvSpPr/>
          <p:nvPr/>
        </p:nvSpPr>
        <p:spPr>
          <a:xfrm>
            <a:off x="6858000" y="91440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6858000" y="947737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2" name="Text 10"/>
          <p:cNvSpPr/>
          <p:nvPr/>
        </p:nvSpPr>
        <p:spPr>
          <a:xfrm>
            <a:off x="6962775" y="914400"/>
            <a:ext cx="5381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Find your work</a:t>
            </a:r>
            <a:endParaRPr lang="en-US" sz="641" dirty="0"/>
          </a:p>
        </p:txBody>
      </p:sp>
      <p:sp>
        <p:nvSpPr>
          <p:cNvPr id="13" name="Shape 11"/>
          <p:cNvSpPr/>
          <p:nvPr/>
        </p:nvSpPr>
        <p:spPr>
          <a:xfrm>
            <a:off x="6858000" y="10953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6858000" y="112871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5" name="Text 13"/>
          <p:cNvSpPr/>
          <p:nvPr/>
        </p:nvSpPr>
        <p:spPr>
          <a:xfrm>
            <a:off x="6962775" y="1095375"/>
            <a:ext cx="571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641" dirty="0"/>
          </a:p>
        </p:txBody>
      </p:sp>
      <p:sp>
        <p:nvSpPr>
          <p:cNvPr id="16" name="Shape 14"/>
          <p:cNvSpPr/>
          <p:nvPr/>
        </p:nvSpPr>
        <p:spPr>
          <a:xfrm>
            <a:off x="6858000" y="12763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6858000" y="1309688"/>
            <a:ext cx="47625" cy="47625"/>
          </a:xfrm>
          <a:prstGeom prst="ellipse">
            <a:avLst/>
          </a:prstGeom>
          <a:solidFill>
            <a:srgbClr val="00B1F5"/>
          </a:solidFill>
          <a:ln/>
        </p:spPr>
      </p:sp>
      <p:sp>
        <p:nvSpPr>
          <p:cNvPr id="18" name="Text 16"/>
          <p:cNvSpPr/>
          <p:nvPr/>
        </p:nvSpPr>
        <p:spPr>
          <a:xfrm>
            <a:off x="6962775" y="1276350"/>
            <a:ext cx="381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641" dirty="0"/>
          </a:p>
        </p:txBody>
      </p:sp>
      <p:sp>
        <p:nvSpPr>
          <p:cNvPr id="19" name="Shape 17"/>
          <p:cNvSpPr/>
          <p:nvPr/>
        </p:nvSpPr>
        <p:spPr>
          <a:xfrm>
            <a:off x="6858000" y="14573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0" name="Shape 18"/>
          <p:cNvSpPr/>
          <p:nvPr/>
        </p:nvSpPr>
        <p:spPr>
          <a:xfrm>
            <a:off x="6858000" y="14906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1" name="Text 19"/>
          <p:cNvSpPr/>
          <p:nvPr/>
        </p:nvSpPr>
        <p:spPr>
          <a:xfrm>
            <a:off x="6962775" y="1457325"/>
            <a:ext cx="728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641" dirty="0"/>
          </a:p>
        </p:txBody>
      </p:sp>
      <p:sp>
        <p:nvSpPr>
          <p:cNvPr id="22" name="Shape 20"/>
          <p:cNvSpPr/>
          <p:nvPr/>
        </p:nvSpPr>
        <p:spPr>
          <a:xfrm>
            <a:off x="6858000" y="163830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3" name="Shape 21"/>
          <p:cNvSpPr/>
          <p:nvPr/>
        </p:nvSpPr>
        <p:spPr>
          <a:xfrm>
            <a:off x="6858000" y="167163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4" name="Text 22"/>
          <p:cNvSpPr/>
          <p:nvPr/>
        </p:nvSpPr>
        <p:spPr>
          <a:xfrm>
            <a:off x="6962775" y="1638300"/>
            <a:ext cx="7334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641" dirty="0"/>
          </a:p>
        </p:txBody>
      </p:sp>
      <p:sp>
        <p:nvSpPr>
          <p:cNvPr id="25" name="Shape 23"/>
          <p:cNvSpPr/>
          <p:nvPr/>
        </p:nvSpPr>
        <p:spPr>
          <a:xfrm>
            <a:off x="6858000" y="18192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6" name="Shape 24"/>
          <p:cNvSpPr/>
          <p:nvPr/>
        </p:nvSpPr>
        <p:spPr>
          <a:xfrm>
            <a:off x="6858000" y="1852612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7" name="Text 25"/>
          <p:cNvSpPr/>
          <p:nvPr/>
        </p:nvSpPr>
        <p:spPr>
          <a:xfrm>
            <a:off x="6962775" y="1819275"/>
            <a:ext cx="60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641" dirty="0"/>
          </a:p>
        </p:txBody>
      </p:sp>
      <p:sp>
        <p:nvSpPr>
          <p:cNvPr id="28" name="Shape 26"/>
          <p:cNvSpPr/>
          <p:nvPr/>
        </p:nvSpPr>
        <p:spPr>
          <a:xfrm>
            <a:off x="6858000" y="20002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9" name="Shape 27"/>
          <p:cNvSpPr/>
          <p:nvPr/>
        </p:nvSpPr>
        <p:spPr>
          <a:xfrm>
            <a:off x="6858000" y="20335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0" name="Text 28"/>
          <p:cNvSpPr/>
          <p:nvPr/>
        </p:nvSpPr>
        <p:spPr>
          <a:xfrm>
            <a:off x="6962775" y="2000250"/>
            <a:ext cx="6905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641" dirty="0"/>
          </a:p>
        </p:txBody>
      </p:sp>
      <p:sp>
        <p:nvSpPr>
          <p:cNvPr id="31" name="Shape 29"/>
          <p:cNvSpPr/>
          <p:nvPr/>
        </p:nvSpPr>
        <p:spPr>
          <a:xfrm>
            <a:off x="6858000" y="21812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32" name="Shape 30"/>
          <p:cNvSpPr/>
          <p:nvPr/>
        </p:nvSpPr>
        <p:spPr>
          <a:xfrm>
            <a:off x="6858000" y="22145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3" name="Text 31"/>
          <p:cNvSpPr/>
          <p:nvPr/>
        </p:nvSpPr>
        <p:spPr>
          <a:xfrm>
            <a:off x="6962775" y="2181225"/>
            <a:ext cx="6381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641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714375"/>
            <a:ext cx="5453063" cy="4095750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36" name="Text 33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077200" y="4924425"/>
            <a:ext cx="68580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81000" y="209550"/>
            <a:ext cx="2695575" cy="22860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81000" y="209550"/>
            <a:ext cx="847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1295400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6" name="Text 4"/>
          <p:cNvSpPr/>
          <p:nvPr/>
        </p:nvSpPr>
        <p:spPr>
          <a:xfrm>
            <a:off x="1376363" y="209550"/>
            <a:ext cx="17002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One item per firewall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381000" y="476250"/>
            <a:ext cx="83820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1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Three firewalls become three items in the draft. Each can be edited or removed until the plan is submitted.</a:t>
            </a:r>
            <a:endParaRPr lang="en-US" sz="784" dirty="0"/>
          </a:p>
        </p:txBody>
      </p:sp>
      <p:sp>
        <p:nvSpPr>
          <p:cNvPr id="8" name="Shape 6"/>
          <p:cNvSpPr/>
          <p:nvPr/>
        </p:nvSpPr>
        <p:spPr>
          <a:xfrm>
            <a:off x="6858000" y="752475"/>
            <a:ext cx="1907000" cy="1543050"/>
          </a:xfrm>
          <a:prstGeom prst="rect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6858000" y="752475"/>
            <a:ext cx="447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70" spc="34" kern="0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STEP 3 OF 8</a:t>
            </a:r>
            <a:endParaRPr lang="en-US" sz="570" dirty="0"/>
          </a:p>
        </p:txBody>
      </p:sp>
      <p:sp>
        <p:nvSpPr>
          <p:cNvPr id="10" name="Shape 8"/>
          <p:cNvSpPr/>
          <p:nvPr/>
        </p:nvSpPr>
        <p:spPr>
          <a:xfrm>
            <a:off x="6858000" y="91440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6858000" y="947737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2" name="Text 10"/>
          <p:cNvSpPr/>
          <p:nvPr/>
        </p:nvSpPr>
        <p:spPr>
          <a:xfrm>
            <a:off x="6962775" y="914400"/>
            <a:ext cx="5381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Find your work</a:t>
            </a:r>
            <a:endParaRPr lang="en-US" sz="641" dirty="0"/>
          </a:p>
        </p:txBody>
      </p:sp>
      <p:sp>
        <p:nvSpPr>
          <p:cNvPr id="13" name="Shape 11"/>
          <p:cNvSpPr/>
          <p:nvPr/>
        </p:nvSpPr>
        <p:spPr>
          <a:xfrm>
            <a:off x="6858000" y="10953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6858000" y="112871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5" name="Text 13"/>
          <p:cNvSpPr/>
          <p:nvPr/>
        </p:nvSpPr>
        <p:spPr>
          <a:xfrm>
            <a:off x="6962775" y="1095375"/>
            <a:ext cx="571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641" dirty="0"/>
          </a:p>
        </p:txBody>
      </p:sp>
      <p:sp>
        <p:nvSpPr>
          <p:cNvPr id="16" name="Shape 14"/>
          <p:cNvSpPr/>
          <p:nvPr/>
        </p:nvSpPr>
        <p:spPr>
          <a:xfrm>
            <a:off x="6858000" y="12763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6858000" y="1309688"/>
            <a:ext cx="47625" cy="47625"/>
          </a:xfrm>
          <a:prstGeom prst="ellipse">
            <a:avLst/>
          </a:prstGeom>
          <a:solidFill>
            <a:srgbClr val="00B1F5"/>
          </a:solidFill>
          <a:ln/>
        </p:spPr>
      </p:sp>
      <p:sp>
        <p:nvSpPr>
          <p:cNvPr id="18" name="Text 16"/>
          <p:cNvSpPr/>
          <p:nvPr/>
        </p:nvSpPr>
        <p:spPr>
          <a:xfrm>
            <a:off x="6962775" y="1276350"/>
            <a:ext cx="381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641" dirty="0"/>
          </a:p>
        </p:txBody>
      </p:sp>
      <p:sp>
        <p:nvSpPr>
          <p:cNvPr id="19" name="Shape 17"/>
          <p:cNvSpPr/>
          <p:nvPr/>
        </p:nvSpPr>
        <p:spPr>
          <a:xfrm>
            <a:off x="6858000" y="14573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0" name="Shape 18"/>
          <p:cNvSpPr/>
          <p:nvPr/>
        </p:nvSpPr>
        <p:spPr>
          <a:xfrm>
            <a:off x="6858000" y="14906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1" name="Text 19"/>
          <p:cNvSpPr/>
          <p:nvPr/>
        </p:nvSpPr>
        <p:spPr>
          <a:xfrm>
            <a:off x="6962775" y="1457325"/>
            <a:ext cx="728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641" dirty="0"/>
          </a:p>
        </p:txBody>
      </p:sp>
      <p:sp>
        <p:nvSpPr>
          <p:cNvPr id="22" name="Shape 20"/>
          <p:cNvSpPr/>
          <p:nvPr/>
        </p:nvSpPr>
        <p:spPr>
          <a:xfrm>
            <a:off x="6858000" y="163830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3" name="Shape 21"/>
          <p:cNvSpPr/>
          <p:nvPr/>
        </p:nvSpPr>
        <p:spPr>
          <a:xfrm>
            <a:off x="6858000" y="167163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4" name="Text 22"/>
          <p:cNvSpPr/>
          <p:nvPr/>
        </p:nvSpPr>
        <p:spPr>
          <a:xfrm>
            <a:off x="6962775" y="1638300"/>
            <a:ext cx="7334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641" dirty="0"/>
          </a:p>
        </p:txBody>
      </p:sp>
      <p:sp>
        <p:nvSpPr>
          <p:cNvPr id="25" name="Shape 23"/>
          <p:cNvSpPr/>
          <p:nvPr/>
        </p:nvSpPr>
        <p:spPr>
          <a:xfrm>
            <a:off x="6858000" y="18192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6" name="Shape 24"/>
          <p:cNvSpPr/>
          <p:nvPr/>
        </p:nvSpPr>
        <p:spPr>
          <a:xfrm>
            <a:off x="6858000" y="1852612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7" name="Text 25"/>
          <p:cNvSpPr/>
          <p:nvPr/>
        </p:nvSpPr>
        <p:spPr>
          <a:xfrm>
            <a:off x="6962775" y="1819275"/>
            <a:ext cx="60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641" dirty="0"/>
          </a:p>
        </p:txBody>
      </p:sp>
      <p:sp>
        <p:nvSpPr>
          <p:cNvPr id="28" name="Shape 26"/>
          <p:cNvSpPr/>
          <p:nvPr/>
        </p:nvSpPr>
        <p:spPr>
          <a:xfrm>
            <a:off x="6858000" y="20002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9" name="Shape 27"/>
          <p:cNvSpPr/>
          <p:nvPr/>
        </p:nvSpPr>
        <p:spPr>
          <a:xfrm>
            <a:off x="6858000" y="20335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0" name="Text 28"/>
          <p:cNvSpPr/>
          <p:nvPr/>
        </p:nvSpPr>
        <p:spPr>
          <a:xfrm>
            <a:off x="6962775" y="2000250"/>
            <a:ext cx="6905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641" dirty="0"/>
          </a:p>
        </p:txBody>
      </p:sp>
      <p:sp>
        <p:nvSpPr>
          <p:cNvPr id="31" name="Shape 29"/>
          <p:cNvSpPr/>
          <p:nvPr/>
        </p:nvSpPr>
        <p:spPr>
          <a:xfrm>
            <a:off x="6858000" y="21812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32" name="Shape 30"/>
          <p:cNvSpPr/>
          <p:nvPr/>
        </p:nvSpPr>
        <p:spPr>
          <a:xfrm>
            <a:off x="6858000" y="22145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3" name="Text 31"/>
          <p:cNvSpPr/>
          <p:nvPr/>
        </p:nvSpPr>
        <p:spPr>
          <a:xfrm>
            <a:off x="6962775" y="2181225"/>
            <a:ext cx="6381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641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714375"/>
            <a:ext cx="5453063" cy="4095750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36" name="Text 33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077200" y="4924425"/>
            <a:ext cx="68580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81000" y="209550"/>
            <a:ext cx="4491038" cy="22860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81000" y="209550"/>
            <a:ext cx="1647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2095500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6" name="Text 4"/>
          <p:cNvSpPr/>
          <p:nvPr/>
        </p:nvSpPr>
        <p:spPr>
          <a:xfrm>
            <a:off x="2176463" y="209550"/>
            <a:ext cx="2695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Submit, and the system checks it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381000" y="476250"/>
            <a:ext cx="83820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1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From here the firewall plan follows the same lifecycle as every other plan: validation, the change window, then execution.</a:t>
            </a:r>
            <a:endParaRPr lang="en-US" sz="784" dirty="0"/>
          </a:p>
        </p:txBody>
      </p:sp>
      <p:sp>
        <p:nvSpPr>
          <p:cNvPr id="8" name="Shape 6"/>
          <p:cNvSpPr/>
          <p:nvPr/>
        </p:nvSpPr>
        <p:spPr>
          <a:xfrm>
            <a:off x="6858001" y="752475"/>
            <a:ext cx="1907000" cy="1543050"/>
          </a:xfrm>
          <a:prstGeom prst="rect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6858001" y="752475"/>
            <a:ext cx="447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70" spc="34" kern="0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STEP 4 OF 8</a:t>
            </a:r>
            <a:endParaRPr lang="en-US" sz="570" dirty="0"/>
          </a:p>
        </p:txBody>
      </p:sp>
      <p:sp>
        <p:nvSpPr>
          <p:cNvPr id="10" name="Shape 8"/>
          <p:cNvSpPr/>
          <p:nvPr/>
        </p:nvSpPr>
        <p:spPr>
          <a:xfrm>
            <a:off x="6858001" y="91440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6858001" y="947737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2" name="Text 10"/>
          <p:cNvSpPr/>
          <p:nvPr/>
        </p:nvSpPr>
        <p:spPr>
          <a:xfrm>
            <a:off x="6962776" y="914400"/>
            <a:ext cx="5381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Find your work</a:t>
            </a:r>
            <a:endParaRPr lang="en-US" sz="641" dirty="0"/>
          </a:p>
        </p:txBody>
      </p:sp>
      <p:sp>
        <p:nvSpPr>
          <p:cNvPr id="13" name="Shape 11"/>
          <p:cNvSpPr/>
          <p:nvPr/>
        </p:nvSpPr>
        <p:spPr>
          <a:xfrm>
            <a:off x="6858001" y="10953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6858001" y="112871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5" name="Text 13"/>
          <p:cNvSpPr/>
          <p:nvPr/>
        </p:nvSpPr>
        <p:spPr>
          <a:xfrm>
            <a:off x="6962776" y="1095375"/>
            <a:ext cx="571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641" dirty="0"/>
          </a:p>
        </p:txBody>
      </p:sp>
      <p:sp>
        <p:nvSpPr>
          <p:cNvPr id="16" name="Shape 14"/>
          <p:cNvSpPr/>
          <p:nvPr/>
        </p:nvSpPr>
        <p:spPr>
          <a:xfrm>
            <a:off x="6858001" y="12763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6858001" y="13096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8" name="Text 16"/>
          <p:cNvSpPr/>
          <p:nvPr/>
        </p:nvSpPr>
        <p:spPr>
          <a:xfrm>
            <a:off x="6962776" y="1276350"/>
            <a:ext cx="3762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641" dirty="0"/>
          </a:p>
        </p:txBody>
      </p:sp>
      <p:sp>
        <p:nvSpPr>
          <p:cNvPr id="19" name="Shape 17"/>
          <p:cNvSpPr/>
          <p:nvPr/>
        </p:nvSpPr>
        <p:spPr>
          <a:xfrm>
            <a:off x="6858001" y="14573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0" name="Shape 18"/>
          <p:cNvSpPr/>
          <p:nvPr/>
        </p:nvSpPr>
        <p:spPr>
          <a:xfrm>
            <a:off x="6858001" y="1490663"/>
            <a:ext cx="47625" cy="47625"/>
          </a:xfrm>
          <a:prstGeom prst="ellipse">
            <a:avLst/>
          </a:prstGeom>
          <a:solidFill>
            <a:srgbClr val="00B1F5"/>
          </a:solidFill>
          <a:ln/>
        </p:spPr>
      </p:sp>
      <p:sp>
        <p:nvSpPr>
          <p:cNvPr id="21" name="Text 19"/>
          <p:cNvSpPr/>
          <p:nvPr/>
        </p:nvSpPr>
        <p:spPr>
          <a:xfrm>
            <a:off x="6962776" y="1457325"/>
            <a:ext cx="7429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641" dirty="0"/>
          </a:p>
        </p:txBody>
      </p:sp>
      <p:sp>
        <p:nvSpPr>
          <p:cNvPr id="22" name="Shape 20"/>
          <p:cNvSpPr/>
          <p:nvPr/>
        </p:nvSpPr>
        <p:spPr>
          <a:xfrm>
            <a:off x="6858001" y="163830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3" name="Shape 21"/>
          <p:cNvSpPr/>
          <p:nvPr/>
        </p:nvSpPr>
        <p:spPr>
          <a:xfrm>
            <a:off x="6858001" y="167163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4" name="Text 22"/>
          <p:cNvSpPr/>
          <p:nvPr/>
        </p:nvSpPr>
        <p:spPr>
          <a:xfrm>
            <a:off x="6962776" y="1638300"/>
            <a:ext cx="7334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641" dirty="0"/>
          </a:p>
        </p:txBody>
      </p:sp>
      <p:sp>
        <p:nvSpPr>
          <p:cNvPr id="25" name="Shape 23"/>
          <p:cNvSpPr/>
          <p:nvPr/>
        </p:nvSpPr>
        <p:spPr>
          <a:xfrm>
            <a:off x="6858001" y="18192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6" name="Shape 24"/>
          <p:cNvSpPr/>
          <p:nvPr/>
        </p:nvSpPr>
        <p:spPr>
          <a:xfrm>
            <a:off x="6858001" y="1852612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7" name="Text 25"/>
          <p:cNvSpPr/>
          <p:nvPr/>
        </p:nvSpPr>
        <p:spPr>
          <a:xfrm>
            <a:off x="6962776" y="1819275"/>
            <a:ext cx="60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641" dirty="0"/>
          </a:p>
        </p:txBody>
      </p:sp>
      <p:sp>
        <p:nvSpPr>
          <p:cNvPr id="28" name="Shape 26"/>
          <p:cNvSpPr/>
          <p:nvPr/>
        </p:nvSpPr>
        <p:spPr>
          <a:xfrm>
            <a:off x="6858001" y="20002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9" name="Shape 27"/>
          <p:cNvSpPr/>
          <p:nvPr/>
        </p:nvSpPr>
        <p:spPr>
          <a:xfrm>
            <a:off x="6858001" y="20335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0" name="Text 28"/>
          <p:cNvSpPr/>
          <p:nvPr/>
        </p:nvSpPr>
        <p:spPr>
          <a:xfrm>
            <a:off x="6962776" y="2000250"/>
            <a:ext cx="6905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641" dirty="0"/>
          </a:p>
        </p:txBody>
      </p:sp>
      <p:sp>
        <p:nvSpPr>
          <p:cNvPr id="31" name="Shape 29"/>
          <p:cNvSpPr/>
          <p:nvPr/>
        </p:nvSpPr>
        <p:spPr>
          <a:xfrm>
            <a:off x="6858001" y="21812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32" name="Shape 30"/>
          <p:cNvSpPr/>
          <p:nvPr/>
        </p:nvSpPr>
        <p:spPr>
          <a:xfrm>
            <a:off x="6858001" y="22145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3" name="Text 31"/>
          <p:cNvSpPr/>
          <p:nvPr/>
        </p:nvSpPr>
        <p:spPr>
          <a:xfrm>
            <a:off x="6962776" y="2181225"/>
            <a:ext cx="6381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641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714375"/>
            <a:ext cx="5453063" cy="4095750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36" name="Text 33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077200" y="4924425"/>
            <a:ext cx="68580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76500" y="2047875"/>
            <a:ext cx="38100" cy="1047750"/>
          </a:xfrm>
          <a:prstGeom prst="roundRect">
            <a:avLst/>
          </a:prstGeom>
          <a:solidFill>
            <a:srgbClr val="00B1F5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2762250" y="2238375"/>
            <a:ext cx="1190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9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Thank you</a:t>
            </a:r>
            <a:endParaRPr lang="en-US" sz="1995" dirty="0"/>
          </a:p>
        </p:txBody>
      </p:sp>
      <p:sp>
        <p:nvSpPr>
          <p:cNvPr id="4" name="Text 2"/>
          <p:cNvSpPr/>
          <p:nvPr/>
        </p:nvSpPr>
        <p:spPr>
          <a:xfrm>
            <a:off x="2762250" y="2628900"/>
            <a:ext cx="183356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buNone/>
            </a:pPr>
            <a:r>
              <a:rPr lang="en-US" sz="926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Questions and feedback welcome.</a:t>
            </a:r>
            <a:endParaRPr lang="en-US" sz="926" dirty="0"/>
          </a:p>
        </p:txBody>
      </p:sp>
      <p:sp>
        <p:nvSpPr>
          <p:cNvPr id="5" name="Text 3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sp>
        <p:nvSpPr>
          <p:cNvPr id="6" name="Shape 4"/>
          <p:cNvSpPr/>
          <p:nvPr/>
        </p:nvSpPr>
        <p:spPr>
          <a:xfrm>
            <a:off x="6877050" y="1857375"/>
            <a:ext cx="38100" cy="1428750"/>
          </a:xfrm>
          <a:prstGeom prst="roundRect">
            <a:avLst/>
          </a:prstGeom>
          <a:solidFill>
            <a:srgbClr val="00B1F5">
              <a:alpha val="70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252555" y="2507456"/>
            <a:ext cx="1295448" cy="25241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2026-10-23T12:30:07Z</dcterms:created>
  <dcterms:modified xsi:type="dcterms:W3CDTF">2026-10-23T12:30:07Z</dcterms:modified>
</cp:coreProperties>
</file>