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Default Extension="fntdata" ContentType="application/x-fontdata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embedTrueType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embeddedFontLst>
    <p:embeddedFont>
      <p:font typeface="Effra"/>
      <p:regular r:id="rId2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Id="rId25" Type="http://schemas.openxmlformats.org/officeDocument/2006/relationships/font" Target="fonts/rId25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476500" y="1857375"/>
            <a:ext cx="38100" cy="1428750"/>
          </a:xfrm>
          <a:prstGeom prst="roundRect">
            <a:avLst/>
          </a:prstGeom>
          <a:solidFill>
            <a:srgbClr val="00B1F5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77050" y="1857375"/>
            <a:ext cx="38100" cy="1428750"/>
          </a:xfrm>
          <a:prstGeom prst="roundRect">
            <a:avLst/>
          </a:prstGeom>
          <a:solidFill>
            <a:srgbClr val="00B1F5">
              <a:alpha val="7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2762250" y="2047875"/>
            <a:ext cx="72866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2"/>
              </a:lnSpc>
              <a:buNone/>
            </a:pPr>
            <a:r>
              <a:rPr lang="en-US" sz="1924" dirty="0">
                <a:solidFill>
                  <a:srgbClr val="069FDA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Ultron</a:t>
            </a:r>
            <a:endParaRPr lang="en-US" sz="1924" dirty="0"/>
          </a:p>
        </p:txBody>
      </p:sp>
      <p:sp>
        <p:nvSpPr>
          <p:cNvPr id="5" name="Text 3"/>
          <p:cNvSpPr/>
          <p:nvPr/>
        </p:nvSpPr>
        <p:spPr>
          <a:xfrm>
            <a:off x="2762250" y="2362200"/>
            <a:ext cx="104298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0"/>
              </a:lnSpc>
              <a:buNone/>
            </a:pPr>
            <a:r>
              <a:rPr lang="en-US" sz="855" dirty="0">
                <a:solidFill>
                  <a:srgbClr val="00B1F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Product Walkthrough</a:t>
            </a:r>
            <a:endParaRPr lang="en-US" sz="855" dirty="0"/>
          </a:p>
        </p:txBody>
      </p:sp>
      <p:sp>
        <p:nvSpPr>
          <p:cNvPr id="6" name="Text 4"/>
          <p:cNvSpPr/>
          <p:nvPr/>
        </p:nvSpPr>
        <p:spPr>
          <a:xfrm>
            <a:off x="2762250" y="2552700"/>
            <a:ext cx="209550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1"/>
              </a:lnSpc>
              <a:buNone/>
            </a:pPr>
            <a:r>
              <a:rPr lang="en-US" sz="926" b="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From a planned change to a closed one</a:t>
            </a:r>
            <a:endParaRPr lang="en-US" sz="926" dirty="0"/>
          </a:p>
        </p:txBody>
      </p:sp>
      <p:sp>
        <p:nvSpPr>
          <p:cNvPr id="7" name="Text 5"/>
          <p:cNvSpPr/>
          <p:nvPr/>
        </p:nvSpPr>
        <p:spPr>
          <a:xfrm>
            <a:off x="2762250" y="2895600"/>
            <a:ext cx="46196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4"/>
              </a:lnSpc>
              <a:buNone/>
            </a:pPr>
            <a:r>
              <a:rPr lang="en-US" sz="570" dirty="0">
                <a:solidFill>
                  <a:srgbClr val="18232A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October 2026</a:t>
            </a:r>
            <a:endParaRPr lang="en-US" sz="570" dirty="0"/>
          </a:p>
        </p:txBody>
      </p:sp>
      <p:sp>
        <p:nvSpPr>
          <p:cNvPr id="8" name="Text 6"/>
          <p:cNvSpPr/>
          <p:nvPr/>
        </p:nvSpPr>
        <p:spPr>
          <a:xfrm>
            <a:off x="2762250" y="3009900"/>
            <a:ext cx="30956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4"/>
              </a:lnSpc>
              <a:buNone/>
            </a:pPr>
            <a:r>
              <a:rPr lang="en-US" sz="570" dirty="0">
                <a:solidFill>
                  <a:srgbClr val="18232A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Version 3</a:t>
            </a:r>
            <a:endParaRPr lang="en-US" sz="570" dirty="0"/>
          </a:p>
        </p:txBody>
      </p:sp>
      <p:sp>
        <p:nvSpPr>
          <p:cNvPr id="9" name="Text 7"/>
          <p:cNvSpPr/>
          <p:nvPr/>
        </p:nvSpPr>
        <p:spPr>
          <a:xfrm>
            <a:off x="381000" y="4972050"/>
            <a:ext cx="438150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70"/>
              </a:lnSpc>
              <a:buNone/>
            </a:pPr>
            <a:r>
              <a:rPr lang="en-US" sz="463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Internal use only</a:t>
            </a:r>
            <a:endParaRPr lang="en-US" sz="463" dirty="0"/>
          </a:p>
        </p:txBody>
      </p:sp>
      <p:sp>
        <p:nvSpPr>
          <p:cNvPr id="10" name="Shape 8"/>
          <p:cNvSpPr/>
          <p:nvPr/>
        </p:nvSpPr>
        <p:spPr>
          <a:xfrm>
            <a:off x="7252556" y="2507456"/>
            <a:ext cx="1295450" cy="252413"/>
          </a:xfrm>
          <a:prstGeom prst="rect">
            <a:avLst/>
          </a:prstGeom>
          <a:noFill/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497619" y="2552246"/>
            <a:ext cx="1017725" cy="168913"/>
          </a:xfrm>
          <a:prstGeom prst="rect">
            <a:avLst/>
          </a:prstGeom>
        </p:spPr>
      </p:pic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rcRect l="0" r="67575" t="0" b="80646"/>
          <a:stretch/>
        </p:blipFill>
        <p:spPr>
          <a:xfrm>
            <a:off x="5889004" y="1854711"/>
            <a:ext cx="654294" cy="25241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209550"/>
            <a:ext cx="2847975" cy="228600"/>
          </a:xfrm>
          <a:prstGeom prst="rect">
            <a:avLst/>
          </a:prstGeom>
          <a:noFill/>
          <a:ln/>
        </p:spPr>
      </p:sp>
      <p:sp>
        <p:nvSpPr>
          <p:cNvPr id="3" name="Text 1"/>
          <p:cNvSpPr/>
          <p:nvPr/>
        </p:nvSpPr>
        <p:spPr>
          <a:xfrm>
            <a:off x="381000" y="209550"/>
            <a:ext cx="8143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00B1F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Overview</a:t>
            </a:r>
            <a:endParaRPr lang="en-US" sz="1425" dirty="0"/>
          </a:p>
        </p:txBody>
      </p:sp>
      <p:sp>
        <p:nvSpPr>
          <p:cNvPr id="4" name="Shape 2"/>
          <p:cNvSpPr/>
          <p:nvPr/>
        </p:nvSpPr>
        <p:spPr>
          <a:xfrm>
            <a:off x="1262063" y="228600"/>
            <a:ext cx="14288" cy="190500"/>
          </a:xfrm>
          <a:prstGeom prst="rect">
            <a:avLst/>
          </a:prstGeom>
          <a:solidFill>
            <a:srgbClr val="00B1F5"/>
          </a:solidFill>
          <a:ln/>
        </p:spPr>
      </p:sp>
      <p:sp>
        <p:nvSpPr>
          <p:cNvPr id="5" name="Text 3"/>
          <p:cNvSpPr/>
          <p:nvPr/>
        </p:nvSpPr>
        <p:spPr>
          <a:xfrm>
            <a:off x="1343025" y="209550"/>
            <a:ext cx="1885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18232A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The </a:t>
            </a:r>
            <a:pPr algn="l"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18232A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journey</a:t>
            </a:r>
            <a:pPr algn="l"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18232A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 at a glance</a:t>
            </a:r>
            <a:endParaRPr lang="en-US" sz="1425" dirty="0"/>
          </a:p>
        </p:txBody>
      </p:sp>
      <p:sp>
        <p:nvSpPr>
          <p:cNvPr id="6" name="Text 4"/>
          <p:cNvSpPr/>
          <p:nvPr/>
        </p:nvSpPr>
        <p:spPr>
          <a:xfrm>
            <a:off x="381000" y="476250"/>
            <a:ext cx="83820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784" dirty="0">
                <a:solidFill>
                  <a:srgbClr val="5D6B7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Eight steps take a plan from the Plans list to its outcome. The slides that follow walk through each one.</a:t>
            </a:r>
            <a:endParaRPr lang="en-US" sz="784" dirty="0"/>
          </a:p>
        </p:txBody>
      </p:sp>
      <p:sp>
        <p:nvSpPr>
          <p:cNvPr id="7" name="Shape 5"/>
          <p:cNvSpPr/>
          <p:nvPr/>
        </p:nvSpPr>
        <p:spPr>
          <a:xfrm>
            <a:off x="381000" y="1571625"/>
            <a:ext cx="8382000" cy="1333500"/>
          </a:xfrm>
          <a:prstGeom prst="rect">
            <a:avLst/>
          </a:prstGeom>
          <a:noFill/>
          <a:ln/>
        </p:spPr>
      </p:sp>
      <p:sp>
        <p:nvSpPr>
          <p:cNvPr id="8" name="Shape 6"/>
          <p:cNvSpPr/>
          <p:nvPr/>
        </p:nvSpPr>
        <p:spPr>
          <a:xfrm>
            <a:off x="381000" y="1571625"/>
            <a:ext cx="981075" cy="1333500"/>
          </a:xfrm>
          <a:prstGeom prst="roundRect">
            <a:avLst>
              <a:gd name="adj" fmla="val 13049"/>
            </a:avLst>
          </a:prstGeom>
          <a:solidFill>
            <a:srgbClr val="F7F9FA"/>
          </a:solidFill>
          <a:ln w="4524">
            <a:solidFill>
              <a:srgbClr val="E1E6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0063" y="1728788"/>
            <a:ext cx="742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00B1F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01</a:t>
            </a:r>
            <a:endParaRPr lang="en-US" sz="1425" dirty="0"/>
          </a:p>
        </p:txBody>
      </p:sp>
      <p:sp>
        <p:nvSpPr>
          <p:cNvPr id="10" name="Text 8"/>
          <p:cNvSpPr/>
          <p:nvPr/>
        </p:nvSpPr>
        <p:spPr>
          <a:xfrm>
            <a:off x="500063" y="2024062"/>
            <a:ext cx="7429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55" dirty="0">
                <a:solidFill>
                  <a:srgbClr val="18232A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Find your work</a:t>
            </a:r>
            <a:endParaRPr lang="en-US" sz="855" dirty="0"/>
          </a:p>
        </p:txBody>
      </p:sp>
      <p:sp>
        <p:nvSpPr>
          <p:cNvPr id="11" name="Text 9"/>
          <p:cNvSpPr/>
          <p:nvPr/>
        </p:nvSpPr>
        <p:spPr>
          <a:xfrm>
            <a:off x="500063" y="2233613"/>
            <a:ext cx="7429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6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Open Plans and pick up what needs you</a:t>
            </a:r>
            <a:endParaRPr lang="en-US" sz="641" dirty="0"/>
          </a:p>
        </p:txBody>
      </p:sp>
      <p:sp>
        <p:nvSpPr>
          <p:cNvPr id="12" name="Shape 10"/>
          <p:cNvSpPr/>
          <p:nvPr/>
        </p:nvSpPr>
        <p:spPr>
          <a:xfrm>
            <a:off x="1438275" y="1571625"/>
            <a:ext cx="981075" cy="1333500"/>
          </a:xfrm>
          <a:prstGeom prst="roundRect">
            <a:avLst>
              <a:gd name="adj" fmla="val 13049"/>
            </a:avLst>
          </a:prstGeom>
          <a:solidFill>
            <a:srgbClr val="F7F9FA"/>
          </a:solidFill>
          <a:ln w="4524">
            <a:solidFill>
              <a:srgbClr val="E1E6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557338" y="1728788"/>
            <a:ext cx="752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00B1F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02</a:t>
            </a:r>
            <a:endParaRPr lang="en-US" sz="1425" dirty="0"/>
          </a:p>
        </p:txBody>
      </p:sp>
      <p:sp>
        <p:nvSpPr>
          <p:cNvPr id="14" name="Text 12"/>
          <p:cNvSpPr/>
          <p:nvPr/>
        </p:nvSpPr>
        <p:spPr>
          <a:xfrm>
            <a:off x="1557338" y="2024062"/>
            <a:ext cx="75247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55" dirty="0">
                <a:solidFill>
                  <a:srgbClr val="18232A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Create the plan</a:t>
            </a:r>
            <a:endParaRPr lang="en-US" sz="855" dirty="0"/>
          </a:p>
        </p:txBody>
      </p:sp>
      <p:sp>
        <p:nvSpPr>
          <p:cNvPr id="15" name="Text 13"/>
          <p:cNvSpPr/>
          <p:nvPr/>
        </p:nvSpPr>
        <p:spPr>
          <a:xfrm>
            <a:off x="1557338" y="2376488"/>
            <a:ext cx="752475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6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Name it, pick the operation, link the change</a:t>
            </a:r>
            <a:endParaRPr lang="en-US" sz="641" dirty="0"/>
          </a:p>
        </p:txBody>
      </p:sp>
      <p:sp>
        <p:nvSpPr>
          <p:cNvPr id="16" name="Shape 14"/>
          <p:cNvSpPr/>
          <p:nvPr/>
        </p:nvSpPr>
        <p:spPr>
          <a:xfrm>
            <a:off x="2495550" y="1571625"/>
            <a:ext cx="981075" cy="1333500"/>
          </a:xfrm>
          <a:prstGeom prst="roundRect">
            <a:avLst>
              <a:gd name="adj" fmla="val 13049"/>
            </a:avLst>
          </a:prstGeom>
          <a:solidFill>
            <a:srgbClr val="F7F9FA"/>
          </a:solidFill>
          <a:ln w="4524">
            <a:solidFill>
              <a:srgbClr val="E1E6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14613" y="1728788"/>
            <a:ext cx="752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00B1F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03</a:t>
            </a:r>
            <a:endParaRPr lang="en-US" sz="1425" dirty="0"/>
          </a:p>
        </p:txBody>
      </p:sp>
      <p:sp>
        <p:nvSpPr>
          <p:cNvPr id="18" name="Text 16"/>
          <p:cNvSpPr/>
          <p:nvPr/>
        </p:nvSpPr>
        <p:spPr>
          <a:xfrm>
            <a:off x="2614613" y="2024062"/>
            <a:ext cx="7524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55" dirty="0">
                <a:solidFill>
                  <a:srgbClr val="18232A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Add items</a:t>
            </a:r>
            <a:endParaRPr lang="en-US" sz="855" dirty="0"/>
          </a:p>
        </p:txBody>
      </p:sp>
      <p:sp>
        <p:nvSpPr>
          <p:cNvPr id="19" name="Text 17"/>
          <p:cNvSpPr/>
          <p:nvPr/>
        </p:nvSpPr>
        <p:spPr>
          <a:xfrm>
            <a:off x="2614613" y="2233613"/>
            <a:ext cx="75247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6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Choose each target and check its impact</a:t>
            </a:r>
            <a:endParaRPr lang="en-US" sz="641" dirty="0"/>
          </a:p>
        </p:txBody>
      </p:sp>
      <p:sp>
        <p:nvSpPr>
          <p:cNvPr id="20" name="Shape 18"/>
          <p:cNvSpPr/>
          <p:nvPr/>
        </p:nvSpPr>
        <p:spPr>
          <a:xfrm>
            <a:off x="3552825" y="1571625"/>
            <a:ext cx="981075" cy="1333500"/>
          </a:xfrm>
          <a:prstGeom prst="roundRect">
            <a:avLst>
              <a:gd name="adj" fmla="val 13049"/>
            </a:avLst>
          </a:prstGeom>
          <a:solidFill>
            <a:srgbClr val="F7F9FA"/>
          </a:solidFill>
          <a:ln w="4524">
            <a:solidFill>
              <a:srgbClr val="E1E6E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71888" y="1728788"/>
            <a:ext cx="752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00B1F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04</a:t>
            </a:r>
            <a:endParaRPr lang="en-US" sz="1425" dirty="0"/>
          </a:p>
        </p:txBody>
      </p:sp>
      <p:sp>
        <p:nvSpPr>
          <p:cNvPr id="22" name="Text 20"/>
          <p:cNvSpPr/>
          <p:nvPr/>
        </p:nvSpPr>
        <p:spPr>
          <a:xfrm>
            <a:off x="3671888" y="2024062"/>
            <a:ext cx="75247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55" dirty="0">
                <a:solidFill>
                  <a:srgbClr val="18232A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Submit and validate</a:t>
            </a:r>
            <a:endParaRPr lang="en-US" sz="855" dirty="0"/>
          </a:p>
        </p:txBody>
      </p:sp>
      <p:sp>
        <p:nvSpPr>
          <p:cNvPr id="23" name="Text 21"/>
          <p:cNvSpPr/>
          <p:nvPr/>
        </p:nvSpPr>
        <p:spPr>
          <a:xfrm>
            <a:off x="3671888" y="2376488"/>
            <a:ext cx="752475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6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The system checks the plan and every item</a:t>
            </a:r>
            <a:endParaRPr lang="en-US" sz="641" dirty="0"/>
          </a:p>
        </p:txBody>
      </p:sp>
      <p:sp>
        <p:nvSpPr>
          <p:cNvPr id="24" name="Shape 22"/>
          <p:cNvSpPr/>
          <p:nvPr/>
        </p:nvSpPr>
        <p:spPr>
          <a:xfrm>
            <a:off x="4610100" y="1571625"/>
            <a:ext cx="981075" cy="1333500"/>
          </a:xfrm>
          <a:prstGeom prst="roundRect">
            <a:avLst>
              <a:gd name="adj" fmla="val 13049"/>
            </a:avLst>
          </a:prstGeom>
          <a:solidFill>
            <a:srgbClr val="F7F9FA"/>
          </a:solidFill>
          <a:ln w="4524">
            <a:solidFill>
              <a:srgbClr val="E1E6E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29163" y="1728788"/>
            <a:ext cx="752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00B1F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05</a:t>
            </a:r>
            <a:endParaRPr lang="en-US" sz="1425" dirty="0"/>
          </a:p>
        </p:txBody>
      </p:sp>
      <p:sp>
        <p:nvSpPr>
          <p:cNvPr id="26" name="Text 24"/>
          <p:cNvSpPr/>
          <p:nvPr/>
        </p:nvSpPr>
        <p:spPr>
          <a:xfrm>
            <a:off x="4729163" y="2024062"/>
            <a:ext cx="75247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55" dirty="0">
                <a:solidFill>
                  <a:srgbClr val="18232A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Wait for the window</a:t>
            </a:r>
            <a:endParaRPr lang="en-US" sz="855" dirty="0"/>
          </a:p>
        </p:txBody>
      </p:sp>
      <p:sp>
        <p:nvSpPr>
          <p:cNvPr id="27" name="Text 25"/>
          <p:cNvSpPr/>
          <p:nvPr/>
        </p:nvSpPr>
        <p:spPr>
          <a:xfrm>
            <a:off x="4729163" y="2376488"/>
            <a:ext cx="752475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6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Validated and waiting for the change window</a:t>
            </a:r>
            <a:endParaRPr lang="en-US" sz="641" dirty="0"/>
          </a:p>
        </p:txBody>
      </p:sp>
      <p:sp>
        <p:nvSpPr>
          <p:cNvPr id="28" name="Shape 26"/>
          <p:cNvSpPr/>
          <p:nvPr/>
        </p:nvSpPr>
        <p:spPr>
          <a:xfrm>
            <a:off x="5667375" y="1571625"/>
            <a:ext cx="981075" cy="1333500"/>
          </a:xfrm>
          <a:prstGeom prst="roundRect">
            <a:avLst>
              <a:gd name="adj" fmla="val 13049"/>
            </a:avLst>
          </a:prstGeom>
          <a:solidFill>
            <a:srgbClr val="F7F9FA"/>
          </a:solidFill>
          <a:ln w="4524">
            <a:solidFill>
              <a:srgbClr val="E1E6E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86438" y="1728788"/>
            <a:ext cx="752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00B1F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06</a:t>
            </a:r>
            <a:endParaRPr lang="en-US" sz="1425" dirty="0"/>
          </a:p>
        </p:txBody>
      </p:sp>
      <p:sp>
        <p:nvSpPr>
          <p:cNvPr id="30" name="Text 28"/>
          <p:cNvSpPr/>
          <p:nvPr/>
        </p:nvSpPr>
        <p:spPr>
          <a:xfrm>
            <a:off x="5786438" y="2024062"/>
            <a:ext cx="75247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55" dirty="0">
                <a:solidFill>
                  <a:srgbClr val="18232A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Run and monitor</a:t>
            </a:r>
            <a:endParaRPr lang="en-US" sz="855" dirty="0"/>
          </a:p>
        </p:txBody>
      </p:sp>
      <p:sp>
        <p:nvSpPr>
          <p:cNvPr id="31" name="Text 29"/>
          <p:cNvSpPr/>
          <p:nvPr/>
        </p:nvSpPr>
        <p:spPr>
          <a:xfrm>
            <a:off x="5786438" y="2376488"/>
            <a:ext cx="75247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6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Items run in parallel; follow the progress</a:t>
            </a:r>
            <a:endParaRPr lang="en-US" sz="641" dirty="0"/>
          </a:p>
        </p:txBody>
      </p:sp>
      <p:sp>
        <p:nvSpPr>
          <p:cNvPr id="32" name="Shape 30"/>
          <p:cNvSpPr/>
          <p:nvPr/>
        </p:nvSpPr>
        <p:spPr>
          <a:xfrm>
            <a:off x="6724650" y="1571625"/>
            <a:ext cx="981075" cy="1333500"/>
          </a:xfrm>
          <a:prstGeom prst="roundRect">
            <a:avLst>
              <a:gd name="adj" fmla="val 13049"/>
            </a:avLst>
          </a:prstGeom>
          <a:solidFill>
            <a:srgbClr val="F7F9FA"/>
          </a:solidFill>
          <a:ln w="4524">
            <a:solidFill>
              <a:srgbClr val="E1E6E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43713" y="1728788"/>
            <a:ext cx="752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00B1F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07</a:t>
            </a:r>
            <a:endParaRPr lang="en-US" sz="1425" dirty="0"/>
          </a:p>
        </p:txBody>
      </p:sp>
      <p:sp>
        <p:nvSpPr>
          <p:cNvPr id="34" name="Text 32"/>
          <p:cNvSpPr/>
          <p:nvPr/>
        </p:nvSpPr>
        <p:spPr>
          <a:xfrm>
            <a:off x="6843713" y="2024062"/>
            <a:ext cx="75247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55" dirty="0">
                <a:solidFill>
                  <a:srgbClr val="18232A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Handle exceptions</a:t>
            </a:r>
            <a:endParaRPr lang="en-US" sz="855" dirty="0"/>
          </a:p>
        </p:txBody>
      </p:sp>
      <p:sp>
        <p:nvSpPr>
          <p:cNvPr id="35" name="Text 33"/>
          <p:cNvSpPr/>
          <p:nvPr/>
        </p:nvSpPr>
        <p:spPr>
          <a:xfrm>
            <a:off x="6843713" y="2376488"/>
            <a:ext cx="75247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6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Decide on any task that stops</a:t>
            </a:r>
            <a:endParaRPr lang="en-US" sz="641" dirty="0"/>
          </a:p>
        </p:txBody>
      </p:sp>
      <p:sp>
        <p:nvSpPr>
          <p:cNvPr id="36" name="Shape 34"/>
          <p:cNvSpPr/>
          <p:nvPr/>
        </p:nvSpPr>
        <p:spPr>
          <a:xfrm>
            <a:off x="7781925" y="1571625"/>
            <a:ext cx="981075" cy="1333500"/>
          </a:xfrm>
          <a:prstGeom prst="roundRect">
            <a:avLst>
              <a:gd name="adj" fmla="val 13049"/>
            </a:avLst>
          </a:prstGeom>
          <a:solidFill>
            <a:srgbClr val="F7F9FA"/>
          </a:solidFill>
          <a:ln w="4524">
            <a:solidFill>
              <a:srgbClr val="E1E6E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900988" y="1728788"/>
            <a:ext cx="752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00B1F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08</a:t>
            </a:r>
            <a:endParaRPr lang="en-US" sz="1425" dirty="0"/>
          </a:p>
        </p:txBody>
      </p:sp>
      <p:sp>
        <p:nvSpPr>
          <p:cNvPr id="38" name="Text 36"/>
          <p:cNvSpPr/>
          <p:nvPr/>
        </p:nvSpPr>
        <p:spPr>
          <a:xfrm>
            <a:off x="7900988" y="2024062"/>
            <a:ext cx="75247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855" dirty="0">
                <a:solidFill>
                  <a:srgbClr val="18232A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See the outcome</a:t>
            </a:r>
            <a:endParaRPr lang="en-US" sz="855" dirty="0"/>
          </a:p>
        </p:txBody>
      </p:sp>
      <p:sp>
        <p:nvSpPr>
          <p:cNvPr id="39" name="Text 37"/>
          <p:cNvSpPr/>
          <p:nvPr/>
        </p:nvSpPr>
        <p:spPr>
          <a:xfrm>
            <a:off x="7900988" y="2376488"/>
            <a:ext cx="752475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6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Completed, or completed with failures</a:t>
            </a:r>
            <a:endParaRPr lang="en-US" sz="641" dirty="0"/>
          </a:p>
        </p:txBody>
      </p:sp>
      <p:sp>
        <p:nvSpPr>
          <p:cNvPr id="40" name="Shape 38"/>
          <p:cNvSpPr/>
          <p:nvPr/>
        </p:nvSpPr>
        <p:spPr>
          <a:xfrm>
            <a:off x="381000" y="4886325"/>
            <a:ext cx="8382000" cy="9525"/>
          </a:xfrm>
          <a:prstGeom prst="rect">
            <a:avLst/>
          </a:prstGeom>
          <a:solidFill>
            <a:srgbClr val="00B1F5"/>
          </a:solidFill>
          <a:ln/>
        </p:spPr>
      </p:sp>
      <p:sp>
        <p:nvSpPr>
          <p:cNvPr id="41" name="Text 39"/>
          <p:cNvSpPr/>
          <p:nvPr/>
        </p:nvSpPr>
        <p:spPr>
          <a:xfrm>
            <a:off x="381000" y="4972050"/>
            <a:ext cx="438150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70"/>
              </a:lnSpc>
              <a:buNone/>
            </a:pPr>
            <a:r>
              <a:rPr lang="en-US" sz="463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Internal use only</a:t>
            </a:r>
            <a:endParaRPr lang="en-US" sz="463" dirty="0"/>
          </a:p>
        </p:txBody>
      </p:sp>
      <p:sp>
        <p:nvSpPr>
          <p:cNvPr id="42" name="Shape 40"/>
          <p:cNvSpPr/>
          <p:nvPr/>
        </p:nvSpPr>
        <p:spPr>
          <a:xfrm>
            <a:off x="8077200" y="4924425"/>
            <a:ext cx="684389" cy="133350"/>
          </a:xfrm>
          <a:prstGeom prst="rect">
            <a:avLst/>
          </a:prstGeom>
          <a:noFill/>
          <a:ln/>
        </p:spPr>
      </p:sp>
      <p:pic>
        <p:nvPicPr>
          <p:cNvPr id="4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06665" y="4948088"/>
            <a:ext cx="537666" cy="89241"/>
          </a:xfrm>
          <a:prstGeom prst="rect">
            <a:avLst/>
          </a:prstGeom>
        </p:spPr>
      </p:pic>
      <p:pic>
        <p:nvPicPr>
          <p:cNvPr id="44" name="Image 1" descr="preencoded.png">    </p:cNvPr>
          <p:cNvPicPr>
            <a:picLocks noChangeAspect="1"/>
          </p:cNvPicPr>
          <p:nvPr/>
        </p:nvPicPr>
        <p:blipFill>
          <a:blip r:embed="rId2"/>
          <a:srcRect l="0" r="67575" t="0" b="80646"/>
          <a:stretch/>
        </p:blipFill>
        <p:spPr>
          <a:xfrm>
            <a:off x="7356834" y="4579576"/>
            <a:ext cx="345665" cy="1333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9295" y="714375"/>
            <a:ext cx="2554705" cy="40957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143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381000" y="209550"/>
            <a:ext cx="3119438" cy="228600"/>
          </a:xfrm>
          <a:prstGeom prst="rect">
            <a:avLst/>
          </a:prstGeom>
          <a:noFill/>
          <a:ln/>
        </p:spPr>
      </p:sp>
      <p:sp>
        <p:nvSpPr>
          <p:cNvPr id="5" name="Text 3"/>
          <p:cNvSpPr/>
          <p:nvPr/>
        </p:nvSpPr>
        <p:spPr>
          <a:xfrm>
            <a:off x="381000" y="209550"/>
            <a:ext cx="128111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00B1F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Create the plan</a:t>
            </a:r>
            <a:endParaRPr lang="en-US" sz="1425" dirty="0"/>
          </a:p>
        </p:txBody>
      </p:sp>
      <p:sp>
        <p:nvSpPr>
          <p:cNvPr id="6" name="Shape 4"/>
          <p:cNvSpPr/>
          <p:nvPr/>
        </p:nvSpPr>
        <p:spPr>
          <a:xfrm>
            <a:off x="1728788" y="228600"/>
            <a:ext cx="14288" cy="190500"/>
          </a:xfrm>
          <a:prstGeom prst="rect">
            <a:avLst/>
          </a:prstGeom>
          <a:solidFill>
            <a:srgbClr val="00B1F5"/>
          </a:solidFill>
          <a:ln/>
        </p:spPr>
      </p:sp>
      <p:sp>
        <p:nvSpPr>
          <p:cNvPr id="7" name="Text 5"/>
          <p:cNvSpPr/>
          <p:nvPr/>
        </p:nvSpPr>
        <p:spPr>
          <a:xfrm>
            <a:off x="1809750" y="209550"/>
            <a:ext cx="1690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18232A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Start with a new plan</a:t>
            </a:r>
            <a:endParaRPr lang="en-US" sz="1425" dirty="0"/>
          </a:p>
        </p:txBody>
      </p:sp>
      <p:sp>
        <p:nvSpPr>
          <p:cNvPr id="8" name="Text 6"/>
          <p:cNvSpPr/>
          <p:nvPr/>
        </p:nvSpPr>
        <p:spPr>
          <a:xfrm>
            <a:off x="381000" y="476250"/>
            <a:ext cx="83820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784" dirty="0">
                <a:solidFill>
                  <a:srgbClr val="5D6B7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Name the plan, choose the operation and link the change record. One plan holds one operation and one change window.</a:t>
            </a:r>
            <a:endParaRPr lang="en-US" sz="784" dirty="0"/>
          </a:p>
        </p:txBody>
      </p:sp>
      <p:sp>
        <p:nvSpPr>
          <p:cNvPr id="9" name="Shape 7"/>
          <p:cNvSpPr/>
          <p:nvPr/>
        </p:nvSpPr>
        <p:spPr>
          <a:xfrm>
            <a:off x="6855995" y="752475"/>
            <a:ext cx="1905000" cy="1543050"/>
          </a:xfrm>
          <a:prstGeom prst="rect">
            <a:avLst/>
          </a:prstGeom>
          <a:noFill/>
          <a:ln/>
        </p:spPr>
      </p:sp>
      <p:sp>
        <p:nvSpPr>
          <p:cNvPr id="10" name="Text 8"/>
          <p:cNvSpPr/>
          <p:nvPr/>
        </p:nvSpPr>
        <p:spPr>
          <a:xfrm>
            <a:off x="6855995" y="752475"/>
            <a:ext cx="44767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13"/>
              </a:lnSpc>
              <a:buNone/>
            </a:pPr>
            <a:r>
              <a:rPr lang="en-US" sz="570" spc="34" kern="0" dirty="0">
                <a:solidFill>
                  <a:srgbClr val="00B1F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STEP 1 OF 8</a:t>
            </a:r>
            <a:endParaRPr lang="en-US" sz="570" dirty="0"/>
          </a:p>
        </p:txBody>
      </p:sp>
      <p:sp>
        <p:nvSpPr>
          <p:cNvPr id="11" name="Shape 9"/>
          <p:cNvSpPr/>
          <p:nvPr/>
        </p:nvSpPr>
        <p:spPr>
          <a:xfrm>
            <a:off x="6855995" y="914400"/>
            <a:ext cx="1905000" cy="114300"/>
          </a:xfrm>
          <a:prstGeom prst="rect">
            <a:avLst/>
          </a:prstGeom>
          <a:noFill/>
          <a:ln/>
        </p:spPr>
      </p:sp>
      <p:sp>
        <p:nvSpPr>
          <p:cNvPr id="12" name="Shape 10"/>
          <p:cNvSpPr/>
          <p:nvPr/>
        </p:nvSpPr>
        <p:spPr>
          <a:xfrm>
            <a:off x="6855995" y="947737"/>
            <a:ext cx="47625" cy="47625"/>
          </a:xfrm>
          <a:prstGeom prst="ellipse">
            <a:avLst/>
          </a:prstGeom>
          <a:solidFill>
            <a:srgbClr val="00B1F5"/>
          </a:solidFill>
          <a:ln/>
        </p:spPr>
      </p:sp>
      <p:sp>
        <p:nvSpPr>
          <p:cNvPr id="13" name="Text 11"/>
          <p:cNvSpPr/>
          <p:nvPr/>
        </p:nvSpPr>
        <p:spPr>
          <a:xfrm>
            <a:off x="6960770" y="914400"/>
            <a:ext cx="55721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18232A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Find your work</a:t>
            </a:r>
            <a:endParaRPr lang="en-US" sz="641" dirty="0"/>
          </a:p>
        </p:txBody>
      </p:sp>
      <p:sp>
        <p:nvSpPr>
          <p:cNvPr id="14" name="Shape 12"/>
          <p:cNvSpPr/>
          <p:nvPr/>
        </p:nvSpPr>
        <p:spPr>
          <a:xfrm>
            <a:off x="6855995" y="1095375"/>
            <a:ext cx="1905000" cy="114300"/>
          </a:xfrm>
          <a:prstGeom prst="rect">
            <a:avLst/>
          </a:prstGeom>
          <a:noFill/>
          <a:ln/>
        </p:spPr>
      </p:sp>
      <p:sp>
        <p:nvSpPr>
          <p:cNvPr id="15" name="Shape 13"/>
          <p:cNvSpPr/>
          <p:nvPr/>
        </p:nvSpPr>
        <p:spPr>
          <a:xfrm>
            <a:off x="6855995" y="1128713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16" name="Text 14"/>
          <p:cNvSpPr/>
          <p:nvPr/>
        </p:nvSpPr>
        <p:spPr>
          <a:xfrm>
            <a:off x="6960770" y="1095375"/>
            <a:ext cx="5715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Create the plan</a:t>
            </a:r>
            <a:endParaRPr lang="en-US" sz="641" dirty="0"/>
          </a:p>
        </p:txBody>
      </p:sp>
      <p:sp>
        <p:nvSpPr>
          <p:cNvPr id="17" name="Shape 15"/>
          <p:cNvSpPr/>
          <p:nvPr/>
        </p:nvSpPr>
        <p:spPr>
          <a:xfrm>
            <a:off x="6855995" y="1276350"/>
            <a:ext cx="1905000" cy="114300"/>
          </a:xfrm>
          <a:prstGeom prst="rect">
            <a:avLst/>
          </a:prstGeom>
          <a:noFill/>
          <a:ln/>
        </p:spPr>
      </p:sp>
      <p:sp>
        <p:nvSpPr>
          <p:cNvPr id="18" name="Shape 16"/>
          <p:cNvSpPr/>
          <p:nvPr/>
        </p:nvSpPr>
        <p:spPr>
          <a:xfrm>
            <a:off x="6855995" y="1309688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19" name="Text 17"/>
          <p:cNvSpPr/>
          <p:nvPr/>
        </p:nvSpPr>
        <p:spPr>
          <a:xfrm>
            <a:off x="6960770" y="1276350"/>
            <a:ext cx="37623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Add items</a:t>
            </a:r>
            <a:endParaRPr lang="en-US" sz="641" dirty="0"/>
          </a:p>
        </p:txBody>
      </p:sp>
      <p:sp>
        <p:nvSpPr>
          <p:cNvPr id="20" name="Shape 18"/>
          <p:cNvSpPr/>
          <p:nvPr/>
        </p:nvSpPr>
        <p:spPr>
          <a:xfrm>
            <a:off x="6855995" y="1457325"/>
            <a:ext cx="1905000" cy="114300"/>
          </a:xfrm>
          <a:prstGeom prst="rect">
            <a:avLst/>
          </a:prstGeom>
          <a:noFill/>
          <a:ln/>
        </p:spPr>
      </p:sp>
      <p:sp>
        <p:nvSpPr>
          <p:cNvPr id="21" name="Shape 19"/>
          <p:cNvSpPr/>
          <p:nvPr/>
        </p:nvSpPr>
        <p:spPr>
          <a:xfrm>
            <a:off x="6855995" y="1490663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22" name="Text 20"/>
          <p:cNvSpPr/>
          <p:nvPr/>
        </p:nvSpPr>
        <p:spPr>
          <a:xfrm>
            <a:off x="6960770" y="1457325"/>
            <a:ext cx="7286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Submit and validate</a:t>
            </a:r>
            <a:endParaRPr lang="en-US" sz="641" dirty="0"/>
          </a:p>
        </p:txBody>
      </p:sp>
      <p:sp>
        <p:nvSpPr>
          <p:cNvPr id="23" name="Shape 21"/>
          <p:cNvSpPr/>
          <p:nvPr/>
        </p:nvSpPr>
        <p:spPr>
          <a:xfrm>
            <a:off x="6855995" y="1638300"/>
            <a:ext cx="1905000" cy="114300"/>
          </a:xfrm>
          <a:prstGeom prst="rect">
            <a:avLst/>
          </a:prstGeom>
          <a:noFill/>
          <a:ln/>
        </p:spPr>
      </p:sp>
      <p:sp>
        <p:nvSpPr>
          <p:cNvPr id="24" name="Shape 22"/>
          <p:cNvSpPr/>
          <p:nvPr/>
        </p:nvSpPr>
        <p:spPr>
          <a:xfrm>
            <a:off x="6855995" y="1671638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25" name="Text 23"/>
          <p:cNvSpPr/>
          <p:nvPr/>
        </p:nvSpPr>
        <p:spPr>
          <a:xfrm>
            <a:off x="6960770" y="1638300"/>
            <a:ext cx="73342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Wait for the window</a:t>
            </a:r>
            <a:endParaRPr lang="en-US" sz="641" dirty="0"/>
          </a:p>
        </p:txBody>
      </p:sp>
      <p:sp>
        <p:nvSpPr>
          <p:cNvPr id="26" name="Shape 24"/>
          <p:cNvSpPr/>
          <p:nvPr/>
        </p:nvSpPr>
        <p:spPr>
          <a:xfrm>
            <a:off x="6855995" y="1819275"/>
            <a:ext cx="1905000" cy="114300"/>
          </a:xfrm>
          <a:prstGeom prst="rect">
            <a:avLst/>
          </a:prstGeom>
          <a:noFill/>
          <a:ln/>
        </p:spPr>
      </p:sp>
      <p:sp>
        <p:nvSpPr>
          <p:cNvPr id="27" name="Shape 25"/>
          <p:cNvSpPr/>
          <p:nvPr/>
        </p:nvSpPr>
        <p:spPr>
          <a:xfrm>
            <a:off x="6855995" y="1852612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28" name="Text 26"/>
          <p:cNvSpPr/>
          <p:nvPr/>
        </p:nvSpPr>
        <p:spPr>
          <a:xfrm>
            <a:off x="6960770" y="1819275"/>
            <a:ext cx="6096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Run and monitor</a:t>
            </a:r>
            <a:endParaRPr lang="en-US" sz="641" dirty="0"/>
          </a:p>
        </p:txBody>
      </p:sp>
      <p:sp>
        <p:nvSpPr>
          <p:cNvPr id="29" name="Shape 27"/>
          <p:cNvSpPr/>
          <p:nvPr/>
        </p:nvSpPr>
        <p:spPr>
          <a:xfrm>
            <a:off x="6855995" y="2000250"/>
            <a:ext cx="1905000" cy="114300"/>
          </a:xfrm>
          <a:prstGeom prst="rect">
            <a:avLst/>
          </a:prstGeom>
          <a:noFill/>
          <a:ln/>
        </p:spPr>
      </p:sp>
      <p:sp>
        <p:nvSpPr>
          <p:cNvPr id="30" name="Shape 28"/>
          <p:cNvSpPr/>
          <p:nvPr/>
        </p:nvSpPr>
        <p:spPr>
          <a:xfrm>
            <a:off x="6855995" y="2033588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31" name="Text 29"/>
          <p:cNvSpPr/>
          <p:nvPr/>
        </p:nvSpPr>
        <p:spPr>
          <a:xfrm>
            <a:off x="6960770" y="2000250"/>
            <a:ext cx="6905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Handle exceptions</a:t>
            </a:r>
            <a:endParaRPr lang="en-US" sz="641" dirty="0"/>
          </a:p>
        </p:txBody>
      </p:sp>
      <p:sp>
        <p:nvSpPr>
          <p:cNvPr id="32" name="Shape 30"/>
          <p:cNvSpPr/>
          <p:nvPr/>
        </p:nvSpPr>
        <p:spPr>
          <a:xfrm>
            <a:off x="6855995" y="2181225"/>
            <a:ext cx="1905000" cy="114300"/>
          </a:xfrm>
          <a:prstGeom prst="rect">
            <a:avLst/>
          </a:prstGeom>
          <a:noFill/>
          <a:ln/>
        </p:spPr>
      </p:sp>
      <p:sp>
        <p:nvSpPr>
          <p:cNvPr id="33" name="Shape 31"/>
          <p:cNvSpPr/>
          <p:nvPr/>
        </p:nvSpPr>
        <p:spPr>
          <a:xfrm>
            <a:off x="6855995" y="2214563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34" name="Text 32"/>
          <p:cNvSpPr/>
          <p:nvPr/>
        </p:nvSpPr>
        <p:spPr>
          <a:xfrm>
            <a:off x="6960770" y="2181225"/>
            <a:ext cx="6381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See the outcome</a:t>
            </a:r>
            <a:endParaRPr lang="en-US" sz="641" dirty="0"/>
          </a:p>
        </p:txBody>
      </p:sp>
      <p:pic>
        <p:nvPicPr>
          <p:cNvPr id="3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81000" y="714375"/>
            <a:ext cx="6210300" cy="4095750"/>
          </a:xfrm>
          <a:prstGeom prst="rect">
            <a:avLst/>
          </a:prstGeom>
        </p:spPr>
      </p:pic>
      <p:sp>
        <p:nvSpPr>
          <p:cNvPr id="36" name="Shape 33"/>
          <p:cNvSpPr/>
          <p:nvPr/>
        </p:nvSpPr>
        <p:spPr>
          <a:xfrm>
            <a:off x="381000" y="4886325"/>
            <a:ext cx="8382000" cy="9525"/>
          </a:xfrm>
          <a:prstGeom prst="rect">
            <a:avLst/>
          </a:prstGeom>
          <a:solidFill>
            <a:srgbClr val="00B1F5"/>
          </a:solidFill>
          <a:ln/>
        </p:spPr>
      </p:sp>
      <p:sp>
        <p:nvSpPr>
          <p:cNvPr id="37" name="Text 34"/>
          <p:cNvSpPr/>
          <p:nvPr/>
        </p:nvSpPr>
        <p:spPr>
          <a:xfrm>
            <a:off x="381000" y="4972050"/>
            <a:ext cx="438150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70"/>
              </a:lnSpc>
              <a:buNone/>
            </a:pPr>
            <a:r>
              <a:rPr lang="en-US" sz="463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Internal use only</a:t>
            </a:r>
            <a:endParaRPr lang="en-US" sz="463" dirty="0"/>
          </a:p>
        </p:txBody>
      </p:sp>
      <p:sp>
        <p:nvSpPr>
          <p:cNvPr id="38" name="Shape 35"/>
          <p:cNvSpPr/>
          <p:nvPr/>
        </p:nvSpPr>
        <p:spPr>
          <a:xfrm>
            <a:off x="8077200" y="4924425"/>
            <a:ext cx="684389" cy="133350"/>
          </a:xfrm>
          <a:prstGeom prst="rect">
            <a:avLst/>
          </a:prstGeom>
          <a:noFill/>
          <a:ln/>
        </p:spPr>
      </p:sp>
      <p:pic>
        <p:nvPicPr>
          <p:cNvPr id="39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206665" y="4948089"/>
            <a:ext cx="537666" cy="89241"/>
          </a:xfrm>
          <a:prstGeom prst="rect">
            <a:avLst/>
          </a:prstGeom>
        </p:spPr>
      </p:pic>
      <p:pic>
        <p:nvPicPr>
          <p:cNvPr id="40" name="Image 2" descr="preencoded.png">    </p:cNvPr>
          <p:cNvPicPr>
            <a:picLocks noChangeAspect="1"/>
          </p:cNvPicPr>
          <p:nvPr/>
        </p:nvPicPr>
        <p:blipFill>
          <a:blip r:embed="rId3"/>
          <a:srcRect l="0" r="67575" t="0" b="80646"/>
          <a:stretch/>
        </p:blipFill>
        <p:spPr>
          <a:xfrm>
            <a:off x="7356834" y="4579576"/>
            <a:ext cx="345665" cy="1333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9295" y="714375"/>
            <a:ext cx="2554705" cy="40957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143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381000" y="209550"/>
            <a:ext cx="3119438" cy="228600"/>
          </a:xfrm>
          <a:prstGeom prst="rect">
            <a:avLst/>
          </a:prstGeom>
          <a:noFill/>
          <a:ln/>
        </p:spPr>
      </p:sp>
      <p:sp>
        <p:nvSpPr>
          <p:cNvPr id="5" name="Text 3"/>
          <p:cNvSpPr/>
          <p:nvPr/>
        </p:nvSpPr>
        <p:spPr>
          <a:xfrm>
            <a:off x="381000" y="209550"/>
            <a:ext cx="128111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00B1F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Create the plan</a:t>
            </a:r>
            <a:endParaRPr lang="en-US" sz="1425" dirty="0"/>
          </a:p>
        </p:txBody>
      </p:sp>
      <p:sp>
        <p:nvSpPr>
          <p:cNvPr id="6" name="Shape 4"/>
          <p:cNvSpPr/>
          <p:nvPr/>
        </p:nvSpPr>
        <p:spPr>
          <a:xfrm>
            <a:off x="1728788" y="228600"/>
            <a:ext cx="14288" cy="190500"/>
          </a:xfrm>
          <a:prstGeom prst="rect">
            <a:avLst/>
          </a:prstGeom>
          <a:solidFill>
            <a:srgbClr val="00B1F5"/>
          </a:solidFill>
          <a:ln/>
        </p:spPr>
      </p:sp>
      <p:sp>
        <p:nvSpPr>
          <p:cNvPr id="7" name="Text 5"/>
          <p:cNvSpPr/>
          <p:nvPr/>
        </p:nvSpPr>
        <p:spPr>
          <a:xfrm>
            <a:off x="1809750" y="209550"/>
            <a:ext cx="1690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18232A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Start with a new plan</a:t>
            </a:r>
            <a:endParaRPr lang="en-US" sz="1425" dirty="0"/>
          </a:p>
        </p:txBody>
      </p:sp>
      <p:sp>
        <p:nvSpPr>
          <p:cNvPr id="8" name="Text 6"/>
          <p:cNvSpPr/>
          <p:nvPr/>
        </p:nvSpPr>
        <p:spPr>
          <a:xfrm>
            <a:off x="381000" y="476250"/>
            <a:ext cx="83820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784" dirty="0">
                <a:solidFill>
                  <a:srgbClr val="5D6B7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Name the plan, choose the operation and link the change record. One plan holds one operation and one change window.</a:t>
            </a:r>
            <a:endParaRPr lang="en-US" sz="784" dirty="0"/>
          </a:p>
        </p:txBody>
      </p:sp>
      <p:sp>
        <p:nvSpPr>
          <p:cNvPr id="9" name="Shape 7"/>
          <p:cNvSpPr/>
          <p:nvPr/>
        </p:nvSpPr>
        <p:spPr>
          <a:xfrm>
            <a:off x="6855995" y="752475"/>
            <a:ext cx="1907005" cy="1543050"/>
          </a:xfrm>
          <a:prstGeom prst="rect">
            <a:avLst/>
          </a:prstGeom>
          <a:noFill/>
          <a:ln/>
        </p:spPr>
      </p:sp>
      <p:sp>
        <p:nvSpPr>
          <p:cNvPr id="10" name="Text 8"/>
          <p:cNvSpPr/>
          <p:nvPr/>
        </p:nvSpPr>
        <p:spPr>
          <a:xfrm>
            <a:off x="6855995" y="752475"/>
            <a:ext cx="44767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13"/>
              </a:lnSpc>
              <a:buNone/>
            </a:pPr>
            <a:r>
              <a:rPr lang="en-US" sz="570" spc="34" kern="0" dirty="0">
                <a:solidFill>
                  <a:srgbClr val="00B1F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STEP 2 OF 8</a:t>
            </a:r>
            <a:endParaRPr lang="en-US" sz="570" dirty="0"/>
          </a:p>
        </p:txBody>
      </p:sp>
      <p:sp>
        <p:nvSpPr>
          <p:cNvPr id="11" name="Shape 9"/>
          <p:cNvSpPr/>
          <p:nvPr/>
        </p:nvSpPr>
        <p:spPr>
          <a:xfrm>
            <a:off x="6855995" y="914400"/>
            <a:ext cx="1905000" cy="114300"/>
          </a:xfrm>
          <a:prstGeom prst="rect">
            <a:avLst/>
          </a:prstGeom>
          <a:noFill/>
          <a:ln/>
        </p:spPr>
      </p:sp>
      <p:sp>
        <p:nvSpPr>
          <p:cNvPr id="12" name="Shape 10"/>
          <p:cNvSpPr/>
          <p:nvPr/>
        </p:nvSpPr>
        <p:spPr>
          <a:xfrm>
            <a:off x="6855995" y="947737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13" name="Text 11"/>
          <p:cNvSpPr/>
          <p:nvPr/>
        </p:nvSpPr>
        <p:spPr>
          <a:xfrm>
            <a:off x="6960770" y="914400"/>
            <a:ext cx="5381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Find your work</a:t>
            </a:r>
            <a:endParaRPr lang="en-US" sz="641" dirty="0"/>
          </a:p>
        </p:txBody>
      </p:sp>
      <p:sp>
        <p:nvSpPr>
          <p:cNvPr id="14" name="Shape 12"/>
          <p:cNvSpPr/>
          <p:nvPr/>
        </p:nvSpPr>
        <p:spPr>
          <a:xfrm>
            <a:off x="6855995" y="1095375"/>
            <a:ext cx="1907005" cy="114300"/>
          </a:xfrm>
          <a:prstGeom prst="rect">
            <a:avLst/>
          </a:prstGeom>
          <a:noFill/>
          <a:ln/>
        </p:spPr>
      </p:sp>
      <p:sp>
        <p:nvSpPr>
          <p:cNvPr id="15" name="Shape 13"/>
          <p:cNvSpPr/>
          <p:nvPr/>
        </p:nvSpPr>
        <p:spPr>
          <a:xfrm>
            <a:off x="6855995" y="1128713"/>
            <a:ext cx="47625" cy="47625"/>
          </a:xfrm>
          <a:prstGeom prst="ellipse">
            <a:avLst/>
          </a:prstGeom>
          <a:solidFill>
            <a:srgbClr val="00B1F5"/>
          </a:solidFill>
          <a:ln/>
        </p:spPr>
      </p:sp>
      <p:sp>
        <p:nvSpPr>
          <p:cNvPr id="16" name="Text 14"/>
          <p:cNvSpPr/>
          <p:nvPr/>
        </p:nvSpPr>
        <p:spPr>
          <a:xfrm>
            <a:off x="6960770" y="1095375"/>
            <a:ext cx="5762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18232A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Create the plan</a:t>
            </a:r>
            <a:endParaRPr lang="en-US" sz="641" dirty="0"/>
          </a:p>
        </p:txBody>
      </p:sp>
      <p:sp>
        <p:nvSpPr>
          <p:cNvPr id="17" name="Shape 15"/>
          <p:cNvSpPr/>
          <p:nvPr/>
        </p:nvSpPr>
        <p:spPr>
          <a:xfrm>
            <a:off x="6855995" y="1276350"/>
            <a:ext cx="1907005" cy="114300"/>
          </a:xfrm>
          <a:prstGeom prst="rect">
            <a:avLst/>
          </a:prstGeom>
          <a:noFill/>
          <a:ln/>
        </p:spPr>
      </p:sp>
      <p:sp>
        <p:nvSpPr>
          <p:cNvPr id="18" name="Shape 16"/>
          <p:cNvSpPr/>
          <p:nvPr/>
        </p:nvSpPr>
        <p:spPr>
          <a:xfrm>
            <a:off x="6855995" y="1309688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19" name="Text 17"/>
          <p:cNvSpPr/>
          <p:nvPr/>
        </p:nvSpPr>
        <p:spPr>
          <a:xfrm>
            <a:off x="6960770" y="1276350"/>
            <a:ext cx="37623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Add items</a:t>
            </a:r>
            <a:endParaRPr lang="en-US" sz="641" dirty="0"/>
          </a:p>
        </p:txBody>
      </p:sp>
      <p:sp>
        <p:nvSpPr>
          <p:cNvPr id="20" name="Shape 18"/>
          <p:cNvSpPr/>
          <p:nvPr/>
        </p:nvSpPr>
        <p:spPr>
          <a:xfrm>
            <a:off x="6855995" y="1457325"/>
            <a:ext cx="1907005" cy="114300"/>
          </a:xfrm>
          <a:prstGeom prst="rect">
            <a:avLst/>
          </a:prstGeom>
          <a:noFill/>
          <a:ln/>
        </p:spPr>
      </p:sp>
      <p:sp>
        <p:nvSpPr>
          <p:cNvPr id="21" name="Shape 19"/>
          <p:cNvSpPr/>
          <p:nvPr/>
        </p:nvSpPr>
        <p:spPr>
          <a:xfrm>
            <a:off x="6855995" y="1490663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22" name="Text 20"/>
          <p:cNvSpPr/>
          <p:nvPr/>
        </p:nvSpPr>
        <p:spPr>
          <a:xfrm>
            <a:off x="6960770" y="1457325"/>
            <a:ext cx="7286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Submit and validate</a:t>
            </a:r>
            <a:endParaRPr lang="en-US" sz="641" dirty="0"/>
          </a:p>
        </p:txBody>
      </p:sp>
      <p:sp>
        <p:nvSpPr>
          <p:cNvPr id="23" name="Shape 21"/>
          <p:cNvSpPr/>
          <p:nvPr/>
        </p:nvSpPr>
        <p:spPr>
          <a:xfrm>
            <a:off x="6855995" y="1638300"/>
            <a:ext cx="1907005" cy="114300"/>
          </a:xfrm>
          <a:prstGeom prst="rect">
            <a:avLst/>
          </a:prstGeom>
          <a:noFill/>
          <a:ln/>
        </p:spPr>
      </p:sp>
      <p:sp>
        <p:nvSpPr>
          <p:cNvPr id="24" name="Shape 22"/>
          <p:cNvSpPr/>
          <p:nvPr/>
        </p:nvSpPr>
        <p:spPr>
          <a:xfrm>
            <a:off x="6855995" y="1671638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25" name="Text 23"/>
          <p:cNvSpPr/>
          <p:nvPr/>
        </p:nvSpPr>
        <p:spPr>
          <a:xfrm>
            <a:off x="6960770" y="1638300"/>
            <a:ext cx="73342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Wait for the window</a:t>
            </a:r>
            <a:endParaRPr lang="en-US" sz="641" dirty="0"/>
          </a:p>
        </p:txBody>
      </p:sp>
      <p:sp>
        <p:nvSpPr>
          <p:cNvPr id="26" name="Shape 24"/>
          <p:cNvSpPr/>
          <p:nvPr/>
        </p:nvSpPr>
        <p:spPr>
          <a:xfrm>
            <a:off x="6855995" y="1819275"/>
            <a:ext cx="1907005" cy="114300"/>
          </a:xfrm>
          <a:prstGeom prst="rect">
            <a:avLst/>
          </a:prstGeom>
          <a:noFill/>
          <a:ln/>
        </p:spPr>
      </p:sp>
      <p:sp>
        <p:nvSpPr>
          <p:cNvPr id="27" name="Shape 25"/>
          <p:cNvSpPr/>
          <p:nvPr/>
        </p:nvSpPr>
        <p:spPr>
          <a:xfrm>
            <a:off x="6855995" y="1852612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28" name="Text 26"/>
          <p:cNvSpPr/>
          <p:nvPr/>
        </p:nvSpPr>
        <p:spPr>
          <a:xfrm>
            <a:off x="6960770" y="1819275"/>
            <a:ext cx="6096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Run and monitor</a:t>
            </a:r>
            <a:endParaRPr lang="en-US" sz="641" dirty="0"/>
          </a:p>
        </p:txBody>
      </p:sp>
      <p:sp>
        <p:nvSpPr>
          <p:cNvPr id="29" name="Shape 27"/>
          <p:cNvSpPr/>
          <p:nvPr/>
        </p:nvSpPr>
        <p:spPr>
          <a:xfrm>
            <a:off x="6855995" y="2000250"/>
            <a:ext cx="1907005" cy="114300"/>
          </a:xfrm>
          <a:prstGeom prst="rect">
            <a:avLst/>
          </a:prstGeom>
          <a:noFill/>
          <a:ln/>
        </p:spPr>
      </p:sp>
      <p:sp>
        <p:nvSpPr>
          <p:cNvPr id="30" name="Shape 28"/>
          <p:cNvSpPr/>
          <p:nvPr/>
        </p:nvSpPr>
        <p:spPr>
          <a:xfrm>
            <a:off x="6855995" y="2033588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31" name="Text 29"/>
          <p:cNvSpPr/>
          <p:nvPr/>
        </p:nvSpPr>
        <p:spPr>
          <a:xfrm>
            <a:off x="6960770" y="2000250"/>
            <a:ext cx="6905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Handle exceptions</a:t>
            </a:r>
            <a:endParaRPr lang="en-US" sz="641" dirty="0"/>
          </a:p>
        </p:txBody>
      </p:sp>
      <p:sp>
        <p:nvSpPr>
          <p:cNvPr id="32" name="Shape 30"/>
          <p:cNvSpPr/>
          <p:nvPr/>
        </p:nvSpPr>
        <p:spPr>
          <a:xfrm>
            <a:off x="6855995" y="2181225"/>
            <a:ext cx="1907005" cy="114300"/>
          </a:xfrm>
          <a:prstGeom prst="rect">
            <a:avLst/>
          </a:prstGeom>
          <a:noFill/>
          <a:ln/>
        </p:spPr>
      </p:sp>
      <p:sp>
        <p:nvSpPr>
          <p:cNvPr id="33" name="Shape 31"/>
          <p:cNvSpPr/>
          <p:nvPr/>
        </p:nvSpPr>
        <p:spPr>
          <a:xfrm>
            <a:off x="6855995" y="2214563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34" name="Text 32"/>
          <p:cNvSpPr/>
          <p:nvPr/>
        </p:nvSpPr>
        <p:spPr>
          <a:xfrm>
            <a:off x="6960770" y="2181225"/>
            <a:ext cx="6381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See the outcome</a:t>
            </a:r>
            <a:endParaRPr lang="en-US" sz="641" dirty="0"/>
          </a:p>
        </p:txBody>
      </p:sp>
      <p:pic>
        <p:nvPicPr>
          <p:cNvPr id="3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81000" y="714375"/>
            <a:ext cx="6210300" cy="4095750"/>
          </a:xfrm>
          <a:prstGeom prst="rect">
            <a:avLst/>
          </a:prstGeom>
        </p:spPr>
      </p:pic>
      <p:sp>
        <p:nvSpPr>
          <p:cNvPr id="36" name="Shape 33"/>
          <p:cNvSpPr/>
          <p:nvPr/>
        </p:nvSpPr>
        <p:spPr>
          <a:xfrm>
            <a:off x="381000" y="4886325"/>
            <a:ext cx="8382000" cy="9525"/>
          </a:xfrm>
          <a:prstGeom prst="rect">
            <a:avLst/>
          </a:prstGeom>
          <a:solidFill>
            <a:srgbClr val="00B1F5"/>
          </a:solidFill>
          <a:ln/>
        </p:spPr>
      </p:sp>
      <p:sp>
        <p:nvSpPr>
          <p:cNvPr id="37" name="Text 34"/>
          <p:cNvSpPr/>
          <p:nvPr/>
        </p:nvSpPr>
        <p:spPr>
          <a:xfrm>
            <a:off x="381000" y="4972050"/>
            <a:ext cx="438150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70"/>
              </a:lnSpc>
              <a:buNone/>
            </a:pPr>
            <a:r>
              <a:rPr lang="en-US" sz="463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Internal use only</a:t>
            </a:r>
            <a:endParaRPr lang="en-US" sz="463" dirty="0"/>
          </a:p>
        </p:txBody>
      </p:sp>
      <p:sp>
        <p:nvSpPr>
          <p:cNvPr id="38" name="Shape 35"/>
          <p:cNvSpPr/>
          <p:nvPr/>
        </p:nvSpPr>
        <p:spPr>
          <a:xfrm>
            <a:off x="8077200" y="4924425"/>
            <a:ext cx="684389" cy="133350"/>
          </a:xfrm>
          <a:prstGeom prst="rect">
            <a:avLst/>
          </a:prstGeom>
          <a:noFill/>
          <a:ln/>
        </p:spPr>
      </p:sp>
      <p:pic>
        <p:nvPicPr>
          <p:cNvPr id="39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206665" y="4948089"/>
            <a:ext cx="537666" cy="89241"/>
          </a:xfrm>
          <a:prstGeom prst="rect">
            <a:avLst/>
          </a:prstGeom>
        </p:spPr>
      </p:pic>
      <p:pic>
        <p:nvPicPr>
          <p:cNvPr id="40" name="Image 2" descr="preencoded.png">    </p:cNvPr>
          <p:cNvPicPr>
            <a:picLocks noChangeAspect="1"/>
          </p:cNvPicPr>
          <p:nvPr/>
        </p:nvPicPr>
        <p:blipFill>
          <a:blip r:embed="rId3"/>
          <a:srcRect l="0" r="67575" t="0" b="80646"/>
          <a:stretch/>
        </p:blipFill>
        <p:spPr>
          <a:xfrm>
            <a:off x="7356834" y="4579576"/>
            <a:ext cx="345665" cy="1333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91300" y="714375"/>
            <a:ext cx="2554705" cy="40957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143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381000" y="209550"/>
            <a:ext cx="4090987" cy="228600"/>
          </a:xfrm>
          <a:prstGeom prst="rect">
            <a:avLst/>
          </a:prstGeom>
          <a:noFill/>
          <a:ln/>
        </p:spPr>
      </p:sp>
      <p:sp>
        <p:nvSpPr>
          <p:cNvPr id="5" name="Text 3"/>
          <p:cNvSpPr/>
          <p:nvPr/>
        </p:nvSpPr>
        <p:spPr>
          <a:xfrm>
            <a:off x="381000" y="209550"/>
            <a:ext cx="128111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00B1F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Create the plan</a:t>
            </a:r>
            <a:endParaRPr lang="en-US" sz="1425" dirty="0"/>
          </a:p>
        </p:txBody>
      </p:sp>
      <p:sp>
        <p:nvSpPr>
          <p:cNvPr id="6" name="Shape 4"/>
          <p:cNvSpPr/>
          <p:nvPr/>
        </p:nvSpPr>
        <p:spPr>
          <a:xfrm>
            <a:off x="1728788" y="228600"/>
            <a:ext cx="14288" cy="190500"/>
          </a:xfrm>
          <a:prstGeom prst="rect">
            <a:avLst/>
          </a:prstGeom>
          <a:solidFill>
            <a:srgbClr val="00B1F5"/>
          </a:solidFill>
          <a:ln/>
        </p:spPr>
      </p:sp>
      <p:sp>
        <p:nvSpPr>
          <p:cNvPr id="7" name="Text 5"/>
          <p:cNvSpPr/>
          <p:nvPr/>
        </p:nvSpPr>
        <p:spPr>
          <a:xfrm>
            <a:off x="1809750" y="209550"/>
            <a:ext cx="26622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18232A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Quick Submit for a single change</a:t>
            </a:r>
            <a:endParaRPr lang="en-US" sz="1425" dirty="0"/>
          </a:p>
        </p:txBody>
      </p:sp>
      <p:sp>
        <p:nvSpPr>
          <p:cNvPr id="8" name="Text 6"/>
          <p:cNvSpPr/>
          <p:nvPr/>
        </p:nvSpPr>
        <p:spPr>
          <a:xfrm>
            <a:off x="381000" y="476250"/>
            <a:ext cx="83820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784" dirty="0">
                <a:solidFill>
                  <a:srgbClr val="5D6B7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For one target, the same checks happen on a single screen. The system creates the plan in the background.</a:t>
            </a:r>
            <a:endParaRPr lang="en-US" sz="784" dirty="0"/>
          </a:p>
        </p:txBody>
      </p:sp>
      <p:sp>
        <p:nvSpPr>
          <p:cNvPr id="9" name="Shape 7"/>
          <p:cNvSpPr/>
          <p:nvPr/>
        </p:nvSpPr>
        <p:spPr>
          <a:xfrm>
            <a:off x="6858000" y="752475"/>
            <a:ext cx="1907000" cy="1543050"/>
          </a:xfrm>
          <a:prstGeom prst="rect">
            <a:avLst/>
          </a:prstGeom>
          <a:noFill/>
          <a:ln/>
        </p:spPr>
      </p:sp>
      <p:sp>
        <p:nvSpPr>
          <p:cNvPr id="10" name="Text 8"/>
          <p:cNvSpPr/>
          <p:nvPr/>
        </p:nvSpPr>
        <p:spPr>
          <a:xfrm>
            <a:off x="6858000" y="752475"/>
            <a:ext cx="44767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13"/>
              </a:lnSpc>
              <a:buNone/>
            </a:pPr>
            <a:r>
              <a:rPr lang="en-US" sz="570" spc="34" kern="0" dirty="0">
                <a:solidFill>
                  <a:srgbClr val="00B1F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STEP 2 OF 8</a:t>
            </a:r>
            <a:endParaRPr lang="en-US" sz="570" dirty="0"/>
          </a:p>
        </p:txBody>
      </p:sp>
      <p:sp>
        <p:nvSpPr>
          <p:cNvPr id="11" name="Shape 9"/>
          <p:cNvSpPr/>
          <p:nvPr/>
        </p:nvSpPr>
        <p:spPr>
          <a:xfrm>
            <a:off x="6858000" y="914400"/>
            <a:ext cx="1905000" cy="114300"/>
          </a:xfrm>
          <a:prstGeom prst="rect">
            <a:avLst/>
          </a:prstGeom>
          <a:noFill/>
          <a:ln/>
        </p:spPr>
      </p:sp>
      <p:sp>
        <p:nvSpPr>
          <p:cNvPr id="12" name="Shape 10"/>
          <p:cNvSpPr/>
          <p:nvPr/>
        </p:nvSpPr>
        <p:spPr>
          <a:xfrm>
            <a:off x="6858000" y="947737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13" name="Text 11"/>
          <p:cNvSpPr/>
          <p:nvPr/>
        </p:nvSpPr>
        <p:spPr>
          <a:xfrm>
            <a:off x="6962775" y="914400"/>
            <a:ext cx="5381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Find your work</a:t>
            </a:r>
            <a:endParaRPr lang="en-US" sz="641" dirty="0"/>
          </a:p>
        </p:txBody>
      </p:sp>
      <p:sp>
        <p:nvSpPr>
          <p:cNvPr id="14" name="Shape 12"/>
          <p:cNvSpPr/>
          <p:nvPr/>
        </p:nvSpPr>
        <p:spPr>
          <a:xfrm>
            <a:off x="6858000" y="109537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15" name="Shape 13"/>
          <p:cNvSpPr/>
          <p:nvPr/>
        </p:nvSpPr>
        <p:spPr>
          <a:xfrm>
            <a:off x="6858000" y="1128713"/>
            <a:ext cx="47625" cy="47625"/>
          </a:xfrm>
          <a:prstGeom prst="ellipse">
            <a:avLst/>
          </a:prstGeom>
          <a:solidFill>
            <a:srgbClr val="00B1F5"/>
          </a:solidFill>
          <a:ln/>
        </p:spPr>
      </p:sp>
      <p:sp>
        <p:nvSpPr>
          <p:cNvPr id="16" name="Text 14"/>
          <p:cNvSpPr/>
          <p:nvPr/>
        </p:nvSpPr>
        <p:spPr>
          <a:xfrm>
            <a:off x="6962775" y="1095375"/>
            <a:ext cx="5762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18232A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Create the plan</a:t>
            </a:r>
            <a:endParaRPr lang="en-US" sz="641" dirty="0"/>
          </a:p>
        </p:txBody>
      </p:sp>
      <p:sp>
        <p:nvSpPr>
          <p:cNvPr id="17" name="Shape 15"/>
          <p:cNvSpPr/>
          <p:nvPr/>
        </p:nvSpPr>
        <p:spPr>
          <a:xfrm>
            <a:off x="6858000" y="1276350"/>
            <a:ext cx="1907000" cy="114300"/>
          </a:xfrm>
          <a:prstGeom prst="rect">
            <a:avLst/>
          </a:prstGeom>
          <a:noFill/>
          <a:ln/>
        </p:spPr>
      </p:sp>
      <p:sp>
        <p:nvSpPr>
          <p:cNvPr id="18" name="Shape 16"/>
          <p:cNvSpPr/>
          <p:nvPr/>
        </p:nvSpPr>
        <p:spPr>
          <a:xfrm>
            <a:off x="6858000" y="1309688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19" name="Text 17"/>
          <p:cNvSpPr/>
          <p:nvPr/>
        </p:nvSpPr>
        <p:spPr>
          <a:xfrm>
            <a:off x="6962775" y="1276350"/>
            <a:ext cx="37623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Add items</a:t>
            </a:r>
            <a:endParaRPr lang="en-US" sz="641" dirty="0"/>
          </a:p>
        </p:txBody>
      </p:sp>
      <p:sp>
        <p:nvSpPr>
          <p:cNvPr id="20" name="Shape 18"/>
          <p:cNvSpPr/>
          <p:nvPr/>
        </p:nvSpPr>
        <p:spPr>
          <a:xfrm>
            <a:off x="6858000" y="145732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21" name="Shape 19"/>
          <p:cNvSpPr/>
          <p:nvPr/>
        </p:nvSpPr>
        <p:spPr>
          <a:xfrm>
            <a:off x="6858000" y="1490663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22" name="Text 20"/>
          <p:cNvSpPr/>
          <p:nvPr/>
        </p:nvSpPr>
        <p:spPr>
          <a:xfrm>
            <a:off x="6962775" y="1457325"/>
            <a:ext cx="7286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Submit and validate</a:t>
            </a:r>
            <a:endParaRPr lang="en-US" sz="641" dirty="0"/>
          </a:p>
        </p:txBody>
      </p:sp>
      <p:sp>
        <p:nvSpPr>
          <p:cNvPr id="23" name="Shape 21"/>
          <p:cNvSpPr/>
          <p:nvPr/>
        </p:nvSpPr>
        <p:spPr>
          <a:xfrm>
            <a:off x="6858000" y="1638300"/>
            <a:ext cx="1907000" cy="114300"/>
          </a:xfrm>
          <a:prstGeom prst="rect">
            <a:avLst/>
          </a:prstGeom>
          <a:noFill/>
          <a:ln/>
        </p:spPr>
      </p:sp>
      <p:sp>
        <p:nvSpPr>
          <p:cNvPr id="24" name="Shape 22"/>
          <p:cNvSpPr/>
          <p:nvPr/>
        </p:nvSpPr>
        <p:spPr>
          <a:xfrm>
            <a:off x="6858000" y="1671638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25" name="Text 23"/>
          <p:cNvSpPr/>
          <p:nvPr/>
        </p:nvSpPr>
        <p:spPr>
          <a:xfrm>
            <a:off x="6962775" y="1638300"/>
            <a:ext cx="73342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Wait for the window</a:t>
            </a:r>
            <a:endParaRPr lang="en-US" sz="641" dirty="0"/>
          </a:p>
        </p:txBody>
      </p:sp>
      <p:sp>
        <p:nvSpPr>
          <p:cNvPr id="26" name="Shape 24"/>
          <p:cNvSpPr/>
          <p:nvPr/>
        </p:nvSpPr>
        <p:spPr>
          <a:xfrm>
            <a:off x="6858000" y="181927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27" name="Shape 25"/>
          <p:cNvSpPr/>
          <p:nvPr/>
        </p:nvSpPr>
        <p:spPr>
          <a:xfrm>
            <a:off x="6858000" y="1852612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28" name="Text 26"/>
          <p:cNvSpPr/>
          <p:nvPr/>
        </p:nvSpPr>
        <p:spPr>
          <a:xfrm>
            <a:off x="6962775" y="1819275"/>
            <a:ext cx="6096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Run and monitor</a:t>
            </a:r>
            <a:endParaRPr lang="en-US" sz="641" dirty="0"/>
          </a:p>
        </p:txBody>
      </p:sp>
      <p:sp>
        <p:nvSpPr>
          <p:cNvPr id="29" name="Shape 27"/>
          <p:cNvSpPr/>
          <p:nvPr/>
        </p:nvSpPr>
        <p:spPr>
          <a:xfrm>
            <a:off x="6858000" y="2000250"/>
            <a:ext cx="1907000" cy="114300"/>
          </a:xfrm>
          <a:prstGeom prst="rect">
            <a:avLst/>
          </a:prstGeom>
          <a:noFill/>
          <a:ln/>
        </p:spPr>
      </p:sp>
      <p:sp>
        <p:nvSpPr>
          <p:cNvPr id="30" name="Shape 28"/>
          <p:cNvSpPr/>
          <p:nvPr/>
        </p:nvSpPr>
        <p:spPr>
          <a:xfrm>
            <a:off x="6858000" y="2033588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31" name="Text 29"/>
          <p:cNvSpPr/>
          <p:nvPr/>
        </p:nvSpPr>
        <p:spPr>
          <a:xfrm>
            <a:off x="6962775" y="2000250"/>
            <a:ext cx="6905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Handle exceptions</a:t>
            </a:r>
            <a:endParaRPr lang="en-US" sz="641" dirty="0"/>
          </a:p>
        </p:txBody>
      </p:sp>
      <p:sp>
        <p:nvSpPr>
          <p:cNvPr id="32" name="Shape 30"/>
          <p:cNvSpPr/>
          <p:nvPr/>
        </p:nvSpPr>
        <p:spPr>
          <a:xfrm>
            <a:off x="6858000" y="218122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33" name="Shape 31"/>
          <p:cNvSpPr/>
          <p:nvPr/>
        </p:nvSpPr>
        <p:spPr>
          <a:xfrm>
            <a:off x="6858000" y="2214563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34" name="Text 32"/>
          <p:cNvSpPr/>
          <p:nvPr/>
        </p:nvSpPr>
        <p:spPr>
          <a:xfrm>
            <a:off x="6962775" y="2181225"/>
            <a:ext cx="6381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See the outcome</a:t>
            </a:r>
            <a:endParaRPr lang="en-US" sz="641" dirty="0"/>
          </a:p>
        </p:txBody>
      </p:sp>
      <p:pic>
        <p:nvPicPr>
          <p:cNvPr id="3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81000" y="714375"/>
            <a:ext cx="6210300" cy="4095750"/>
          </a:xfrm>
          <a:prstGeom prst="rect">
            <a:avLst/>
          </a:prstGeom>
        </p:spPr>
      </p:pic>
      <p:sp>
        <p:nvSpPr>
          <p:cNvPr id="36" name="Shape 33"/>
          <p:cNvSpPr/>
          <p:nvPr/>
        </p:nvSpPr>
        <p:spPr>
          <a:xfrm>
            <a:off x="381000" y="4886325"/>
            <a:ext cx="8382000" cy="9525"/>
          </a:xfrm>
          <a:prstGeom prst="rect">
            <a:avLst/>
          </a:prstGeom>
          <a:solidFill>
            <a:srgbClr val="00B1F5"/>
          </a:solidFill>
          <a:ln/>
        </p:spPr>
      </p:sp>
      <p:sp>
        <p:nvSpPr>
          <p:cNvPr id="37" name="Text 34"/>
          <p:cNvSpPr/>
          <p:nvPr/>
        </p:nvSpPr>
        <p:spPr>
          <a:xfrm>
            <a:off x="381000" y="4972050"/>
            <a:ext cx="438150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70"/>
              </a:lnSpc>
              <a:buNone/>
            </a:pPr>
            <a:r>
              <a:rPr lang="en-US" sz="463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Internal use only</a:t>
            </a:r>
            <a:endParaRPr lang="en-US" sz="463" dirty="0"/>
          </a:p>
        </p:txBody>
      </p:sp>
      <p:sp>
        <p:nvSpPr>
          <p:cNvPr id="38" name="Shape 35"/>
          <p:cNvSpPr/>
          <p:nvPr/>
        </p:nvSpPr>
        <p:spPr>
          <a:xfrm>
            <a:off x="8077200" y="4924425"/>
            <a:ext cx="684389" cy="133350"/>
          </a:xfrm>
          <a:prstGeom prst="rect">
            <a:avLst/>
          </a:prstGeom>
          <a:noFill/>
          <a:ln/>
        </p:spPr>
      </p:sp>
      <p:pic>
        <p:nvPicPr>
          <p:cNvPr id="39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206665" y="4948089"/>
            <a:ext cx="537666" cy="89241"/>
          </a:xfrm>
          <a:prstGeom prst="rect">
            <a:avLst/>
          </a:prstGeom>
        </p:spPr>
      </p:pic>
      <p:pic>
        <p:nvPicPr>
          <p:cNvPr id="40" name="Image 2" descr="preencoded.png">    </p:cNvPr>
          <p:cNvPicPr>
            <a:picLocks noChangeAspect="1"/>
          </p:cNvPicPr>
          <p:nvPr/>
        </p:nvPicPr>
        <p:blipFill>
          <a:blip r:embed="rId3"/>
          <a:srcRect l="0" r="67575" t="0" b="80646"/>
          <a:stretch/>
        </p:blipFill>
        <p:spPr>
          <a:xfrm>
            <a:off x="7356834" y="4579576"/>
            <a:ext cx="345665" cy="1333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43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381000" y="209550"/>
            <a:ext cx="3028950" cy="228600"/>
          </a:xfrm>
          <a:prstGeom prst="rect">
            <a:avLst/>
          </a:prstGeom>
          <a:noFill/>
          <a:ln/>
        </p:spPr>
      </p:sp>
      <p:sp>
        <p:nvSpPr>
          <p:cNvPr id="4" name="Text 2"/>
          <p:cNvSpPr/>
          <p:nvPr/>
        </p:nvSpPr>
        <p:spPr>
          <a:xfrm>
            <a:off x="381000" y="209550"/>
            <a:ext cx="847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00B1F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Add items</a:t>
            </a:r>
            <a:endParaRPr lang="en-US" sz="1425" dirty="0"/>
          </a:p>
        </p:txBody>
      </p:sp>
      <p:sp>
        <p:nvSpPr>
          <p:cNvPr id="5" name="Shape 3"/>
          <p:cNvSpPr/>
          <p:nvPr/>
        </p:nvSpPr>
        <p:spPr>
          <a:xfrm>
            <a:off x="1295400" y="228600"/>
            <a:ext cx="14288" cy="190500"/>
          </a:xfrm>
          <a:prstGeom prst="rect">
            <a:avLst/>
          </a:prstGeom>
          <a:solidFill>
            <a:srgbClr val="00B1F5"/>
          </a:solidFill>
          <a:ln/>
        </p:spPr>
      </p:sp>
      <p:sp>
        <p:nvSpPr>
          <p:cNvPr id="6" name="Text 4"/>
          <p:cNvSpPr/>
          <p:nvPr/>
        </p:nvSpPr>
        <p:spPr>
          <a:xfrm>
            <a:off x="1376363" y="209550"/>
            <a:ext cx="20335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18232A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The plan opens as a draft</a:t>
            </a:r>
            <a:endParaRPr lang="en-US" sz="1425" dirty="0"/>
          </a:p>
        </p:txBody>
      </p:sp>
      <p:sp>
        <p:nvSpPr>
          <p:cNvPr id="7" name="Text 5"/>
          <p:cNvSpPr/>
          <p:nvPr/>
        </p:nvSpPr>
        <p:spPr>
          <a:xfrm>
            <a:off x="381000" y="476250"/>
            <a:ext cx="83820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784" dirty="0">
                <a:solidFill>
                  <a:srgbClr val="5D6B7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Add the targets one by one. Nothing runs until the plan is submitted, so the draft can be changed freely.</a:t>
            </a:r>
            <a:endParaRPr lang="en-US" sz="784" dirty="0"/>
          </a:p>
        </p:txBody>
      </p:sp>
      <p:sp>
        <p:nvSpPr>
          <p:cNvPr id="8" name="Shape 6"/>
          <p:cNvSpPr/>
          <p:nvPr/>
        </p:nvSpPr>
        <p:spPr>
          <a:xfrm>
            <a:off x="6858000" y="752475"/>
            <a:ext cx="1907000" cy="1543050"/>
          </a:xfrm>
          <a:prstGeom prst="rect">
            <a:avLst/>
          </a:prstGeom>
          <a:noFill/>
          <a:ln/>
        </p:spPr>
      </p:sp>
      <p:sp>
        <p:nvSpPr>
          <p:cNvPr id="9" name="Text 7"/>
          <p:cNvSpPr/>
          <p:nvPr/>
        </p:nvSpPr>
        <p:spPr>
          <a:xfrm>
            <a:off x="6858000" y="752475"/>
            <a:ext cx="44767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13"/>
              </a:lnSpc>
              <a:buNone/>
            </a:pPr>
            <a:r>
              <a:rPr lang="en-US" sz="570" spc="34" kern="0" dirty="0">
                <a:solidFill>
                  <a:srgbClr val="00B1F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STEP 3 OF 8</a:t>
            </a:r>
            <a:endParaRPr lang="en-US" sz="570" dirty="0"/>
          </a:p>
        </p:txBody>
      </p:sp>
      <p:sp>
        <p:nvSpPr>
          <p:cNvPr id="10" name="Shape 8"/>
          <p:cNvSpPr/>
          <p:nvPr/>
        </p:nvSpPr>
        <p:spPr>
          <a:xfrm>
            <a:off x="6858000" y="914400"/>
            <a:ext cx="1905000" cy="114300"/>
          </a:xfrm>
          <a:prstGeom prst="rect">
            <a:avLst/>
          </a:prstGeom>
          <a:noFill/>
          <a:ln/>
        </p:spPr>
      </p:sp>
      <p:sp>
        <p:nvSpPr>
          <p:cNvPr id="11" name="Shape 9"/>
          <p:cNvSpPr/>
          <p:nvPr/>
        </p:nvSpPr>
        <p:spPr>
          <a:xfrm>
            <a:off x="6858000" y="947737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12" name="Text 10"/>
          <p:cNvSpPr/>
          <p:nvPr/>
        </p:nvSpPr>
        <p:spPr>
          <a:xfrm>
            <a:off x="6962775" y="914400"/>
            <a:ext cx="5381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Find your work</a:t>
            </a:r>
            <a:endParaRPr lang="en-US" sz="641" dirty="0"/>
          </a:p>
        </p:txBody>
      </p:sp>
      <p:sp>
        <p:nvSpPr>
          <p:cNvPr id="13" name="Shape 11"/>
          <p:cNvSpPr/>
          <p:nvPr/>
        </p:nvSpPr>
        <p:spPr>
          <a:xfrm>
            <a:off x="6858000" y="109537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14" name="Shape 12"/>
          <p:cNvSpPr/>
          <p:nvPr/>
        </p:nvSpPr>
        <p:spPr>
          <a:xfrm>
            <a:off x="6858000" y="1128713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15" name="Text 13"/>
          <p:cNvSpPr/>
          <p:nvPr/>
        </p:nvSpPr>
        <p:spPr>
          <a:xfrm>
            <a:off x="6962775" y="1095375"/>
            <a:ext cx="5715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Create the plan</a:t>
            </a:r>
            <a:endParaRPr lang="en-US" sz="641" dirty="0"/>
          </a:p>
        </p:txBody>
      </p:sp>
      <p:sp>
        <p:nvSpPr>
          <p:cNvPr id="16" name="Shape 14"/>
          <p:cNvSpPr/>
          <p:nvPr/>
        </p:nvSpPr>
        <p:spPr>
          <a:xfrm>
            <a:off x="6858000" y="1276350"/>
            <a:ext cx="1907000" cy="114300"/>
          </a:xfrm>
          <a:prstGeom prst="rect">
            <a:avLst/>
          </a:prstGeom>
          <a:noFill/>
          <a:ln/>
        </p:spPr>
      </p:sp>
      <p:sp>
        <p:nvSpPr>
          <p:cNvPr id="17" name="Shape 15"/>
          <p:cNvSpPr/>
          <p:nvPr/>
        </p:nvSpPr>
        <p:spPr>
          <a:xfrm>
            <a:off x="6858000" y="1309688"/>
            <a:ext cx="47625" cy="47625"/>
          </a:xfrm>
          <a:prstGeom prst="ellipse">
            <a:avLst/>
          </a:prstGeom>
          <a:solidFill>
            <a:srgbClr val="00B1F5"/>
          </a:solidFill>
          <a:ln/>
        </p:spPr>
      </p:sp>
      <p:sp>
        <p:nvSpPr>
          <p:cNvPr id="18" name="Text 16"/>
          <p:cNvSpPr/>
          <p:nvPr/>
        </p:nvSpPr>
        <p:spPr>
          <a:xfrm>
            <a:off x="6962775" y="1276350"/>
            <a:ext cx="3810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18232A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Add items</a:t>
            </a:r>
            <a:endParaRPr lang="en-US" sz="641" dirty="0"/>
          </a:p>
        </p:txBody>
      </p:sp>
      <p:sp>
        <p:nvSpPr>
          <p:cNvPr id="19" name="Shape 17"/>
          <p:cNvSpPr/>
          <p:nvPr/>
        </p:nvSpPr>
        <p:spPr>
          <a:xfrm>
            <a:off x="6858000" y="145732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20" name="Shape 18"/>
          <p:cNvSpPr/>
          <p:nvPr/>
        </p:nvSpPr>
        <p:spPr>
          <a:xfrm>
            <a:off x="6858000" y="1490663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21" name="Text 19"/>
          <p:cNvSpPr/>
          <p:nvPr/>
        </p:nvSpPr>
        <p:spPr>
          <a:xfrm>
            <a:off x="6962775" y="1457325"/>
            <a:ext cx="7286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Submit and validate</a:t>
            </a:r>
            <a:endParaRPr lang="en-US" sz="641" dirty="0"/>
          </a:p>
        </p:txBody>
      </p:sp>
      <p:sp>
        <p:nvSpPr>
          <p:cNvPr id="22" name="Shape 20"/>
          <p:cNvSpPr/>
          <p:nvPr/>
        </p:nvSpPr>
        <p:spPr>
          <a:xfrm>
            <a:off x="6858000" y="1638300"/>
            <a:ext cx="1907000" cy="114300"/>
          </a:xfrm>
          <a:prstGeom prst="rect">
            <a:avLst/>
          </a:prstGeom>
          <a:noFill/>
          <a:ln/>
        </p:spPr>
      </p:sp>
      <p:sp>
        <p:nvSpPr>
          <p:cNvPr id="23" name="Shape 21"/>
          <p:cNvSpPr/>
          <p:nvPr/>
        </p:nvSpPr>
        <p:spPr>
          <a:xfrm>
            <a:off x="6858000" y="1671638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24" name="Text 22"/>
          <p:cNvSpPr/>
          <p:nvPr/>
        </p:nvSpPr>
        <p:spPr>
          <a:xfrm>
            <a:off x="6962775" y="1638300"/>
            <a:ext cx="73342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Wait for the window</a:t>
            </a:r>
            <a:endParaRPr lang="en-US" sz="641" dirty="0"/>
          </a:p>
        </p:txBody>
      </p:sp>
      <p:sp>
        <p:nvSpPr>
          <p:cNvPr id="25" name="Shape 23"/>
          <p:cNvSpPr/>
          <p:nvPr/>
        </p:nvSpPr>
        <p:spPr>
          <a:xfrm>
            <a:off x="6858000" y="181927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26" name="Shape 24"/>
          <p:cNvSpPr/>
          <p:nvPr/>
        </p:nvSpPr>
        <p:spPr>
          <a:xfrm>
            <a:off x="6858000" y="1852612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27" name="Text 25"/>
          <p:cNvSpPr/>
          <p:nvPr/>
        </p:nvSpPr>
        <p:spPr>
          <a:xfrm>
            <a:off x="6962775" y="1819275"/>
            <a:ext cx="6096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Run and monitor</a:t>
            </a:r>
            <a:endParaRPr lang="en-US" sz="641" dirty="0"/>
          </a:p>
        </p:txBody>
      </p:sp>
      <p:sp>
        <p:nvSpPr>
          <p:cNvPr id="28" name="Shape 26"/>
          <p:cNvSpPr/>
          <p:nvPr/>
        </p:nvSpPr>
        <p:spPr>
          <a:xfrm>
            <a:off x="6858000" y="2000250"/>
            <a:ext cx="1907000" cy="114300"/>
          </a:xfrm>
          <a:prstGeom prst="rect">
            <a:avLst/>
          </a:prstGeom>
          <a:noFill/>
          <a:ln/>
        </p:spPr>
      </p:sp>
      <p:sp>
        <p:nvSpPr>
          <p:cNvPr id="29" name="Shape 27"/>
          <p:cNvSpPr/>
          <p:nvPr/>
        </p:nvSpPr>
        <p:spPr>
          <a:xfrm>
            <a:off x="6858000" y="2033588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30" name="Text 28"/>
          <p:cNvSpPr/>
          <p:nvPr/>
        </p:nvSpPr>
        <p:spPr>
          <a:xfrm>
            <a:off x="6962775" y="2000250"/>
            <a:ext cx="6905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Handle exceptions</a:t>
            </a:r>
            <a:endParaRPr lang="en-US" sz="641" dirty="0"/>
          </a:p>
        </p:txBody>
      </p:sp>
      <p:sp>
        <p:nvSpPr>
          <p:cNvPr id="31" name="Shape 29"/>
          <p:cNvSpPr/>
          <p:nvPr/>
        </p:nvSpPr>
        <p:spPr>
          <a:xfrm>
            <a:off x="6858000" y="218122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32" name="Shape 30"/>
          <p:cNvSpPr/>
          <p:nvPr/>
        </p:nvSpPr>
        <p:spPr>
          <a:xfrm>
            <a:off x="6858000" y="2214563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33" name="Text 31"/>
          <p:cNvSpPr/>
          <p:nvPr/>
        </p:nvSpPr>
        <p:spPr>
          <a:xfrm>
            <a:off x="6962775" y="2181225"/>
            <a:ext cx="6381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See the outcome</a:t>
            </a:r>
            <a:endParaRPr lang="en-US" sz="641" dirty="0"/>
          </a:p>
        </p:txBody>
      </p:sp>
      <p:pic>
        <p:nvPicPr>
          <p:cNvPr id="3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81000" y="714375"/>
            <a:ext cx="6210300" cy="4095750"/>
          </a:xfrm>
          <a:prstGeom prst="rect">
            <a:avLst/>
          </a:prstGeom>
        </p:spPr>
      </p:pic>
      <p:sp>
        <p:nvSpPr>
          <p:cNvPr id="35" name="Shape 32"/>
          <p:cNvSpPr/>
          <p:nvPr/>
        </p:nvSpPr>
        <p:spPr>
          <a:xfrm>
            <a:off x="381000" y="4886325"/>
            <a:ext cx="8382000" cy="9525"/>
          </a:xfrm>
          <a:prstGeom prst="rect">
            <a:avLst/>
          </a:prstGeom>
          <a:solidFill>
            <a:srgbClr val="00B1F5"/>
          </a:solidFill>
          <a:ln/>
        </p:spPr>
      </p:sp>
      <p:sp>
        <p:nvSpPr>
          <p:cNvPr id="36" name="Text 33"/>
          <p:cNvSpPr/>
          <p:nvPr/>
        </p:nvSpPr>
        <p:spPr>
          <a:xfrm>
            <a:off x="381000" y="4972050"/>
            <a:ext cx="438150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70"/>
              </a:lnSpc>
              <a:buNone/>
            </a:pPr>
            <a:r>
              <a:rPr lang="en-US" sz="463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Internal use only</a:t>
            </a:r>
            <a:endParaRPr lang="en-US" sz="463" dirty="0"/>
          </a:p>
        </p:txBody>
      </p:sp>
      <p:sp>
        <p:nvSpPr>
          <p:cNvPr id="37" name="Shape 34"/>
          <p:cNvSpPr/>
          <p:nvPr/>
        </p:nvSpPr>
        <p:spPr>
          <a:xfrm>
            <a:off x="8077200" y="4924425"/>
            <a:ext cx="684389" cy="133350"/>
          </a:xfrm>
          <a:prstGeom prst="rect">
            <a:avLst/>
          </a:prstGeom>
          <a:noFill/>
          <a:ln/>
        </p:spPr>
      </p:sp>
      <p:pic>
        <p:nvPicPr>
          <p:cNvPr id="38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206665" y="4948089"/>
            <a:ext cx="537666" cy="89241"/>
          </a:xfrm>
          <a:prstGeom prst="rect">
            <a:avLst/>
          </a:prstGeom>
        </p:spPr>
      </p:pic>
      <p:pic>
        <p:nvPicPr>
          <p:cNvPr id="39" name="Image 2" descr="preencoded.png">    </p:cNvPr>
          <p:cNvPicPr>
            <a:picLocks noChangeAspect="1"/>
          </p:cNvPicPr>
          <p:nvPr/>
        </p:nvPicPr>
        <p:blipFill>
          <a:blip r:embed="rId3"/>
          <a:srcRect l="0" r="67575" t="0" b="80646"/>
          <a:stretch/>
        </p:blipFill>
        <p:spPr>
          <a:xfrm>
            <a:off x="7356834" y="4579576"/>
            <a:ext cx="345665" cy="1333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43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381000" y="209550"/>
            <a:ext cx="3490913" cy="228600"/>
          </a:xfrm>
          <a:prstGeom prst="rect">
            <a:avLst/>
          </a:prstGeom>
          <a:noFill/>
          <a:ln/>
        </p:spPr>
      </p:sp>
      <p:sp>
        <p:nvSpPr>
          <p:cNvPr id="4" name="Text 2"/>
          <p:cNvSpPr/>
          <p:nvPr/>
        </p:nvSpPr>
        <p:spPr>
          <a:xfrm>
            <a:off x="381000" y="209550"/>
            <a:ext cx="847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00B1F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Add items</a:t>
            </a:r>
            <a:endParaRPr lang="en-US" sz="1425" dirty="0"/>
          </a:p>
        </p:txBody>
      </p:sp>
      <p:sp>
        <p:nvSpPr>
          <p:cNvPr id="5" name="Shape 3"/>
          <p:cNvSpPr/>
          <p:nvPr/>
        </p:nvSpPr>
        <p:spPr>
          <a:xfrm>
            <a:off x="1295400" y="228600"/>
            <a:ext cx="14288" cy="190500"/>
          </a:xfrm>
          <a:prstGeom prst="rect">
            <a:avLst/>
          </a:prstGeom>
          <a:solidFill>
            <a:srgbClr val="00B1F5"/>
          </a:solidFill>
          <a:ln/>
        </p:spPr>
      </p:sp>
      <p:sp>
        <p:nvSpPr>
          <p:cNvPr id="6" name="Text 4"/>
          <p:cNvSpPr/>
          <p:nvPr/>
        </p:nvSpPr>
        <p:spPr>
          <a:xfrm>
            <a:off x="1376363" y="209550"/>
            <a:ext cx="2495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18232A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Add an item and see its impact</a:t>
            </a:r>
            <a:endParaRPr lang="en-US" sz="1425" dirty="0"/>
          </a:p>
        </p:txBody>
      </p:sp>
      <p:sp>
        <p:nvSpPr>
          <p:cNvPr id="7" name="Text 5"/>
          <p:cNvSpPr/>
          <p:nvPr/>
        </p:nvSpPr>
        <p:spPr>
          <a:xfrm>
            <a:off x="381000" y="476250"/>
            <a:ext cx="83820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784" dirty="0">
                <a:solidFill>
                  <a:srgbClr val="5D6B7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Choose the device, tenant and target version. The impact check lists everything the change touches before the item is added.</a:t>
            </a:r>
            <a:endParaRPr lang="en-US" sz="784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81000" y="714375"/>
            <a:ext cx="5453063" cy="409575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858000" y="752475"/>
            <a:ext cx="1907000" cy="1543050"/>
          </a:xfrm>
          <a:prstGeom prst="rect">
            <a:avLst/>
          </a:prstGeom>
          <a:noFill/>
          <a:ln/>
        </p:spPr>
      </p:sp>
      <p:sp>
        <p:nvSpPr>
          <p:cNvPr id="10" name="Text 7"/>
          <p:cNvSpPr/>
          <p:nvPr/>
        </p:nvSpPr>
        <p:spPr>
          <a:xfrm>
            <a:off x="6858000" y="752475"/>
            <a:ext cx="44767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13"/>
              </a:lnSpc>
              <a:buNone/>
            </a:pPr>
            <a:r>
              <a:rPr lang="en-US" sz="570" spc="34" kern="0" dirty="0">
                <a:solidFill>
                  <a:srgbClr val="00B1F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STEP 3 OF 8</a:t>
            </a:r>
            <a:endParaRPr lang="en-US" sz="570" dirty="0"/>
          </a:p>
        </p:txBody>
      </p:sp>
      <p:sp>
        <p:nvSpPr>
          <p:cNvPr id="11" name="Shape 8"/>
          <p:cNvSpPr/>
          <p:nvPr/>
        </p:nvSpPr>
        <p:spPr>
          <a:xfrm>
            <a:off x="6858000" y="914400"/>
            <a:ext cx="1905000" cy="114300"/>
          </a:xfrm>
          <a:prstGeom prst="rect">
            <a:avLst/>
          </a:prstGeom>
          <a:noFill/>
          <a:ln/>
        </p:spPr>
      </p:sp>
      <p:sp>
        <p:nvSpPr>
          <p:cNvPr id="12" name="Shape 9"/>
          <p:cNvSpPr/>
          <p:nvPr/>
        </p:nvSpPr>
        <p:spPr>
          <a:xfrm>
            <a:off x="6858000" y="947737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13" name="Text 10"/>
          <p:cNvSpPr/>
          <p:nvPr/>
        </p:nvSpPr>
        <p:spPr>
          <a:xfrm>
            <a:off x="6962775" y="914400"/>
            <a:ext cx="5381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Find your work</a:t>
            </a:r>
            <a:endParaRPr lang="en-US" sz="641" dirty="0"/>
          </a:p>
        </p:txBody>
      </p:sp>
      <p:sp>
        <p:nvSpPr>
          <p:cNvPr id="14" name="Shape 11"/>
          <p:cNvSpPr/>
          <p:nvPr/>
        </p:nvSpPr>
        <p:spPr>
          <a:xfrm>
            <a:off x="6858000" y="109537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15" name="Shape 12"/>
          <p:cNvSpPr/>
          <p:nvPr/>
        </p:nvSpPr>
        <p:spPr>
          <a:xfrm>
            <a:off x="6858000" y="1128713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16" name="Text 13"/>
          <p:cNvSpPr/>
          <p:nvPr/>
        </p:nvSpPr>
        <p:spPr>
          <a:xfrm>
            <a:off x="6962775" y="1095375"/>
            <a:ext cx="5715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Create the plan</a:t>
            </a:r>
            <a:endParaRPr lang="en-US" sz="641" dirty="0"/>
          </a:p>
        </p:txBody>
      </p:sp>
      <p:sp>
        <p:nvSpPr>
          <p:cNvPr id="17" name="Shape 14"/>
          <p:cNvSpPr/>
          <p:nvPr/>
        </p:nvSpPr>
        <p:spPr>
          <a:xfrm>
            <a:off x="6858000" y="1276350"/>
            <a:ext cx="1907000" cy="114300"/>
          </a:xfrm>
          <a:prstGeom prst="rect">
            <a:avLst/>
          </a:prstGeom>
          <a:noFill/>
          <a:ln/>
        </p:spPr>
      </p:sp>
      <p:sp>
        <p:nvSpPr>
          <p:cNvPr id="18" name="Shape 15"/>
          <p:cNvSpPr/>
          <p:nvPr/>
        </p:nvSpPr>
        <p:spPr>
          <a:xfrm>
            <a:off x="6858000" y="1309688"/>
            <a:ext cx="47625" cy="47625"/>
          </a:xfrm>
          <a:prstGeom prst="ellipse">
            <a:avLst/>
          </a:prstGeom>
          <a:solidFill>
            <a:srgbClr val="00B1F5"/>
          </a:solidFill>
          <a:ln/>
        </p:spPr>
      </p:sp>
      <p:sp>
        <p:nvSpPr>
          <p:cNvPr id="19" name="Text 16"/>
          <p:cNvSpPr/>
          <p:nvPr/>
        </p:nvSpPr>
        <p:spPr>
          <a:xfrm>
            <a:off x="6962775" y="1276350"/>
            <a:ext cx="3810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18232A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Add items</a:t>
            </a:r>
            <a:endParaRPr lang="en-US" sz="641" dirty="0"/>
          </a:p>
        </p:txBody>
      </p:sp>
      <p:sp>
        <p:nvSpPr>
          <p:cNvPr id="20" name="Shape 17"/>
          <p:cNvSpPr/>
          <p:nvPr/>
        </p:nvSpPr>
        <p:spPr>
          <a:xfrm>
            <a:off x="6858000" y="145732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21" name="Shape 18"/>
          <p:cNvSpPr/>
          <p:nvPr/>
        </p:nvSpPr>
        <p:spPr>
          <a:xfrm>
            <a:off x="6858000" y="1490663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22" name="Text 19"/>
          <p:cNvSpPr/>
          <p:nvPr/>
        </p:nvSpPr>
        <p:spPr>
          <a:xfrm>
            <a:off x="6962775" y="1457325"/>
            <a:ext cx="7286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Submit and validate</a:t>
            </a:r>
            <a:endParaRPr lang="en-US" sz="641" dirty="0"/>
          </a:p>
        </p:txBody>
      </p:sp>
      <p:sp>
        <p:nvSpPr>
          <p:cNvPr id="23" name="Shape 20"/>
          <p:cNvSpPr/>
          <p:nvPr/>
        </p:nvSpPr>
        <p:spPr>
          <a:xfrm>
            <a:off x="6858000" y="1638300"/>
            <a:ext cx="1907000" cy="114300"/>
          </a:xfrm>
          <a:prstGeom prst="rect">
            <a:avLst/>
          </a:prstGeom>
          <a:noFill/>
          <a:ln/>
        </p:spPr>
      </p:sp>
      <p:sp>
        <p:nvSpPr>
          <p:cNvPr id="24" name="Shape 21"/>
          <p:cNvSpPr/>
          <p:nvPr/>
        </p:nvSpPr>
        <p:spPr>
          <a:xfrm>
            <a:off x="6858000" y="1671638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25" name="Text 22"/>
          <p:cNvSpPr/>
          <p:nvPr/>
        </p:nvSpPr>
        <p:spPr>
          <a:xfrm>
            <a:off x="6962775" y="1638300"/>
            <a:ext cx="73342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Wait for the window</a:t>
            </a:r>
            <a:endParaRPr lang="en-US" sz="641" dirty="0"/>
          </a:p>
        </p:txBody>
      </p:sp>
      <p:sp>
        <p:nvSpPr>
          <p:cNvPr id="26" name="Shape 23"/>
          <p:cNvSpPr/>
          <p:nvPr/>
        </p:nvSpPr>
        <p:spPr>
          <a:xfrm>
            <a:off x="6858000" y="181927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27" name="Shape 24"/>
          <p:cNvSpPr/>
          <p:nvPr/>
        </p:nvSpPr>
        <p:spPr>
          <a:xfrm>
            <a:off x="6858000" y="1852612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28" name="Text 25"/>
          <p:cNvSpPr/>
          <p:nvPr/>
        </p:nvSpPr>
        <p:spPr>
          <a:xfrm>
            <a:off x="6962775" y="1819275"/>
            <a:ext cx="6096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Run and monitor</a:t>
            </a:r>
            <a:endParaRPr lang="en-US" sz="641" dirty="0"/>
          </a:p>
        </p:txBody>
      </p:sp>
      <p:sp>
        <p:nvSpPr>
          <p:cNvPr id="29" name="Shape 26"/>
          <p:cNvSpPr/>
          <p:nvPr/>
        </p:nvSpPr>
        <p:spPr>
          <a:xfrm>
            <a:off x="6858000" y="2000250"/>
            <a:ext cx="1907000" cy="114300"/>
          </a:xfrm>
          <a:prstGeom prst="rect">
            <a:avLst/>
          </a:prstGeom>
          <a:noFill/>
          <a:ln/>
        </p:spPr>
      </p:sp>
      <p:sp>
        <p:nvSpPr>
          <p:cNvPr id="30" name="Shape 27"/>
          <p:cNvSpPr/>
          <p:nvPr/>
        </p:nvSpPr>
        <p:spPr>
          <a:xfrm>
            <a:off x="6858000" y="2033588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31" name="Text 28"/>
          <p:cNvSpPr/>
          <p:nvPr/>
        </p:nvSpPr>
        <p:spPr>
          <a:xfrm>
            <a:off x="6962775" y="2000250"/>
            <a:ext cx="6905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Handle exceptions</a:t>
            </a:r>
            <a:endParaRPr lang="en-US" sz="641" dirty="0"/>
          </a:p>
        </p:txBody>
      </p:sp>
      <p:sp>
        <p:nvSpPr>
          <p:cNvPr id="32" name="Shape 29"/>
          <p:cNvSpPr/>
          <p:nvPr/>
        </p:nvSpPr>
        <p:spPr>
          <a:xfrm>
            <a:off x="6858000" y="218122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33" name="Shape 30"/>
          <p:cNvSpPr/>
          <p:nvPr/>
        </p:nvSpPr>
        <p:spPr>
          <a:xfrm>
            <a:off x="6858000" y="2214563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34" name="Text 31"/>
          <p:cNvSpPr/>
          <p:nvPr/>
        </p:nvSpPr>
        <p:spPr>
          <a:xfrm>
            <a:off x="6962775" y="2181225"/>
            <a:ext cx="6381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See the outcome</a:t>
            </a:r>
            <a:endParaRPr lang="en-US" sz="641" dirty="0"/>
          </a:p>
        </p:txBody>
      </p:sp>
      <p:sp>
        <p:nvSpPr>
          <p:cNvPr id="35" name="Shape 32"/>
          <p:cNvSpPr/>
          <p:nvPr/>
        </p:nvSpPr>
        <p:spPr>
          <a:xfrm>
            <a:off x="381000" y="4886325"/>
            <a:ext cx="8382000" cy="9525"/>
          </a:xfrm>
          <a:prstGeom prst="rect">
            <a:avLst/>
          </a:prstGeom>
          <a:solidFill>
            <a:srgbClr val="00B1F5"/>
          </a:solidFill>
          <a:ln/>
        </p:spPr>
      </p:sp>
      <p:sp>
        <p:nvSpPr>
          <p:cNvPr id="36" name="Text 33"/>
          <p:cNvSpPr/>
          <p:nvPr/>
        </p:nvSpPr>
        <p:spPr>
          <a:xfrm>
            <a:off x="381000" y="4972050"/>
            <a:ext cx="438150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70"/>
              </a:lnSpc>
              <a:buNone/>
            </a:pPr>
            <a:r>
              <a:rPr lang="en-US" sz="463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Internal use only</a:t>
            </a:r>
            <a:endParaRPr lang="en-US" sz="463" dirty="0"/>
          </a:p>
        </p:txBody>
      </p:sp>
      <p:sp>
        <p:nvSpPr>
          <p:cNvPr id="37" name="Shape 34"/>
          <p:cNvSpPr/>
          <p:nvPr/>
        </p:nvSpPr>
        <p:spPr>
          <a:xfrm>
            <a:off x="8077200" y="4924425"/>
            <a:ext cx="684389" cy="133350"/>
          </a:xfrm>
          <a:prstGeom prst="rect">
            <a:avLst/>
          </a:prstGeom>
          <a:noFill/>
          <a:ln/>
        </p:spPr>
      </p:sp>
      <p:pic>
        <p:nvPicPr>
          <p:cNvPr id="38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206665" y="4948089"/>
            <a:ext cx="537666" cy="89241"/>
          </a:xfrm>
          <a:prstGeom prst="rect">
            <a:avLst/>
          </a:prstGeom>
        </p:spPr>
      </p:pic>
      <p:pic>
        <p:nvPicPr>
          <p:cNvPr id="39" name="Image 2" descr="preencoded.png">    </p:cNvPr>
          <p:cNvPicPr>
            <a:picLocks noChangeAspect="1"/>
          </p:cNvPicPr>
          <p:nvPr/>
        </p:nvPicPr>
        <p:blipFill>
          <a:blip r:embed="rId3"/>
          <a:srcRect l="0" r="67575" t="0" b="80646"/>
          <a:stretch/>
        </p:blipFill>
        <p:spPr>
          <a:xfrm>
            <a:off x="7356834" y="4579576"/>
            <a:ext cx="345665" cy="1333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43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381000" y="209550"/>
            <a:ext cx="4491038" cy="228600"/>
          </a:xfrm>
          <a:prstGeom prst="rect">
            <a:avLst/>
          </a:prstGeom>
          <a:noFill/>
          <a:ln/>
        </p:spPr>
      </p:sp>
      <p:sp>
        <p:nvSpPr>
          <p:cNvPr id="4" name="Text 2"/>
          <p:cNvSpPr/>
          <p:nvPr/>
        </p:nvSpPr>
        <p:spPr>
          <a:xfrm>
            <a:off x="381000" y="209550"/>
            <a:ext cx="1647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00B1F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Submit and validate</a:t>
            </a:r>
            <a:endParaRPr lang="en-US" sz="1425" dirty="0"/>
          </a:p>
        </p:txBody>
      </p:sp>
      <p:sp>
        <p:nvSpPr>
          <p:cNvPr id="5" name="Shape 3"/>
          <p:cNvSpPr/>
          <p:nvPr/>
        </p:nvSpPr>
        <p:spPr>
          <a:xfrm>
            <a:off x="2095500" y="228600"/>
            <a:ext cx="14288" cy="190500"/>
          </a:xfrm>
          <a:prstGeom prst="rect">
            <a:avLst/>
          </a:prstGeom>
          <a:solidFill>
            <a:srgbClr val="00B1F5"/>
          </a:solidFill>
          <a:ln/>
        </p:spPr>
      </p:sp>
      <p:sp>
        <p:nvSpPr>
          <p:cNvPr id="6" name="Text 4"/>
          <p:cNvSpPr/>
          <p:nvPr/>
        </p:nvSpPr>
        <p:spPr>
          <a:xfrm>
            <a:off x="2176463" y="209550"/>
            <a:ext cx="2695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18232A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Submit, and the system checks it</a:t>
            </a:r>
            <a:endParaRPr lang="en-US" sz="1425" dirty="0"/>
          </a:p>
        </p:txBody>
      </p:sp>
      <p:sp>
        <p:nvSpPr>
          <p:cNvPr id="7" name="Text 5"/>
          <p:cNvSpPr/>
          <p:nvPr/>
        </p:nvSpPr>
        <p:spPr>
          <a:xfrm>
            <a:off x="381000" y="476250"/>
            <a:ext cx="83820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784" dirty="0">
                <a:solidFill>
                  <a:srgbClr val="5D6B7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The plan details and every item are validated. If anything is wrong, the plan comes back with the errors marked, ready to fix.</a:t>
            </a:r>
            <a:endParaRPr lang="en-US" sz="784" dirty="0"/>
          </a:p>
        </p:txBody>
      </p:sp>
      <p:sp>
        <p:nvSpPr>
          <p:cNvPr id="8" name="Shape 6"/>
          <p:cNvSpPr/>
          <p:nvPr/>
        </p:nvSpPr>
        <p:spPr>
          <a:xfrm>
            <a:off x="6858001" y="752475"/>
            <a:ext cx="1907000" cy="1543050"/>
          </a:xfrm>
          <a:prstGeom prst="rect">
            <a:avLst/>
          </a:prstGeom>
          <a:noFill/>
          <a:ln/>
        </p:spPr>
      </p:sp>
      <p:sp>
        <p:nvSpPr>
          <p:cNvPr id="9" name="Text 7"/>
          <p:cNvSpPr/>
          <p:nvPr/>
        </p:nvSpPr>
        <p:spPr>
          <a:xfrm>
            <a:off x="6858001" y="752475"/>
            <a:ext cx="44767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13"/>
              </a:lnSpc>
              <a:buNone/>
            </a:pPr>
            <a:r>
              <a:rPr lang="en-US" sz="570" spc="34" kern="0" dirty="0">
                <a:solidFill>
                  <a:srgbClr val="00B1F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STEP 4 OF 8</a:t>
            </a:r>
            <a:endParaRPr lang="en-US" sz="570" dirty="0"/>
          </a:p>
        </p:txBody>
      </p:sp>
      <p:sp>
        <p:nvSpPr>
          <p:cNvPr id="10" name="Shape 8"/>
          <p:cNvSpPr/>
          <p:nvPr/>
        </p:nvSpPr>
        <p:spPr>
          <a:xfrm>
            <a:off x="6858001" y="914400"/>
            <a:ext cx="1905000" cy="114300"/>
          </a:xfrm>
          <a:prstGeom prst="rect">
            <a:avLst/>
          </a:prstGeom>
          <a:noFill/>
          <a:ln/>
        </p:spPr>
      </p:sp>
      <p:sp>
        <p:nvSpPr>
          <p:cNvPr id="11" name="Shape 9"/>
          <p:cNvSpPr/>
          <p:nvPr/>
        </p:nvSpPr>
        <p:spPr>
          <a:xfrm>
            <a:off x="6858001" y="947737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12" name="Text 10"/>
          <p:cNvSpPr/>
          <p:nvPr/>
        </p:nvSpPr>
        <p:spPr>
          <a:xfrm>
            <a:off x="6962776" y="914400"/>
            <a:ext cx="5381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Find your work</a:t>
            </a:r>
            <a:endParaRPr lang="en-US" sz="641" dirty="0"/>
          </a:p>
        </p:txBody>
      </p:sp>
      <p:sp>
        <p:nvSpPr>
          <p:cNvPr id="13" name="Shape 11"/>
          <p:cNvSpPr/>
          <p:nvPr/>
        </p:nvSpPr>
        <p:spPr>
          <a:xfrm>
            <a:off x="6858001" y="109537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14" name="Shape 12"/>
          <p:cNvSpPr/>
          <p:nvPr/>
        </p:nvSpPr>
        <p:spPr>
          <a:xfrm>
            <a:off x="6858001" y="1128713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15" name="Text 13"/>
          <p:cNvSpPr/>
          <p:nvPr/>
        </p:nvSpPr>
        <p:spPr>
          <a:xfrm>
            <a:off x="6962776" y="1095375"/>
            <a:ext cx="5715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Create the plan</a:t>
            </a:r>
            <a:endParaRPr lang="en-US" sz="641" dirty="0"/>
          </a:p>
        </p:txBody>
      </p:sp>
      <p:sp>
        <p:nvSpPr>
          <p:cNvPr id="16" name="Shape 14"/>
          <p:cNvSpPr/>
          <p:nvPr/>
        </p:nvSpPr>
        <p:spPr>
          <a:xfrm>
            <a:off x="6858001" y="1276350"/>
            <a:ext cx="1907000" cy="114300"/>
          </a:xfrm>
          <a:prstGeom prst="rect">
            <a:avLst/>
          </a:prstGeom>
          <a:noFill/>
          <a:ln/>
        </p:spPr>
      </p:sp>
      <p:sp>
        <p:nvSpPr>
          <p:cNvPr id="17" name="Shape 15"/>
          <p:cNvSpPr/>
          <p:nvPr/>
        </p:nvSpPr>
        <p:spPr>
          <a:xfrm>
            <a:off x="6858001" y="1309688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18" name="Text 16"/>
          <p:cNvSpPr/>
          <p:nvPr/>
        </p:nvSpPr>
        <p:spPr>
          <a:xfrm>
            <a:off x="6962776" y="1276350"/>
            <a:ext cx="37623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Add items</a:t>
            </a:r>
            <a:endParaRPr lang="en-US" sz="641" dirty="0"/>
          </a:p>
        </p:txBody>
      </p:sp>
      <p:sp>
        <p:nvSpPr>
          <p:cNvPr id="19" name="Shape 17"/>
          <p:cNvSpPr/>
          <p:nvPr/>
        </p:nvSpPr>
        <p:spPr>
          <a:xfrm>
            <a:off x="6858001" y="145732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20" name="Shape 18"/>
          <p:cNvSpPr/>
          <p:nvPr/>
        </p:nvSpPr>
        <p:spPr>
          <a:xfrm>
            <a:off x="6858001" y="1490663"/>
            <a:ext cx="47625" cy="47625"/>
          </a:xfrm>
          <a:prstGeom prst="ellipse">
            <a:avLst/>
          </a:prstGeom>
          <a:solidFill>
            <a:srgbClr val="00B1F5"/>
          </a:solidFill>
          <a:ln/>
        </p:spPr>
      </p:sp>
      <p:sp>
        <p:nvSpPr>
          <p:cNvPr id="21" name="Text 19"/>
          <p:cNvSpPr/>
          <p:nvPr/>
        </p:nvSpPr>
        <p:spPr>
          <a:xfrm>
            <a:off x="6962776" y="1457325"/>
            <a:ext cx="74295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18232A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Submit and validate</a:t>
            </a:r>
            <a:endParaRPr lang="en-US" sz="641" dirty="0"/>
          </a:p>
        </p:txBody>
      </p:sp>
      <p:sp>
        <p:nvSpPr>
          <p:cNvPr id="22" name="Shape 20"/>
          <p:cNvSpPr/>
          <p:nvPr/>
        </p:nvSpPr>
        <p:spPr>
          <a:xfrm>
            <a:off x="6858001" y="1638300"/>
            <a:ext cx="1907000" cy="114300"/>
          </a:xfrm>
          <a:prstGeom prst="rect">
            <a:avLst/>
          </a:prstGeom>
          <a:noFill/>
          <a:ln/>
        </p:spPr>
      </p:sp>
      <p:sp>
        <p:nvSpPr>
          <p:cNvPr id="23" name="Shape 21"/>
          <p:cNvSpPr/>
          <p:nvPr/>
        </p:nvSpPr>
        <p:spPr>
          <a:xfrm>
            <a:off x="6858001" y="1671638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24" name="Text 22"/>
          <p:cNvSpPr/>
          <p:nvPr/>
        </p:nvSpPr>
        <p:spPr>
          <a:xfrm>
            <a:off x="6962776" y="1638300"/>
            <a:ext cx="73342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Wait for the window</a:t>
            </a:r>
            <a:endParaRPr lang="en-US" sz="641" dirty="0"/>
          </a:p>
        </p:txBody>
      </p:sp>
      <p:sp>
        <p:nvSpPr>
          <p:cNvPr id="25" name="Shape 23"/>
          <p:cNvSpPr/>
          <p:nvPr/>
        </p:nvSpPr>
        <p:spPr>
          <a:xfrm>
            <a:off x="6858001" y="181927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26" name="Shape 24"/>
          <p:cNvSpPr/>
          <p:nvPr/>
        </p:nvSpPr>
        <p:spPr>
          <a:xfrm>
            <a:off x="6858001" y="1852612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27" name="Text 25"/>
          <p:cNvSpPr/>
          <p:nvPr/>
        </p:nvSpPr>
        <p:spPr>
          <a:xfrm>
            <a:off x="6962776" y="1819275"/>
            <a:ext cx="6096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Run and monitor</a:t>
            </a:r>
            <a:endParaRPr lang="en-US" sz="641" dirty="0"/>
          </a:p>
        </p:txBody>
      </p:sp>
      <p:sp>
        <p:nvSpPr>
          <p:cNvPr id="28" name="Shape 26"/>
          <p:cNvSpPr/>
          <p:nvPr/>
        </p:nvSpPr>
        <p:spPr>
          <a:xfrm>
            <a:off x="6858001" y="2000250"/>
            <a:ext cx="1907000" cy="114300"/>
          </a:xfrm>
          <a:prstGeom prst="rect">
            <a:avLst/>
          </a:prstGeom>
          <a:noFill/>
          <a:ln/>
        </p:spPr>
      </p:sp>
      <p:sp>
        <p:nvSpPr>
          <p:cNvPr id="29" name="Shape 27"/>
          <p:cNvSpPr/>
          <p:nvPr/>
        </p:nvSpPr>
        <p:spPr>
          <a:xfrm>
            <a:off x="6858001" y="2033588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30" name="Text 28"/>
          <p:cNvSpPr/>
          <p:nvPr/>
        </p:nvSpPr>
        <p:spPr>
          <a:xfrm>
            <a:off x="6962776" y="2000250"/>
            <a:ext cx="6905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Handle exceptions</a:t>
            </a:r>
            <a:endParaRPr lang="en-US" sz="641" dirty="0"/>
          </a:p>
        </p:txBody>
      </p:sp>
      <p:sp>
        <p:nvSpPr>
          <p:cNvPr id="31" name="Shape 29"/>
          <p:cNvSpPr/>
          <p:nvPr/>
        </p:nvSpPr>
        <p:spPr>
          <a:xfrm>
            <a:off x="6858001" y="218122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32" name="Shape 30"/>
          <p:cNvSpPr/>
          <p:nvPr/>
        </p:nvSpPr>
        <p:spPr>
          <a:xfrm>
            <a:off x="6858001" y="2214563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33" name="Text 31"/>
          <p:cNvSpPr/>
          <p:nvPr/>
        </p:nvSpPr>
        <p:spPr>
          <a:xfrm>
            <a:off x="6962776" y="2181225"/>
            <a:ext cx="6381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See the outcome</a:t>
            </a:r>
            <a:endParaRPr lang="en-US" sz="641" dirty="0"/>
          </a:p>
        </p:txBody>
      </p:sp>
      <p:pic>
        <p:nvPicPr>
          <p:cNvPr id="3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81000" y="714375"/>
            <a:ext cx="6210300" cy="4095750"/>
          </a:xfrm>
          <a:prstGeom prst="rect">
            <a:avLst/>
          </a:prstGeom>
        </p:spPr>
      </p:pic>
      <p:sp>
        <p:nvSpPr>
          <p:cNvPr id="35" name="Shape 32"/>
          <p:cNvSpPr/>
          <p:nvPr/>
        </p:nvSpPr>
        <p:spPr>
          <a:xfrm>
            <a:off x="381000" y="4886325"/>
            <a:ext cx="8382000" cy="9525"/>
          </a:xfrm>
          <a:prstGeom prst="rect">
            <a:avLst/>
          </a:prstGeom>
          <a:solidFill>
            <a:srgbClr val="00B1F5"/>
          </a:solidFill>
          <a:ln/>
        </p:spPr>
      </p:sp>
      <p:sp>
        <p:nvSpPr>
          <p:cNvPr id="36" name="Text 33"/>
          <p:cNvSpPr/>
          <p:nvPr/>
        </p:nvSpPr>
        <p:spPr>
          <a:xfrm>
            <a:off x="381000" y="4972050"/>
            <a:ext cx="438150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70"/>
              </a:lnSpc>
              <a:buNone/>
            </a:pPr>
            <a:r>
              <a:rPr lang="en-US" sz="463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Internal use only</a:t>
            </a:r>
            <a:endParaRPr lang="en-US" sz="463" dirty="0"/>
          </a:p>
        </p:txBody>
      </p:sp>
      <p:sp>
        <p:nvSpPr>
          <p:cNvPr id="37" name="Shape 34"/>
          <p:cNvSpPr/>
          <p:nvPr/>
        </p:nvSpPr>
        <p:spPr>
          <a:xfrm>
            <a:off x="8077200" y="4924425"/>
            <a:ext cx="684389" cy="133350"/>
          </a:xfrm>
          <a:prstGeom prst="rect">
            <a:avLst/>
          </a:prstGeom>
          <a:noFill/>
          <a:ln/>
        </p:spPr>
      </p:sp>
      <p:pic>
        <p:nvPicPr>
          <p:cNvPr id="38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206665" y="4948089"/>
            <a:ext cx="537666" cy="89241"/>
          </a:xfrm>
          <a:prstGeom prst="rect">
            <a:avLst/>
          </a:prstGeom>
        </p:spPr>
      </p:pic>
      <p:pic>
        <p:nvPicPr>
          <p:cNvPr id="39" name="Image 2" descr="preencoded.png">    </p:cNvPr>
          <p:cNvPicPr>
            <a:picLocks noChangeAspect="1"/>
          </p:cNvPicPr>
          <p:nvPr/>
        </p:nvPicPr>
        <p:blipFill>
          <a:blip r:embed="rId3"/>
          <a:srcRect l="0" r="67575" t="0" b="80646"/>
          <a:stretch/>
        </p:blipFill>
        <p:spPr>
          <a:xfrm>
            <a:off x="7356834" y="4579576"/>
            <a:ext cx="345665" cy="1333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43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381000" y="209550"/>
            <a:ext cx="4605338" cy="228600"/>
          </a:xfrm>
          <a:prstGeom prst="rect">
            <a:avLst/>
          </a:prstGeom>
          <a:noFill/>
          <a:ln/>
        </p:spPr>
      </p:sp>
      <p:sp>
        <p:nvSpPr>
          <p:cNvPr id="4" name="Text 2"/>
          <p:cNvSpPr/>
          <p:nvPr/>
        </p:nvSpPr>
        <p:spPr>
          <a:xfrm>
            <a:off x="381000" y="209550"/>
            <a:ext cx="1666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00B1F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Wait for the window</a:t>
            </a:r>
            <a:endParaRPr lang="en-US" sz="1425" dirty="0"/>
          </a:p>
        </p:txBody>
      </p:sp>
      <p:sp>
        <p:nvSpPr>
          <p:cNvPr id="5" name="Shape 3"/>
          <p:cNvSpPr/>
          <p:nvPr/>
        </p:nvSpPr>
        <p:spPr>
          <a:xfrm>
            <a:off x="2114550" y="228600"/>
            <a:ext cx="14288" cy="190500"/>
          </a:xfrm>
          <a:prstGeom prst="rect">
            <a:avLst/>
          </a:prstGeom>
          <a:solidFill>
            <a:srgbClr val="00B1F5"/>
          </a:solidFill>
          <a:ln/>
        </p:spPr>
      </p:sp>
      <p:sp>
        <p:nvSpPr>
          <p:cNvPr id="6" name="Text 4"/>
          <p:cNvSpPr/>
          <p:nvPr/>
        </p:nvSpPr>
        <p:spPr>
          <a:xfrm>
            <a:off x="2195513" y="209550"/>
            <a:ext cx="2790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18232A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Scheduled until the window opens</a:t>
            </a:r>
            <a:endParaRPr lang="en-US" sz="1425" dirty="0"/>
          </a:p>
        </p:txBody>
      </p:sp>
      <p:sp>
        <p:nvSpPr>
          <p:cNvPr id="7" name="Text 5"/>
          <p:cNvSpPr/>
          <p:nvPr/>
        </p:nvSpPr>
        <p:spPr>
          <a:xfrm>
            <a:off x="381000" y="476250"/>
            <a:ext cx="83820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784" dirty="0">
                <a:solidFill>
                  <a:srgbClr val="5D6B7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Validation passed and the change record is in place. The plan waits for its change window.</a:t>
            </a:r>
            <a:endParaRPr lang="en-US" sz="784" dirty="0"/>
          </a:p>
        </p:txBody>
      </p:sp>
      <p:sp>
        <p:nvSpPr>
          <p:cNvPr id="8" name="Shape 6"/>
          <p:cNvSpPr/>
          <p:nvPr/>
        </p:nvSpPr>
        <p:spPr>
          <a:xfrm>
            <a:off x="6858001" y="752475"/>
            <a:ext cx="1907000" cy="1543050"/>
          </a:xfrm>
          <a:prstGeom prst="rect">
            <a:avLst/>
          </a:prstGeom>
          <a:noFill/>
          <a:ln/>
        </p:spPr>
      </p:sp>
      <p:sp>
        <p:nvSpPr>
          <p:cNvPr id="9" name="Text 7"/>
          <p:cNvSpPr/>
          <p:nvPr/>
        </p:nvSpPr>
        <p:spPr>
          <a:xfrm>
            <a:off x="6858001" y="752475"/>
            <a:ext cx="44767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13"/>
              </a:lnSpc>
              <a:buNone/>
            </a:pPr>
            <a:r>
              <a:rPr lang="en-US" sz="570" spc="34" kern="0" dirty="0">
                <a:solidFill>
                  <a:srgbClr val="00B1F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STEP 5 OF 8</a:t>
            </a:r>
            <a:endParaRPr lang="en-US" sz="570" dirty="0"/>
          </a:p>
        </p:txBody>
      </p:sp>
      <p:sp>
        <p:nvSpPr>
          <p:cNvPr id="10" name="Shape 8"/>
          <p:cNvSpPr/>
          <p:nvPr/>
        </p:nvSpPr>
        <p:spPr>
          <a:xfrm>
            <a:off x="6858001" y="914400"/>
            <a:ext cx="1905000" cy="114300"/>
          </a:xfrm>
          <a:prstGeom prst="rect">
            <a:avLst/>
          </a:prstGeom>
          <a:noFill/>
          <a:ln/>
        </p:spPr>
      </p:sp>
      <p:sp>
        <p:nvSpPr>
          <p:cNvPr id="11" name="Shape 9"/>
          <p:cNvSpPr/>
          <p:nvPr/>
        </p:nvSpPr>
        <p:spPr>
          <a:xfrm>
            <a:off x="6858001" y="947737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12" name="Text 10"/>
          <p:cNvSpPr/>
          <p:nvPr/>
        </p:nvSpPr>
        <p:spPr>
          <a:xfrm>
            <a:off x="6962776" y="914400"/>
            <a:ext cx="5381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Find your work</a:t>
            </a:r>
            <a:endParaRPr lang="en-US" sz="641" dirty="0"/>
          </a:p>
        </p:txBody>
      </p:sp>
      <p:sp>
        <p:nvSpPr>
          <p:cNvPr id="13" name="Shape 11"/>
          <p:cNvSpPr/>
          <p:nvPr/>
        </p:nvSpPr>
        <p:spPr>
          <a:xfrm>
            <a:off x="6858001" y="109537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14" name="Shape 12"/>
          <p:cNvSpPr/>
          <p:nvPr/>
        </p:nvSpPr>
        <p:spPr>
          <a:xfrm>
            <a:off x="6858001" y="1128713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15" name="Text 13"/>
          <p:cNvSpPr/>
          <p:nvPr/>
        </p:nvSpPr>
        <p:spPr>
          <a:xfrm>
            <a:off x="6962776" y="1095375"/>
            <a:ext cx="5715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Create the plan</a:t>
            </a:r>
            <a:endParaRPr lang="en-US" sz="641" dirty="0"/>
          </a:p>
        </p:txBody>
      </p:sp>
      <p:sp>
        <p:nvSpPr>
          <p:cNvPr id="16" name="Shape 14"/>
          <p:cNvSpPr/>
          <p:nvPr/>
        </p:nvSpPr>
        <p:spPr>
          <a:xfrm>
            <a:off x="6858001" y="1276350"/>
            <a:ext cx="1907000" cy="114300"/>
          </a:xfrm>
          <a:prstGeom prst="rect">
            <a:avLst/>
          </a:prstGeom>
          <a:noFill/>
          <a:ln/>
        </p:spPr>
      </p:sp>
      <p:sp>
        <p:nvSpPr>
          <p:cNvPr id="17" name="Shape 15"/>
          <p:cNvSpPr/>
          <p:nvPr/>
        </p:nvSpPr>
        <p:spPr>
          <a:xfrm>
            <a:off x="6858001" y="1309688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18" name="Text 16"/>
          <p:cNvSpPr/>
          <p:nvPr/>
        </p:nvSpPr>
        <p:spPr>
          <a:xfrm>
            <a:off x="6962776" y="1276350"/>
            <a:ext cx="37623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Add items</a:t>
            </a:r>
            <a:endParaRPr lang="en-US" sz="641" dirty="0"/>
          </a:p>
        </p:txBody>
      </p:sp>
      <p:sp>
        <p:nvSpPr>
          <p:cNvPr id="19" name="Shape 17"/>
          <p:cNvSpPr/>
          <p:nvPr/>
        </p:nvSpPr>
        <p:spPr>
          <a:xfrm>
            <a:off x="6858001" y="145732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20" name="Shape 18"/>
          <p:cNvSpPr/>
          <p:nvPr/>
        </p:nvSpPr>
        <p:spPr>
          <a:xfrm>
            <a:off x="6858001" y="1490663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21" name="Text 19"/>
          <p:cNvSpPr/>
          <p:nvPr/>
        </p:nvSpPr>
        <p:spPr>
          <a:xfrm>
            <a:off x="6962776" y="1457325"/>
            <a:ext cx="7286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Submit and validate</a:t>
            </a:r>
            <a:endParaRPr lang="en-US" sz="641" dirty="0"/>
          </a:p>
        </p:txBody>
      </p:sp>
      <p:sp>
        <p:nvSpPr>
          <p:cNvPr id="22" name="Shape 20"/>
          <p:cNvSpPr/>
          <p:nvPr/>
        </p:nvSpPr>
        <p:spPr>
          <a:xfrm>
            <a:off x="6858001" y="1638300"/>
            <a:ext cx="1907000" cy="114300"/>
          </a:xfrm>
          <a:prstGeom prst="rect">
            <a:avLst/>
          </a:prstGeom>
          <a:noFill/>
          <a:ln/>
        </p:spPr>
      </p:sp>
      <p:sp>
        <p:nvSpPr>
          <p:cNvPr id="23" name="Shape 21"/>
          <p:cNvSpPr/>
          <p:nvPr/>
        </p:nvSpPr>
        <p:spPr>
          <a:xfrm>
            <a:off x="6858001" y="1671638"/>
            <a:ext cx="47625" cy="47625"/>
          </a:xfrm>
          <a:prstGeom prst="ellipse">
            <a:avLst/>
          </a:prstGeom>
          <a:solidFill>
            <a:srgbClr val="00B1F5"/>
          </a:solidFill>
          <a:ln/>
        </p:spPr>
      </p:sp>
      <p:sp>
        <p:nvSpPr>
          <p:cNvPr id="24" name="Text 22"/>
          <p:cNvSpPr/>
          <p:nvPr/>
        </p:nvSpPr>
        <p:spPr>
          <a:xfrm>
            <a:off x="6962776" y="1638300"/>
            <a:ext cx="7524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18232A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Wait for the window</a:t>
            </a:r>
            <a:endParaRPr lang="en-US" sz="641" dirty="0"/>
          </a:p>
        </p:txBody>
      </p:sp>
      <p:sp>
        <p:nvSpPr>
          <p:cNvPr id="25" name="Shape 23"/>
          <p:cNvSpPr/>
          <p:nvPr/>
        </p:nvSpPr>
        <p:spPr>
          <a:xfrm>
            <a:off x="6858001" y="181927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26" name="Shape 24"/>
          <p:cNvSpPr/>
          <p:nvPr/>
        </p:nvSpPr>
        <p:spPr>
          <a:xfrm>
            <a:off x="6858001" y="1852612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27" name="Text 25"/>
          <p:cNvSpPr/>
          <p:nvPr/>
        </p:nvSpPr>
        <p:spPr>
          <a:xfrm>
            <a:off x="6962776" y="1819275"/>
            <a:ext cx="6096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Run and monitor</a:t>
            </a:r>
            <a:endParaRPr lang="en-US" sz="641" dirty="0"/>
          </a:p>
        </p:txBody>
      </p:sp>
      <p:sp>
        <p:nvSpPr>
          <p:cNvPr id="28" name="Shape 26"/>
          <p:cNvSpPr/>
          <p:nvPr/>
        </p:nvSpPr>
        <p:spPr>
          <a:xfrm>
            <a:off x="6858001" y="2000250"/>
            <a:ext cx="1907000" cy="114300"/>
          </a:xfrm>
          <a:prstGeom prst="rect">
            <a:avLst/>
          </a:prstGeom>
          <a:noFill/>
          <a:ln/>
        </p:spPr>
      </p:sp>
      <p:sp>
        <p:nvSpPr>
          <p:cNvPr id="29" name="Shape 27"/>
          <p:cNvSpPr/>
          <p:nvPr/>
        </p:nvSpPr>
        <p:spPr>
          <a:xfrm>
            <a:off x="6858001" y="2033588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30" name="Text 28"/>
          <p:cNvSpPr/>
          <p:nvPr/>
        </p:nvSpPr>
        <p:spPr>
          <a:xfrm>
            <a:off x="6962776" y="2000250"/>
            <a:ext cx="6905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Handle exceptions</a:t>
            </a:r>
            <a:endParaRPr lang="en-US" sz="641" dirty="0"/>
          </a:p>
        </p:txBody>
      </p:sp>
      <p:sp>
        <p:nvSpPr>
          <p:cNvPr id="31" name="Shape 29"/>
          <p:cNvSpPr/>
          <p:nvPr/>
        </p:nvSpPr>
        <p:spPr>
          <a:xfrm>
            <a:off x="6858001" y="218122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32" name="Shape 30"/>
          <p:cNvSpPr/>
          <p:nvPr/>
        </p:nvSpPr>
        <p:spPr>
          <a:xfrm>
            <a:off x="6858001" y="2214563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33" name="Text 31"/>
          <p:cNvSpPr/>
          <p:nvPr/>
        </p:nvSpPr>
        <p:spPr>
          <a:xfrm>
            <a:off x="6962776" y="2181225"/>
            <a:ext cx="6381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See the outcome</a:t>
            </a:r>
            <a:endParaRPr lang="en-US" sz="641" dirty="0"/>
          </a:p>
        </p:txBody>
      </p:sp>
      <p:pic>
        <p:nvPicPr>
          <p:cNvPr id="3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81000" y="714375"/>
            <a:ext cx="6210300" cy="4095750"/>
          </a:xfrm>
          <a:prstGeom prst="rect">
            <a:avLst/>
          </a:prstGeom>
        </p:spPr>
      </p:pic>
      <p:sp>
        <p:nvSpPr>
          <p:cNvPr id="35" name="Shape 32"/>
          <p:cNvSpPr/>
          <p:nvPr/>
        </p:nvSpPr>
        <p:spPr>
          <a:xfrm>
            <a:off x="381000" y="4886325"/>
            <a:ext cx="8382000" cy="9525"/>
          </a:xfrm>
          <a:prstGeom prst="rect">
            <a:avLst/>
          </a:prstGeom>
          <a:solidFill>
            <a:srgbClr val="00B1F5"/>
          </a:solidFill>
          <a:ln/>
        </p:spPr>
      </p:sp>
      <p:sp>
        <p:nvSpPr>
          <p:cNvPr id="36" name="Text 33"/>
          <p:cNvSpPr/>
          <p:nvPr/>
        </p:nvSpPr>
        <p:spPr>
          <a:xfrm>
            <a:off x="381000" y="4972050"/>
            <a:ext cx="438150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70"/>
              </a:lnSpc>
              <a:buNone/>
            </a:pPr>
            <a:r>
              <a:rPr lang="en-US" sz="463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Internal use only</a:t>
            </a:r>
            <a:endParaRPr lang="en-US" sz="463" dirty="0"/>
          </a:p>
        </p:txBody>
      </p:sp>
      <p:sp>
        <p:nvSpPr>
          <p:cNvPr id="37" name="Shape 34"/>
          <p:cNvSpPr/>
          <p:nvPr/>
        </p:nvSpPr>
        <p:spPr>
          <a:xfrm>
            <a:off x="8077200" y="4924425"/>
            <a:ext cx="684389" cy="133350"/>
          </a:xfrm>
          <a:prstGeom prst="rect">
            <a:avLst/>
          </a:prstGeom>
          <a:noFill/>
          <a:ln/>
        </p:spPr>
      </p:sp>
      <p:pic>
        <p:nvPicPr>
          <p:cNvPr id="38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206665" y="4948089"/>
            <a:ext cx="537666" cy="89241"/>
          </a:xfrm>
          <a:prstGeom prst="rect">
            <a:avLst/>
          </a:prstGeom>
        </p:spPr>
      </p:pic>
      <p:pic>
        <p:nvPicPr>
          <p:cNvPr id="39" name="Image 2" descr="preencoded.png">    </p:cNvPr>
          <p:cNvPicPr>
            <a:picLocks noChangeAspect="1"/>
          </p:cNvPicPr>
          <p:nvPr/>
        </p:nvPicPr>
        <p:blipFill>
          <a:blip r:embed="rId3"/>
          <a:srcRect l="0" r="67575" t="0" b="80646"/>
          <a:stretch/>
        </p:blipFill>
        <p:spPr>
          <a:xfrm>
            <a:off x="7356834" y="4579576"/>
            <a:ext cx="345665" cy="1333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43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381000" y="209550"/>
            <a:ext cx="4633913" cy="228600"/>
          </a:xfrm>
          <a:prstGeom prst="rect">
            <a:avLst/>
          </a:prstGeom>
          <a:noFill/>
          <a:ln/>
        </p:spPr>
      </p:sp>
      <p:sp>
        <p:nvSpPr>
          <p:cNvPr id="4" name="Text 2"/>
          <p:cNvSpPr/>
          <p:nvPr/>
        </p:nvSpPr>
        <p:spPr>
          <a:xfrm>
            <a:off x="381000" y="209550"/>
            <a:ext cx="13763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00B1F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Run and monitor</a:t>
            </a:r>
            <a:endParaRPr lang="en-US" sz="1425" dirty="0"/>
          </a:p>
        </p:txBody>
      </p:sp>
      <p:sp>
        <p:nvSpPr>
          <p:cNvPr id="5" name="Shape 3"/>
          <p:cNvSpPr/>
          <p:nvPr/>
        </p:nvSpPr>
        <p:spPr>
          <a:xfrm>
            <a:off x="1824038" y="228600"/>
            <a:ext cx="14288" cy="190500"/>
          </a:xfrm>
          <a:prstGeom prst="rect">
            <a:avLst/>
          </a:prstGeom>
          <a:solidFill>
            <a:srgbClr val="00B1F5"/>
          </a:solidFill>
          <a:ln/>
        </p:spPr>
      </p:sp>
      <p:sp>
        <p:nvSpPr>
          <p:cNvPr id="6" name="Text 4"/>
          <p:cNvSpPr/>
          <p:nvPr/>
        </p:nvSpPr>
        <p:spPr>
          <a:xfrm>
            <a:off x="1905000" y="209550"/>
            <a:ext cx="310991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18232A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The plan runs when the window opens</a:t>
            </a:r>
            <a:endParaRPr lang="en-US" sz="1425" dirty="0"/>
          </a:p>
        </p:txBody>
      </p:sp>
      <p:sp>
        <p:nvSpPr>
          <p:cNvPr id="7" name="Text 5"/>
          <p:cNvSpPr/>
          <p:nvPr/>
        </p:nvSpPr>
        <p:spPr>
          <a:xfrm>
            <a:off x="381000" y="476250"/>
            <a:ext cx="83820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784" dirty="0">
                <a:solidFill>
                  <a:srgbClr val="5D6B7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The plan workflow starts and items run in parallel. Each step shows where the plan stands.</a:t>
            </a:r>
            <a:endParaRPr lang="en-US" sz="784" dirty="0"/>
          </a:p>
        </p:txBody>
      </p:sp>
      <p:sp>
        <p:nvSpPr>
          <p:cNvPr id="8" name="Shape 6"/>
          <p:cNvSpPr/>
          <p:nvPr/>
        </p:nvSpPr>
        <p:spPr>
          <a:xfrm>
            <a:off x="6858001" y="752475"/>
            <a:ext cx="1907000" cy="1543050"/>
          </a:xfrm>
          <a:prstGeom prst="rect">
            <a:avLst/>
          </a:prstGeom>
          <a:noFill/>
          <a:ln/>
        </p:spPr>
      </p:sp>
      <p:sp>
        <p:nvSpPr>
          <p:cNvPr id="9" name="Text 7"/>
          <p:cNvSpPr/>
          <p:nvPr/>
        </p:nvSpPr>
        <p:spPr>
          <a:xfrm>
            <a:off x="6858001" y="752475"/>
            <a:ext cx="44767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13"/>
              </a:lnSpc>
              <a:buNone/>
            </a:pPr>
            <a:r>
              <a:rPr lang="en-US" sz="570" spc="34" kern="0" dirty="0">
                <a:solidFill>
                  <a:srgbClr val="00B1F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STEP 6 OF 8</a:t>
            </a:r>
            <a:endParaRPr lang="en-US" sz="570" dirty="0"/>
          </a:p>
        </p:txBody>
      </p:sp>
      <p:sp>
        <p:nvSpPr>
          <p:cNvPr id="10" name="Shape 8"/>
          <p:cNvSpPr/>
          <p:nvPr/>
        </p:nvSpPr>
        <p:spPr>
          <a:xfrm>
            <a:off x="6858001" y="914400"/>
            <a:ext cx="1905000" cy="114300"/>
          </a:xfrm>
          <a:prstGeom prst="rect">
            <a:avLst/>
          </a:prstGeom>
          <a:noFill/>
          <a:ln/>
        </p:spPr>
      </p:sp>
      <p:sp>
        <p:nvSpPr>
          <p:cNvPr id="11" name="Shape 9"/>
          <p:cNvSpPr/>
          <p:nvPr/>
        </p:nvSpPr>
        <p:spPr>
          <a:xfrm>
            <a:off x="6858001" y="947737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12" name="Text 10"/>
          <p:cNvSpPr/>
          <p:nvPr/>
        </p:nvSpPr>
        <p:spPr>
          <a:xfrm>
            <a:off x="6962776" y="914400"/>
            <a:ext cx="5381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Find your work</a:t>
            </a:r>
            <a:endParaRPr lang="en-US" sz="641" dirty="0"/>
          </a:p>
        </p:txBody>
      </p:sp>
      <p:sp>
        <p:nvSpPr>
          <p:cNvPr id="13" name="Shape 11"/>
          <p:cNvSpPr/>
          <p:nvPr/>
        </p:nvSpPr>
        <p:spPr>
          <a:xfrm>
            <a:off x="6858001" y="109537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14" name="Shape 12"/>
          <p:cNvSpPr/>
          <p:nvPr/>
        </p:nvSpPr>
        <p:spPr>
          <a:xfrm>
            <a:off x="6858001" y="1128713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15" name="Text 13"/>
          <p:cNvSpPr/>
          <p:nvPr/>
        </p:nvSpPr>
        <p:spPr>
          <a:xfrm>
            <a:off x="6962776" y="1095375"/>
            <a:ext cx="5715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Create the plan</a:t>
            </a:r>
            <a:endParaRPr lang="en-US" sz="641" dirty="0"/>
          </a:p>
        </p:txBody>
      </p:sp>
      <p:sp>
        <p:nvSpPr>
          <p:cNvPr id="16" name="Shape 14"/>
          <p:cNvSpPr/>
          <p:nvPr/>
        </p:nvSpPr>
        <p:spPr>
          <a:xfrm>
            <a:off x="6858001" y="1276350"/>
            <a:ext cx="1907000" cy="114300"/>
          </a:xfrm>
          <a:prstGeom prst="rect">
            <a:avLst/>
          </a:prstGeom>
          <a:noFill/>
          <a:ln/>
        </p:spPr>
      </p:sp>
      <p:sp>
        <p:nvSpPr>
          <p:cNvPr id="17" name="Shape 15"/>
          <p:cNvSpPr/>
          <p:nvPr/>
        </p:nvSpPr>
        <p:spPr>
          <a:xfrm>
            <a:off x="6858001" y="1309688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18" name="Text 16"/>
          <p:cNvSpPr/>
          <p:nvPr/>
        </p:nvSpPr>
        <p:spPr>
          <a:xfrm>
            <a:off x="6962776" y="1276350"/>
            <a:ext cx="37623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Add items</a:t>
            </a:r>
            <a:endParaRPr lang="en-US" sz="641" dirty="0"/>
          </a:p>
        </p:txBody>
      </p:sp>
      <p:sp>
        <p:nvSpPr>
          <p:cNvPr id="19" name="Shape 17"/>
          <p:cNvSpPr/>
          <p:nvPr/>
        </p:nvSpPr>
        <p:spPr>
          <a:xfrm>
            <a:off x="6858001" y="145732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20" name="Shape 18"/>
          <p:cNvSpPr/>
          <p:nvPr/>
        </p:nvSpPr>
        <p:spPr>
          <a:xfrm>
            <a:off x="6858001" y="1490663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21" name="Text 19"/>
          <p:cNvSpPr/>
          <p:nvPr/>
        </p:nvSpPr>
        <p:spPr>
          <a:xfrm>
            <a:off x="6962776" y="1457325"/>
            <a:ext cx="7286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Submit and validate</a:t>
            </a:r>
            <a:endParaRPr lang="en-US" sz="641" dirty="0"/>
          </a:p>
        </p:txBody>
      </p:sp>
      <p:sp>
        <p:nvSpPr>
          <p:cNvPr id="22" name="Shape 20"/>
          <p:cNvSpPr/>
          <p:nvPr/>
        </p:nvSpPr>
        <p:spPr>
          <a:xfrm>
            <a:off x="6858001" y="1638300"/>
            <a:ext cx="1907000" cy="114300"/>
          </a:xfrm>
          <a:prstGeom prst="rect">
            <a:avLst/>
          </a:prstGeom>
          <a:noFill/>
          <a:ln/>
        </p:spPr>
      </p:sp>
      <p:sp>
        <p:nvSpPr>
          <p:cNvPr id="23" name="Shape 21"/>
          <p:cNvSpPr/>
          <p:nvPr/>
        </p:nvSpPr>
        <p:spPr>
          <a:xfrm>
            <a:off x="6858001" y="1671638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24" name="Text 22"/>
          <p:cNvSpPr/>
          <p:nvPr/>
        </p:nvSpPr>
        <p:spPr>
          <a:xfrm>
            <a:off x="6962776" y="1638300"/>
            <a:ext cx="73342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Wait for the window</a:t>
            </a:r>
            <a:endParaRPr lang="en-US" sz="641" dirty="0"/>
          </a:p>
        </p:txBody>
      </p:sp>
      <p:sp>
        <p:nvSpPr>
          <p:cNvPr id="25" name="Shape 23"/>
          <p:cNvSpPr/>
          <p:nvPr/>
        </p:nvSpPr>
        <p:spPr>
          <a:xfrm>
            <a:off x="6858001" y="181927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26" name="Shape 24"/>
          <p:cNvSpPr/>
          <p:nvPr/>
        </p:nvSpPr>
        <p:spPr>
          <a:xfrm>
            <a:off x="6858001" y="1852612"/>
            <a:ext cx="47625" cy="47625"/>
          </a:xfrm>
          <a:prstGeom prst="ellipse">
            <a:avLst/>
          </a:prstGeom>
          <a:solidFill>
            <a:srgbClr val="00B1F5"/>
          </a:solidFill>
          <a:ln/>
        </p:spPr>
      </p:sp>
      <p:sp>
        <p:nvSpPr>
          <p:cNvPr id="27" name="Text 25"/>
          <p:cNvSpPr/>
          <p:nvPr/>
        </p:nvSpPr>
        <p:spPr>
          <a:xfrm>
            <a:off x="6962776" y="1819275"/>
            <a:ext cx="62388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18232A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Run and monitor</a:t>
            </a:r>
            <a:endParaRPr lang="en-US" sz="641" dirty="0"/>
          </a:p>
        </p:txBody>
      </p:sp>
      <p:sp>
        <p:nvSpPr>
          <p:cNvPr id="28" name="Shape 26"/>
          <p:cNvSpPr/>
          <p:nvPr/>
        </p:nvSpPr>
        <p:spPr>
          <a:xfrm>
            <a:off x="6858001" y="2000250"/>
            <a:ext cx="1907000" cy="114300"/>
          </a:xfrm>
          <a:prstGeom prst="rect">
            <a:avLst/>
          </a:prstGeom>
          <a:noFill/>
          <a:ln/>
        </p:spPr>
      </p:sp>
      <p:sp>
        <p:nvSpPr>
          <p:cNvPr id="29" name="Shape 27"/>
          <p:cNvSpPr/>
          <p:nvPr/>
        </p:nvSpPr>
        <p:spPr>
          <a:xfrm>
            <a:off x="6858001" y="2033588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30" name="Text 28"/>
          <p:cNvSpPr/>
          <p:nvPr/>
        </p:nvSpPr>
        <p:spPr>
          <a:xfrm>
            <a:off x="6962776" y="2000250"/>
            <a:ext cx="6905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Handle exceptions</a:t>
            </a:r>
            <a:endParaRPr lang="en-US" sz="641" dirty="0"/>
          </a:p>
        </p:txBody>
      </p:sp>
      <p:sp>
        <p:nvSpPr>
          <p:cNvPr id="31" name="Shape 29"/>
          <p:cNvSpPr/>
          <p:nvPr/>
        </p:nvSpPr>
        <p:spPr>
          <a:xfrm>
            <a:off x="6858001" y="218122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32" name="Shape 30"/>
          <p:cNvSpPr/>
          <p:nvPr/>
        </p:nvSpPr>
        <p:spPr>
          <a:xfrm>
            <a:off x="6858001" y="2214563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33" name="Text 31"/>
          <p:cNvSpPr/>
          <p:nvPr/>
        </p:nvSpPr>
        <p:spPr>
          <a:xfrm>
            <a:off x="6962776" y="2181225"/>
            <a:ext cx="6381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See the outcome</a:t>
            </a:r>
            <a:endParaRPr lang="en-US" sz="641" dirty="0"/>
          </a:p>
        </p:txBody>
      </p:sp>
      <p:pic>
        <p:nvPicPr>
          <p:cNvPr id="3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81000" y="714375"/>
            <a:ext cx="6210300" cy="4095750"/>
          </a:xfrm>
          <a:prstGeom prst="rect">
            <a:avLst/>
          </a:prstGeom>
        </p:spPr>
      </p:pic>
      <p:sp>
        <p:nvSpPr>
          <p:cNvPr id="35" name="Shape 32"/>
          <p:cNvSpPr/>
          <p:nvPr/>
        </p:nvSpPr>
        <p:spPr>
          <a:xfrm>
            <a:off x="381000" y="4886325"/>
            <a:ext cx="8382000" cy="9525"/>
          </a:xfrm>
          <a:prstGeom prst="rect">
            <a:avLst/>
          </a:prstGeom>
          <a:solidFill>
            <a:srgbClr val="00B1F5"/>
          </a:solidFill>
          <a:ln/>
        </p:spPr>
      </p:sp>
      <p:sp>
        <p:nvSpPr>
          <p:cNvPr id="36" name="Text 33"/>
          <p:cNvSpPr/>
          <p:nvPr/>
        </p:nvSpPr>
        <p:spPr>
          <a:xfrm>
            <a:off x="381000" y="4972050"/>
            <a:ext cx="438150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70"/>
              </a:lnSpc>
              <a:buNone/>
            </a:pPr>
            <a:r>
              <a:rPr lang="en-US" sz="463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Internal use only</a:t>
            </a:r>
            <a:endParaRPr lang="en-US" sz="463" dirty="0"/>
          </a:p>
        </p:txBody>
      </p:sp>
      <p:sp>
        <p:nvSpPr>
          <p:cNvPr id="37" name="Shape 34"/>
          <p:cNvSpPr/>
          <p:nvPr/>
        </p:nvSpPr>
        <p:spPr>
          <a:xfrm>
            <a:off x="8077200" y="4924425"/>
            <a:ext cx="684389" cy="133350"/>
          </a:xfrm>
          <a:prstGeom prst="rect">
            <a:avLst/>
          </a:prstGeom>
          <a:noFill/>
          <a:ln/>
        </p:spPr>
      </p:sp>
      <p:pic>
        <p:nvPicPr>
          <p:cNvPr id="38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206665" y="4948089"/>
            <a:ext cx="537666" cy="89241"/>
          </a:xfrm>
          <a:prstGeom prst="rect">
            <a:avLst/>
          </a:prstGeom>
        </p:spPr>
      </p:pic>
      <p:pic>
        <p:nvPicPr>
          <p:cNvPr id="39" name="Image 2" descr="preencoded.png">    </p:cNvPr>
          <p:cNvPicPr>
            <a:picLocks noChangeAspect="1"/>
          </p:cNvPicPr>
          <p:nvPr/>
        </p:nvPicPr>
        <p:blipFill>
          <a:blip r:embed="rId3"/>
          <a:srcRect l="0" r="67575" t="0" b="80646"/>
          <a:stretch/>
        </p:blipFill>
        <p:spPr>
          <a:xfrm>
            <a:off x="7356834" y="4579576"/>
            <a:ext cx="345665" cy="1333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43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381000" y="209550"/>
            <a:ext cx="3309938" cy="228600"/>
          </a:xfrm>
          <a:prstGeom prst="rect">
            <a:avLst/>
          </a:prstGeom>
          <a:noFill/>
          <a:ln/>
        </p:spPr>
      </p:sp>
      <p:sp>
        <p:nvSpPr>
          <p:cNvPr id="4" name="Text 2"/>
          <p:cNvSpPr/>
          <p:nvPr/>
        </p:nvSpPr>
        <p:spPr>
          <a:xfrm>
            <a:off x="381000" y="209550"/>
            <a:ext cx="13763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00B1F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Run and monitor</a:t>
            </a:r>
            <a:endParaRPr lang="en-US" sz="1425" dirty="0"/>
          </a:p>
        </p:txBody>
      </p:sp>
      <p:sp>
        <p:nvSpPr>
          <p:cNvPr id="5" name="Shape 3"/>
          <p:cNvSpPr/>
          <p:nvPr/>
        </p:nvSpPr>
        <p:spPr>
          <a:xfrm>
            <a:off x="1824038" y="228600"/>
            <a:ext cx="14288" cy="190500"/>
          </a:xfrm>
          <a:prstGeom prst="rect">
            <a:avLst/>
          </a:prstGeom>
          <a:solidFill>
            <a:srgbClr val="00B1F5"/>
          </a:solidFill>
          <a:ln/>
        </p:spPr>
      </p:sp>
      <p:sp>
        <p:nvSpPr>
          <p:cNvPr id="6" name="Text 4"/>
          <p:cNvSpPr/>
          <p:nvPr/>
        </p:nvSpPr>
        <p:spPr>
          <a:xfrm>
            <a:off x="1905000" y="209550"/>
            <a:ext cx="17859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18232A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Every item at a glance</a:t>
            </a:r>
            <a:endParaRPr lang="en-US" sz="1425" dirty="0"/>
          </a:p>
        </p:txBody>
      </p:sp>
      <p:sp>
        <p:nvSpPr>
          <p:cNvPr id="7" name="Text 5"/>
          <p:cNvSpPr/>
          <p:nvPr/>
        </p:nvSpPr>
        <p:spPr>
          <a:xfrm>
            <a:off x="381000" y="476250"/>
            <a:ext cx="83820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784" dirty="0">
                <a:solidFill>
                  <a:srgbClr val="5D6B7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Filter by what needs action, what failed, what is running and what is done. Open any item for its detail.</a:t>
            </a:r>
            <a:endParaRPr lang="en-US" sz="784" dirty="0"/>
          </a:p>
        </p:txBody>
      </p:sp>
      <p:sp>
        <p:nvSpPr>
          <p:cNvPr id="8" name="Shape 6"/>
          <p:cNvSpPr/>
          <p:nvPr/>
        </p:nvSpPr>
        <p:spPr>
          <a:xfrm>
            <a:off x="6858001" y="752475"/>
            <a:ext cx="1907000" cy="1543050"/>
          </a:xfrm>
          <a:prstGeom prst="rect">
            <a:avLst/>
          </a:prstGeom>
          <a:noFill/>
          <a:ln/>
        </p:spPr>
      </p:sp>
      <p:sp>
        <p:nvSpPr>
          <p:cNvPr id="9" name="Text 7"/>
          <p:cNvSpPr/>
          <p:nvPr/>
        </p:nvSpPr>
        <p:spPr>
          <a:xfrm>
            <a:off x="6858001" y="752475"/>
            <a:ext cx="44767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13"/>
              </a:lnSpc>
              <a:buNone/>
            </a:pPr>
            <a:r>
              <a:rPr lang="en-US" sz="570" spc="34" kern="0" dirty="0">
                <a:solidFill>
                  <a:srgbClr val="00B1F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STEP 6 OF 8</a:t>
            </a:r>
            <a:endParaRPr lang="en-US" sz="570" dirty="0"/>
          </a:p>
        </p:txBody>
      </p:sp>
      <p:sp>
        <p:nvSpPr>
          <p:cNvPr id="10" name="Shape 8"/>
          <p:cNvSpPr/>
          <p:nvPr/>
        </p:nvSpPr>
        <p:spPr>
          <a:xfrm>
            <a:off x="6858001" y="914400"/>
            <a:ext cx="1905000" cy="114300"/>
          </a:xfrm>
          <a:prstGeom prst="rect">
            <a:avLst/>
          </a:prstGeom>
          <a:noFill/>
          <a:ln/>
        </p:spPr>
      </p:sp>
      <p:sp>
        <p:nvSpPr>
          <p:cNvPr id="11" name="Shape 9"/>
          <p:cNvSpPr/>
          <p:nvPr/>
        </p:nvSpPr>
        <p:spPr>
          <a:xfrm>
            <a:off x="6858001" y="947737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12" name="Text 10"/>
          <p:cNvSpPr/>
          <p:nvPr/>
        </p:nvSpPr>
        <p:spPr>
          <a:xfrm>
            <a:off x="6962776" y="914400"/>
            <a:ext cx="5381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Find your work</a:t>
            </a:r>
            <a:endParaRPr lang="en-US" sz="641" dirty="0"/>
          </a:p>
        </p:txBody>
      </p:sp>
      <p:sp>
        <p:nvSpPr>
          <p:cNvPr id="13" name="Shape 11"/>
          <p:cNvSpPr/>
          <p:nvPr/>
        </p:nvSpPr>
        <p:spPr>
          <a:xfrm>
            <a:off x="6858001" y="109537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14" name="Shape 12"/>
          <p:cNvSpPr/>
          <p:nvPr/>
        </p:nvSpPr>
        <p:spPr>
          <a:xfrm>
            <a:off x="6858001" y="1128713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15" name="Text 13"/>
          <p:cNvSpPr/>
          <p:nvPr/>
        </p:nvSpPr>
        <p:spPr>
          <a:xfrm>
            <a:off x="6962776" y="1095375"/>
            <a:ext cx="5715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Create the plan</a:t>
            </a:r>
            <a:endParaRPr lang="en-US" sz="641" dirty="0"/>
          </a:p>
        </p:txBody>
      </p:sp>
      <p:sp>
        <p:nvSpPr>
          <p:cNvPr id="16" name="Shape 14"/>
          <p:cNvSpPr/>
          <p:nvPr/>
        </p:nvSpPr>
        <p:spPr>
          <a:xfrm>
            <a:off x="6858001" y="1276350"/>
            <a:ext cx="1907000" cy="114300"/>
          </a:xfrm>
          <a:prstGeom prst="rect">
            <a:avLst/>
          </a:prstGeom>
          <a:noFill/>
          <a:ln/>
        </p:spPr>
      </p:sp>
      <p:sp>
        <p:nvSpPr>
          <p:cNvPr id="17" name="Shape 15"/>
          <p:cNvSpPr/>
          <p:nvPr/>
        </p:nvSpPr>
        <p:spPr>
          <a:xfrm>
            <a:off x="6858001" y="1309688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18" name="Text 16"/>
          <p:cNvSpPr/>
          <p:nvPr/>
        </p:nvSpPr>
        <p:spPr>
          <a:xfrm>
            <a:off x="6962776" y="1276350"/>
            <a:ext cx="37623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Add items</a:t>
            </a:r>
            <a:endParaRPr lang="en-US" sz="641" dirty="0"/>
          </a:p>
        </p:txBody>
      </p:sp>
      <p:sp>
        <p:nvSpPr>
          <p:cNvPr id="19" name="Shape 17"/>
          <p:cNvSpPr/>
          <p:nvPr/>
        </p:nvSpPr>
        <p:spPr>
          <a:xfrm>
            <a:off x="6858001" y="145732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20" name="Shape 18"/>
          <p:cNvSpPr/>
          <p:nvPr/>
        </p:nvSpPr>
        <p:spPr>
          <a:xfrm>
            <a:off x="6858001" y="1490663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21" name="Text 19"/>
          <p:cNvSpPr/>
          <p:nvPr/>
        </p:nvSpPr>
        <p:spPr>
          <a:xfrm>
            <a:off x="6962776" y="1457325"/>
            <a:ext cx="7286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Submit and validate</a:t>
            </a:r>
            <a:endParaRPr lang="en-US" sz="641" dirty="0"/>
          </a:p>
        </p:txBody>
      </p:sp>
      <p:sp>
        <p:nvSpPr>
          <p:cNvPr id="22" name="Shape 20"/>
          <p:cNvSpPr/>
          <p:nvPr/>
        </p:nvSpPr>
        <p:spPr>
          <a:xfrm>
            <a:off x="6858001" y="1638300"/>
            <a:ext cx="1907000" cy="114300"/>
          </a:xfrm>
          <a:prstGeom prst="rect">
            <a:avLst/>
          </a:prstGeom>
          <a:noFill/>
          <a:ln/>
        </p:spPr>
      </p:sp>
      <p:sp>
        <p:nvSpPr>
          <p:cNvPr id="23" name="Shape 21"/>
          <p:cNvSpPr/>
          <p:nvPr/>
        </p:nvSpPr>
        <p:spPr>
          <a:xfrm>
            <a:off x="6858001" y="1671638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24" name="Text 22"/>
          <p:cNvSpPr/>
          <p:nvPr/>
        </p:nvSpPr>
        <p:spPr>
          <a:xfrm>
            <a:off x="6962776" y="1638300"/>
            <a:ext cx="73342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Wait for the window</a:t>
            </a:r>
            <a:endParaRPr lang="en-US" sz="641" dirty="0"/>
          </a:p>
        </p:txBody>
      </p:sp>
      <p:sp>
        <p:nvSpPr>
          <p:cNvPr id="25" name="Shape 23"/>
          <p:cNvSpPr/>
          <p:nvPr/>
        </p:nvSpPr>
        <p:spPr>
          <a:xfrm>
            <a:off x="6858001" y="181927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26" name="Shape 24"/>
          <p:cNvSpPr/>
          <p:nvPr/>
        </p:nvSpPr>
        <p:spPr>
          <a:xfrm>
            <a:off x="6858001" y="1852612"/>
            <a:ext cx="47625" cy="47625"/>
          </a:xfrm>
          <a:prstGeom prst="ellipse">
            <a:avLst/>
          </a:prstGeom>
          <a:solidFill>
            <a:srgbClr val="00B1F5"/>
          </a:solidFill>
          <a:ln/>
        </p:spPr>
      </p:sp>
      <p:sp>
        <p:nvSpPr>
          <p:cNvPr id="27" name="Text 25"/>
          <p:cNvSpPr/>
          <p:nvPr/>
        </p:nvSpPr>
        <p:spPr>
          <a:xfrm>
            <a:off x="6962776" y="1819275"/>
            <a:ext cx="62388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18232A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Run and monitor</a:t>
            </a:r>
            <a:endParaRPr lang="en-US" sz="641" dirty="0"/>
          </a:p>
        </p:txBody>
      </p:sp>
      <p:sp>
        <p:nvSpPr>
          <p:cNvPr id="28" name="Shape 26"/>
          <p:cNvSpPr/>
          <p:nvPr/>
        </p:nvSpPr>
        <p:spPr>
          <a:xfrm>
            <a:off x="6858001" y="2000250"/>
            <a:ext cx="1907000" cy="114300"/>
          </a:xfrm>
          <a:prstGeom prst="rect">
            <a:avLst/>
          </a:prstGeom>
          <a:noFill/>
          <a:ln/>
        </p:spPr>
      </p:sp>
      <p:sp>
        <p:nvSpPr>
          <p:cNvPr id="29" name="Shape 27"/>
          <p:cNvSpPr/>
          <p:nvPr/>
        </p:nvSpPr>
        <p:spPr>
          <a:xfrm>
            <a:off x="6858001" y="2033588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30" name="Text 28"/>
          <p:cNvSpPr/>
          <p:nvPr/>
        </p:nvSpPr>
        <p:spPr>
          <a:xfrm>
            <a:off x="6962776" y="2000250"/>
            <a:ext cx="6905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Handle exceptions</a:t>
            </a:r>
            <a:endParaRPr lang="en-US" sz="641" dirty="0"/>
          </a:p>
        </p:txBody>
      </p:sp>
      <p:sp>
        <p:nvSpPr>
          <p:cNvPr id="31" name="Shape 29"/>
          <p:cNvSpPr/>
          <p:nvPr/>
        </p:nvSpPr>
        <p:spPr>
          <a:xfrm>
            <a:off x="6858001" y="218122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32" name="Shape 30"/>
          <p:cNvSpPr/>
          <p:nvPr/>
        </p:nvSpPr>
        <p:spPr>
          <a:xfrm>
            <a:off x="6858001" y="2214563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33" name="Text 31"/>
          <p:cNvSpPr/>
          <p:nvPr/>
        </p:nvSpPr>
        <p:spPr>
          <a:xfrm>
            <a:off x="6962776" y="2181225"/>
            <a:ext cx="6381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See the outcome</a:t>
            </a:r>
            <a:endParaRPr lang="en-US" sz="641" dirty="0"/>
          </a:p>
        </p:txBody>
      </p:sp>
      <p:pic>
        <p:nvPicPr>
          <p:cNvPr id="3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81000" y="714375"/>
            <a:ext cx="6210300" cy="4095750"/>
          </a:xfrm>
          <a:prstGeom prst="rect">
            <a:avLst/>
          </a:prstGeom>
        </p:spPr>
      </p:pic>
      <p:sp>
        <p:nvSpPr>
          <p:cNvPr id="35" name="Shape 32"/>
          <p:cNvSpPr/>
          <p:nvPr/>
        </p:nvSpPr>
        <p:spPr>
          <a:xfrm>
            <a:off x="381000" y="4886325"/>
            <a:ext cx="8382000" cy="9525"/>
          </a:xfrm>
          <a:prstGeom prst="rect">
            <a:avLst/>
          </a:prstGeom>
          <a:solidFill>
            <a:srgbClr val="00B1F5"/>
          </a:solidFill>
          <a:ln/>
        </p:spPr>
      </p:sp>
      <p:sp>
        <p:nvSpPr>
          <p:cNvPr id="36" name="Text 33"/>
          <p:cNvSpPr/>
          <p:nvPr/>
        </p:nvSpPr>
        <p:spPr>
          <a:xfrm>
            <a:off x="381000" y="4972050"/>
            <a:ext cx="438150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70"/>
              </a:lnSpc>
              <a:buNone/>
            </a:pPr>
            <a:r>
              <a:rPr lang="en-US" sz="463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Internal use only</a:t>
            </a:r>
            <a:endParaRPr lang="en-US" sz="463" dirty="0"/>
          </a:p>
        </p:txBody>
      </p:sp>
      <p:sp>
        <p:nvSpPr>
          <p:cNvPr id="37" name="Shape 34"/>
          <p:cNvSpPr/>
          <p:nvPr/>
        </p:nvSpPr>
        <p:spPr>
          <a:xfrm>
            <a:off x="8077200" y="4924425"/>
            <a:ext cx="684389" cy="133350"/>
          </a:xfrm>
          <a:prstGeom prst="rect">
            <a:avLst/>
          </a:prstGeom>
          <a:noFill/>
          <a:ln/>
        </p:spPr>
      </p:sp>
      <p:pic>
        <p:nvPicPr>
          <p:cNvPr id="38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206665" y="4948089"/>
            <a:ext cx="537666" cy="89241"/>
          </a:xfrm>
          <a:prstGeom prst="rect">
            <a:avLst/>
          </a:prstGeom>
        </p:spPr>
      </p:pic>
      <p:pic>
        <p:nvPicPr>
          <p:cNvPr id="39" name="Image 2" descr="preencoded.png">    </p:cNvPr>
          <p:cNvPicPr>
            <a:picLocks noChangeAspect="1"/>
          </p:cNvPicPr>
          <p:nvPr/>
        </p:nvPicPr>
        <p:blipFill>
          <a:blip r:embed="rId3"/>
          <a:srcRect l="0" r="67575" t="0" b="80646"/>
          <a:stretch/>
        </p:blipFill>
        <p:spPr>
          <a:xfrm>
            <a:off x="7356834" y="4579581"/>
            <a:ext cx="345665" cy="1333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43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381000" y="209550"/>
            <a:ext cx="3857625" cy="228600"/>
          </a:xfrm>
          <a:prstGeom prst="rect">
            <a:avLst/>
          </a:prstGeom>
          <a:noFill/>
          <a:ln/>
        </p:spPr>
      </p:sp>
      <p:sp>
        <p:nvSpPr>
          <p:cNvPr id="4" name="Text 2"/>
          <p:cNvSpPr/>
          <p:nvPr/>
        </p:nvSpPr>
        <p:spPr>
          <a:xfrm>
            <a:off x="381000" y="209550"/>
            <a:ext cx="1552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00B1F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Handle exceptions</a:t>
            </a:r>
            <a:endParaRPr lang="en-US" sz="1425" dirty="0"/>
          </a:p>
        </p:txBody>
      </p:sp>
      <p:sp>
        <p:nvSpPr>
          <p:cNvPr id="5" name="Shape 3"/>
          <p:cNvSpPr/>
          <p:nvPr/>
        </p:nvSpPr>
        <p:spPr>
          <a:xfrm>
            <a:off x="2000250" y="228600"/>
            <a:ext cx="14288" cy="190500"/>
          </a:xfrm>
          <a:prstGeom prst="rect">
            <a:avLst/>
          </a:prstGeom>
          <a:solidFill>
            <a:srgbClr val="00B1F5"/>
          </a:solidFill>
          <a:ln/>
        </p:spPr>
      </p:sp>
      <p:sp>
        <p:nvSpPr>
          <p:cNvPr id="6" name="Text 4"/>
          <p:cNvSpPr/>
          <p:nvPr/>
        </p:nvSpPr>
        <p:spPr>
          <a:xfrm>
            <a:off x="2081212" y="209550"/>
            <a:ext cx="215741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18232A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One item needs a decision</a:t>
            </a:r>
            <a:endParaRPr lang="en-US" sz="1425" dirty="0"/>
          </a:p>
        </p:txBody>
      </p:sp>
      <p:sp>
        <p:nvSpPr>
          <p:cNvPr id="7" name="Text 5"/>
          <p:cNvSpPr/>
          <p:nvPr/>
        </p:nvSpPr>
        <p:spPr>
          <a:xfrm>
            <a:off x="381000" y="476250"/>
            <a:ext cx="83820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784" dirty="0">
                <a:solidFill>
                  <a:srgbClr val="5D6B7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The plan keeps running. The item that stopped is called out, one click away from its detail.</a:t>
            </a:r>
            <a:endParaRPr lang="en-US" sz="784" dirty="0"/>
          </a:p>
        </p:txBody>
      </p:sp>
      <p:sp>
        <p:nvSpPr>
          <p:cNvPr id="8" name="Shape 6"/>
          <p:cNvSpPr/>
          <p:nvPr/>
        </p:nvSpPr>
        <p:spPr>
          <a:xfrm>
            <a:off x="6858001" y="752475"/>
            <a:ext cx="1907000" cy="1543050"/>
          </a:xfrm>
          <a:prstGeom prst="rect">
            <a:avLst/>
          </a:prstGeom>
          <a:noFill/>
          <a:ln/>
        </p:spPr>
      </p:sp>
      <p:sp>
        <p:nvSpPr>
          <p:cNvPr id="9" name="Text 7"/>
          <p:cNvSpPr/>
          <p:nvPr/>
        </p:nvSpPr>
        <p:spPr>
          <a:xfrm>
            <a:off x="6858001" y="752475"/>
            <a:ext cx="44767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13"/>
              </a:lnSpc>
              <a:buNone/>
            </a:pPr>
            <a:r>
              <a:rPr lang="en-US" sz="570" spc="34" kern="0" dirty="0">
                <a:solidFill>
                  <a:srgbClr val="00B1F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STEP 7 OF 8</a:t>
            </a:r>
            <a:endParaRPr lang="en-US" sz="570" dirty="0"/>
          </a:p>
        </p:txBody>
      </p:sp>
      <p:sp>
        <p:nvSpPr>
          <p:cNvPr id="10" name="Shape 8"/>
          <p:cNvSpPr/>
          <p:nvPr/>
        </p:nvSpPr>
        <p:spPr>
          <a:xfrm>
            <a:off x="6858001" y="914400"/>
            <a:ext cx="1905000" cy="114300"/>
          </a:xfrm>
          <a:prstGeom prst="rect">
            <a:avLst/>
          </a:prstGeom>
          <a:noFill/>
          <a:ln/>
        </p:spPr>
      </p:sp>
      <p:sp>
        <p:nvSpPr>
          <p:cNvPr id="11" name="Shape 9"/>
          <p:cNvSpPr/>
          <p:nvPr/>
        </p:nvSpPr>
        <p:spPr>
          <a:xfrm>
            <a:off x="6858001" y="947737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12" name="Text 10"/>
          <p:cNvSpPr/>
          <p:nvPr/>
        </p:nvSpPr>
        <p:spPr>
          <a:xfrm>
            <a:off x="6962776" y="914400"/>
            <a:ext cx="5381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Find your work</a:t>
            </a:r>
            <a:endParaRPr lang="en-US" sz="641" dirty="0"/>
          </a:p>
        </p:txBody>
      </p:sp>
      <p:sp>
        <p:nvSpPr>
          <p:cNvPr id="13" name="Shape 11"/>
          <p:cNvSpPr/>
          <p:nvPr/>
        </p:nvSpPr>
        <p:spPr>
          <a:xfrm>
            <a:off x="6858001" y="109537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14" name="Shape 12"/>
          <p:cNvSpPr/>
          <p:nvPr/>
        </p:nvSpPr>
        <p:spPr>
          <a:xfrm>
            <a:off x="6858001" y="1128713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15" name="Text 13"/>
          <p:cNvSpPr/>
          <p:nvPr/>
        </p:nvSpPr>
        <p:spPr>
          <a:xfrm>
            <a:off x="6962776" y="1095375"/>
            <a:ext cx="5715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Create the plan</a:t>
            </a:r>
            <a:endParaRPr lang="en-US" sz="641" dirty="0"/>
          </a:p>
        </p:txBody>
      </p:sp>
      <p:sp>
        <p:nvSpPr>
          <p:cNvPr id="16" name="Shape 14"/>
          <p:cNvSpPr/>
          <p:nvPr/>
        </p:nvSpPr>
        <p:spPr>
          <a:xfrm>
            <a:off x="6858001" y="1276350"/>
            <a:ext cx="1907000" cy="114300"/>
          </a:xfrm>
          <a:prstGeom prst="rect">
            <a:avLst/>
          </a:prstGeom>
          <a:noFill/>
          <a:ln/>
        </p:spPr>
      </p:sp>
      <p:sp>
        <p:nvSpPr>
          <p:cNvPr id="17" name="Shape 15"/>
          <p:cNvSpPr/>
          <p:nvPr/>
        </p:nvSpPr>
        <p:spPr>
          <a:xfrm>
            <a:off x="6858001" y="1309688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18" name="Text 16"/>
          <p:cNvSpPr/>
          <p:nvPr/>
        </p:nvSpPr>
        <p:spPr>
          <a:xfrm>
            <a:off x="6962776" y="1276350"/>
            <a:ext cx="37623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Add items</a:t>
            </a:r>
            <a:endParaRPr lang="en-US" sz="641" dirty="0"/>
          </a:p>
        </p:txBody>
      </p:sp>
      <p:sp>
        <p:nvSpPr>
          <p:cNvPr id="19" name="Shape 17"/>
          <p:cNvSpPr/>
          <p:nvPr/>
        </p:nvSpPr>
        <p:spPr>
          <a:xfrm>
            <a:off x="6858001" y="145732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20" name="Shape 18"/>
          <p:cNvSpPr/>
          <p:nvPr/>
        </p:nvSpPr>
        <p:spPr>
          <a:xfrm>
            <a:off x="6858001" y="1490663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21" name="Text 19"/>
          <p:cNvSpPr/>
          <p:nvPr/>
        </p:nvSpPr>
        <p:spPr>
          <a:xfrm>
            <a:off x="6962776" y="1457325"/>
            <a:ext cx="7286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Submit and validate</a:t>
            </a:r>
            <a:endParaRPr lang="en-US" sz="641" dirty="0"/>
          </a:p>
        </p:txBody>
      </p:sp>
      <p:sp>
        <p:nvSpPr>
          <p:cNvPr id="22" name="Shape 20"/>
          <p:cNvSpPr/>
          <p:nvPr/>
        </p:nvSpPr>
        <p:spPr>
          <a:xfrm>
            <a:off x="6858001" y="1638300"/>
            <a:ext cx="1907000" cy="114300"/>
          </a:xfrm>
          <a:prstGeom prst="rect">
            <a:avLst/>
          </a:prstGeom>
          <a:noFill/>
          <a:ln/>
        </p:spPr>
      </p:sp>
      <p:sp>
        <p:nvSpPr>
          <p:cNvPr id="23" name="Shape 21"/>
          <p:cNvSpPr/>
          <p:nvPr/>
        </p:nvSpPr>
        <p:spPr>
          <a:xfrm>
            <a:off x="6858001" y="1671638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24" name="Text 22"/>
          <p:cNvSpPr/>
          <p:nvPr/>
        </p:nvSpPr>
        <p:spPr>
          <a:xfrm>
            <a:off x="6962776" y="1638300"/>
            <a:ext cx="73342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Wait for the window</a:t>
            </a:r>
            <a:endParaRPr lang="en-US" sz="641" dirty="0"/>
          </a:p>
        </p:txBody>
      </p:sp>
      <p:sp>
        <p:nvSpPr>
          <p:cNvPr id="25" name="Shape 23"/>
          <p:cNvSpPr/>
          <p:nvPr/>
        </p:nvSpPr>
        <p:spPr>
          <a:xfrm>
            <a:off x="6858001" y="181927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26" name="Shape 24"/>
          <p:cNvSpPr/>
          <p:nvPr/>
        </p:nvSpPr>
        <p:spPr>
          <a:xfrm>
            <a:off x="6858001" y="1852612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27" name="Text 25"/>
          <p:cNvSpPr/>
          <p:nvPr/>
        </p:nvSpPr>
        <p:spPr>
          <a:xfrm>
            <a:off x="6962776" y="1819275"/>
            <a:ext cx="6096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Run and monitor</a:t>
            </a:r>
            <a:endParaRPr lang="en-US" sz="641" dirty="0"/>
          </a:p>
        </p:txBody>
      </p:sp>
      <p:sp>
        <p:nvSpPr>
          <p:cNvPr id="28" name="Shape 26"/>
          <p:cNvSpPr/>
          <p:nvPr/>
        </p:nvSpPr>
        <p:spPr>
          <a:xfrm>
            <a:off x="6858001" y="2000250"/>
            <a:ext cx="1907000" cy="114300"/>
          </a:xfrm>
          <a:prstGeom prst="rect">
            <a:avLst/>
          </a:prstGeom>
          <a:noFill/>
          <a:ln/>
        </p:spPr>
      </p:sp>
      <p:sp>
        <p:nvSpPr>
          <p:cNvPr id="29" name="Shape 27"/>
          <p:cNvSpPr/>
          <p:nvPr/>
        </p:nvSpPr>
        <p:spPr>
          <a:xfrm>
            <a:off x="6858001" y="2033588"/>
            <a:ext cx="47625" cy="47625"/>
          </a:xfrm>
          <a:prstGeom prst="ellipse">
            <a:avLst/>
          </a:prstGeom>
          <a:solidFill>
            <a:srgbClr val="00B1F5"/>
          </a:solidFill>
          <a:ln/>
        </p:spPr>
      </p:sp>
      <p:sp>
        <p:nvSpPr>
          <p:cNvPr id="30" name="Text 28"/>
          <p:cNvSpPr/>
          <p:nvPr/>
        </p:nvSpPr>
        <p:spPr>
          <a:xfrm>
            <a:off x="6962776" y="2000250"/>
            <a:ext cx="70008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18232A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Handle exceptions</a:t>
            </a:r>
            <a:endParaRPr lang="en-US" sz="641" dirty="0"/>
          </a:p>
        </p:txBody>
      </p:sp>
      <p:sp>
        <p:nvSpPr>
          <p:cNvPr id="31" name="Shape 29"/>
          <p:cNvSpPr/>
          <p:nvPr/>
        </p:nvSpPr>
        <p:spPr>
          <a:xfrm>
            <a:off x="6858001" y="218122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32" name="Shape 30"/>
          <p:cNvSpPr/>
          <p:nvPr/>
        </p:nvSpPr>
        <p:spPr>
          <a:xfrm>
            <a:off x="6858001" y="2214563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33" name="Text 31"/>
          <p:cNvSpPr/>
          <p:nvPr/>
        </p:nvSpPr>
        <p:spPr>
          <a:xfrm>
            <a:off x="6962776" y="2181225"/>
            <a:ext cx="6381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See the outcome</a:t>
            </a:r>
            <a:endParaRPr lang="en-US" sz="641" dirty="0"/>
          </a:p>
        </p:txBody>
      </p:sp>
      <p:pic>
        <p:nvPicPr>
          <p:cNvPr id="3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81000" y="714375"/>
            <a:ext cx="6210300" cy="4095750"/>
          </a:xfrm>
          <a:prstGeom prst="rect">
            <a:avLst/>
          </a:prstGeom>
        </p:spPr>
      </p:pic>
      <p:sp>
        <p:nvSpPr>
          <p:cNvPr id="35" name="Shape 32"/>
          <p:cNvSpPr/>
          <p:nvPr/>
        </p:nvSpPr>
        <p:spPr>
          <a:xfrm>
            <a:off x="381000" y="4886325"/>
            <a:ext cx="8382000" cy="9525"/>
          </a:xfrm>
          <a:prstGeom prst="rect">
            <a:avLst/>
          </a:prstGeom>
          <a:solidFill>
            <a:srgbClr val="00B1F5"/>
          </a:solidFill>
          <a:ln/>
        </p:spPr>
      </p:sp>
      <p:sp>
        <p:nvSpPr>
          <p:cNvPr id="36" name="Text 33"/>
          <p:cNvSpPr/>
          <p:nvPr/>
        </p:nvSpPr>
        <p:spPr>
          <a:xfrm>
            <a:off x="381000" y="4972050"/>
            <a:ext cx="438150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70"/>
              </a:lnSpc>
              <a:buNone/>
            </a:pPr>
            <a:r>
              <a:rPr lang="en-US" sz="463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Internal use only</a:t>
            </a:r>
            <a:endParaRPr lang="en-US" sz="463" dirty="0"/>
          </a:p>
        </p:txBody>
      </p:sp>
      <p:sp>
        <p:nvSpPr>
          <p:cNvPr id="37" name="Shape 34"/>
          <p:cNvSpPr/>
          <p:nvPr/>
        </p:nvSpPr>
        <p:spPr>
          <a:xfrm>
            <a:off x="8077200" y="4924425"/>
            <a:ext cx="684389" cy="133350"/>
          </a:xfrm>
          <a:prstGeom prst="rect">
            <a:avLst/>
          </a:prstGeom>
          <a:noFill/>
          <a:ln/>
        </p:spPr>
      </p:sp>
      <p:pic>
        <p:nvPicPr>
          <p:cNvPr id="38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206665" y="4948089"/>
            <a:ext cx="537666" cy="89241"/>
          </a:xfrm>
          <a:prstGeom prst="rect">
            <a:avLst/>
          </a:prstGeom>
        </p:spPr>
      </p:pic>
      <p:pic>
        <p:nvPicPr>
          <p:cNvPr id="39" name="Image 2" descr="preencoded.png">    </p:cNvPr>
          <p:cNvPicPr>
            <a:picLocks noChangeAspect="1"/>
          </p:cNvPicPr>
          <p:nvPr/>
        </p:nvPicPr>
        <p:blipFill>
          <a:blip r:embed="rId3"/>
          <a:srcRect l="0" r="67575" t="0" b="80646"/>
          <a:stretch/>
        </p:blipFill>
        <p:spPr>
          <a:xfrm>
            <a:off x="7356834" y="4579581"/>
            <a:ext cx="345665" cy="1333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43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381000" y="209550"/>
            <a:ext cx="4038600" cy="228600"/>
          </a:xfrm>
          <a:prstGeom prst="rect">
            <a:avLst/>
          </a:prstGeom>
          <a:noFill/>
          <a:ln/>
        </p:spPr>
      </p:sp>
      <p:sp>
        <p:nvSpPr>
          <p:cNvPr id="4" name="Text 2"/>
          <p:cNvSpPr/>
          <p:nvPr/>
        </p:nvSpPr>
        <p:spPr>
          <a:xfrm>
            <a:off x="381000" y="209550"/>
            <a:ext cx="1552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00B1F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Handle exceptions</a:t>
            </a:r>
            <a:endParaRPr lang="en-US" sz="1425" dirty="0"/>
          </a:p>
        </p:txBody>
      </p:sp>
      <p:sp>
        <p:nvSpPr>
          <p:cNvPr id="5" name="Shape 3"/>
          <p:cNvSpPr/>
          <p:nvPr/>
        </p:nvSpPr>
        <p:spPr>
          <a:xfrm>
            <a:off x="2000250" y="228600"/>
            <a:ext cx="14288" cy="190500"/>
          </a:xfrm>
          <a:prstGeom prst="rect">
            <a:avLst/>
          </a:prstGeom>
          <a:solidFill>
            <a:srgbClr val="00B1F5"/>
          </a:solidFill>
          <a:ln/>
        </p:spPr>
      </p:sp>
      <p:sp>
        <p:nvSpPr>
          <p:cNvPr id="6" name="Text 4"/>
          <p:cNvSpPr/>
          <p:nvPr/>
        </p:nvSpPr>
        <p:spPr>
          <a:xfrm>
            <a:off x="2081212" y="209550"/>
            <a:ext cx="23383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18232A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Everything needed to decide</a:t>
            </a:r>
            <a:endParaRPr lang="en-US" sz="1425" dirty="0"/>
          </a:p>
        </p:txBody>
      </p:sp>
      <p:sp>
        <p:nvSpPr>
          <p:cNvPr id="7" name="Text 5"/>
          <p:cNvSpPr/>
          <p:nvPr/>
        </p:nvSpPr>
        <p:spPr>
          <a:xfrm>
            <a:off x="381000" y="476250"/>
            <a:ext cx="83820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784" dirty="0">
                <a:solidFill>
                  <a:srgbClr val="5D6B7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The stopped task shows where and why it failed. The operator chooses Retry, Roll back or Cancel.</a:t>
            </a:r>
            <a:endParaRPr lang="en-US" sz="784" dirty="0"/>
          </a:p>
        </p:txBody>
      </p:sp>
      <p:sp>
        <p:nvSpPr>
          <p:cNvPr id="8" name="Shape 6"/>
          <p:cNvSpPr/>
          <p:nvPr/>
        </p:nvSpPr>
        <p:spPr>
          <a:xfrm>
            <a:off x="6858001" y="752475"/>
            <a:ext cx="1907000" cy="1543050"/>
          </a:xfrm>
          <a:prstGeom prst="rect">
            <a:avLst/>
          </a:prstGeom>
          <a:noFill/>
          <a:ln/>
        </p:spPr>
      </p:sp>
      <p:sp>
        <p:nvSpPr>
          <p:cNvPr id="9" name="Text 7"/>
          <p:cNvSpPr/>
          <p:nvPr/>
        </p:nvSpPr>
        <p:spPr>
          <a:xfrm>
            <a:off x="6858001" y="752475"/>
            <a:ext cx="44767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13"/>
              </a:lnSpc>
              <a:buNone/>
            </a:pPr>
            <a:r>
              <a:rPr lang="en-US" sz="570" spc="34" kern="0" dirty="0">
                <a:solidFill>
                  <a:srgbClr val="00B1F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STEP 7 OF 8</a:t>
            </a:r>
            <a:endParaRPr lang="en-US" sz="570" dirty="0"/>
          </a:p>
        </p:txBody>
      </p:sp>
      <p:sp>
        <p:nvSpPr>
          <p:cNvPr id="10" name="Shape 8"/>
          <p:cNvSpPr/>
          <p:nvPr/>
        </p:nvSpPr>
        <p:spPr>
          <a:xfrm>
            <a:off x="6858001" y="914400"/>
            <a:ext cx="1905000" cy="114300"/>
          </a:xfrm>
          <a:prstGeom prst="rect">
            <a:avLst/>
          </a:prstGeom>
          <a:noFill/>
          <a:ln/>
        </p:spPr>
      </p:sp>
      <p:sp>
        <p:nvSpPr>
          <p:cNvPr id="11" name="Shape 9"/>
          <p:cNvSpPr/>
          <p:nvPr/>
        </p:nvSpPr>
        <p:spPr>
          <a:xfrm>
            <a:off x="6858001" y="947737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12" name="Text 10"/>
          <p:cNvSpPr/>
          <p:nvPr/>
        </p:nvSpPr>
        <p:spPr>
          <a:xfrm>
            <a:off x="6962776" y="914400"/>
            <a:ext cx="5381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Find your work</a:t>
            </a:r>
            <a:endParaRPr lang="en-US" sz="641" dirty="0"/>
          </a:p>
        </p:txBody>
      </p:sp>
      <p:sp>
        <p:nvSpPr>
          <p:cNvPr id="13" name="Shape 11"/>
          <p:cNvSpPr/>
          <p:nvPr/>
        </p:nvSpPr>
        <p:spPr>
          <a:xfrm>
            <a:off x="6858001" y="109537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14" name="Shape 12"/>
          <p:cNvSpPr/>
          <p:nvPr/>
        </p:nvSpPr>
        <p:spPr>
          <a:xfrm>
            <a:off x="6858001" y="1128713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15" name="Text 13"/>
          <p:cNvSpPr/>
          <p:nvPr/>
        </p:nvSpPr>
        <p:spPr>
          <a:xfrm>
            <a:off x="6962776" y="1095375"/>
            <a:ext cx="5715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Create the plan</a:t>
            </a:r>
            <a:endParaRPr lang="en-US" sz="641" dirty="0"/>
          </a:p>
        </p:txBody>
      </p:sp>
      <p:sp>
        <p:nvSpPr>
          <p:cNvPr id="16" name="Shape 14"/>
          <p:cNvSpPr/>
          <p:nvPr/>
        </p:nvSpPr>
        <p:spPr>
          <a:xfrm>
            <a:off x="6858001" y="1276350"/>
            <a:ext cx="1907000" cy="114300"/>
          </a:xfrm>
          <a:prstGeom prst="rect">
            <a:avLst/>
          </a:prstGeom>
          <a:noFill/>
          <a:ln/>
        </p:spPr>
      </p:sp>
      <p:sp>
        <p:nvSpPr>
          <p:cNvPr id="17" name="Shape 15"/>
          <p:cNvSpPr/>
          <p:nvPr/>
        </p:nvSpPr>
        <p:spPr>
          <a:xfrm>
            <a:off x="6858001" y="1309688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18" name="Text 16"/>
          <p:cNvSpPr/>
          <p:nvPr/>
        </p:nvSpPr>
        <p:spPr>
          <a:xfrm>
            <a:off x="6962776" y="1276350"/>
            <a:ext cx="37623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Add items</a:t>
            </a:r>
            <a:endParaRPr lang="en-US" sz="641" dirty="0"/>
          </a:p>
        </p:txBody>
      </p:sp>
      <p:sp>
        <p:nvSpPr>
          <p:cNvPr id="19" name="Shape 17"/>
          <p:cNvSpPr/>
          <p:nvPr/>
        </p:nvSpPr>
        <p:spPr>
          <a:xfrm>
            <a:off x="6858001" y="145732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20" name="Shape 18"/>
          <p:cNvSpPr/>
          <p:nvPr/>
        </p:nvSpPr>
        <p:spPr>
          <a:xfrm>
            <a:off x="6858001" y="1490663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21" name="Text 19"/>
          <p:cNvSpPr/>
          <p:nvPr/>
        </p:nvSpPr>
        <p:spPr>
          <a:xfrm>
            <a:off x="6962776" y="1457325"/>
            <a:ext cx="7286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Submit and validate</a:t>
            </a:r>
            <a:endParaRPr lang="en-US" sz="641" dirty="0"/>
          </a:p>
        </p:txBody>
      </p:sp>
      <p:sp>
        <p:nvSpPr>
          <p:cNvPr id="22" name="Shape 20"/>
          <p:cNvSpPr/>
          <p:nvPr/>
        </p:nvSpPr>
        <p:spPr>
          <a:xfrm>
            <a:off x="6858001" y="1638300"/>
            <a:ext cx="1907000" cy="114300"/>
          </a:xfrm>
          <a:prstGeom prst="rect">
            <a:avLst/>
          </a:prstGeom>
          <a:noFill/>
          <a:ln/>
        </p:spPr>
      </p:sp>
      <p:sp>
        <p:nvSpPr>
          <p:cNvPr id="23" name="Shape 21"/>
          <p:cNvSpPr/>
          <p:nvPr/>
        </p:nvSpPr>
        <p:spPr>
          <a:xfrm>
            <a:off x="6858001" y="1671638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24" name="Text 22"/>
          <p:cNvSpPr/>
          <p:nvPr/>
        </p:nvSpPr>
        <p:spPr>
          <a:xfrm>
            <a:off x="6962776" y="1638300"/>
            <a:ext cx="73342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Wait for the window</a:t>
            </a:r>
            <a:endParaRPr lang="en-US" sz="641" dirty="0"/>
          </a:p>
        </p:txBody>
      </p:sp>
      <p:sp>
        <p:nvSpPr>
          <p:cNvPr id="25" name="Shape 23"/>
          <p:cNvSpPr/>
          <p:nvPr/>
        </p:nvSpPr>
        <p:spPr>
          <a:xfrm>
            <a:off x="6858001" y="181927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26" name="Shape 24"/>
          <p:cNvSpPr/>
          <p:nvPr/>
        </p:nvSpPr>
        <p:spPr>
          <a:xfrm>
            <a:off x="6858001" y="1852612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27" name="Text 25"/>
          <p:cNvSpPr/>
          <p:nvPr/>
        </p:nvSpPr>
        <p:spPr>
          <a:xfrm>
            <a:off x="6962776" y="1819275"/>
            <a:ext cx="6096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Run and monitor</a:t>
            </a:r>
            <a:endParaRPr lang="en-US" sz="641" dirty="0"/>
          </a:p>
        </p:txBody>
      </p:sp>
      <p:sp>
        <p:nvSpPr>
          <p:cNvPr id="28" name="Shape 26"/>
          <p:cNvSpPr/>
          <p:nvPr/>
        </p:nvSpPr>
        <p:spPr>
          <a:xfrm>
            <a:off x="6858001" y="2000250"/>
            <a:ext cx="1907000" cy="114300"/>
          </a:xfrm>
          <a:prstGeom prst="rect">
            <a:avLst/>
          </a:prstGeom>
          <a:noFill/>
          <a:ln/>
        </p:spPr>
      </p:sp>
      <p:sp>
        <p:nvSpPr>
          <p:cNvPr id="29" name="Shape 27"/>
          <p:cNvSpPr/>
          <p:nvPr/>
        </p:nvSpPr>
        <p:spPr>
          <a:xfrm>
            <a:off x="6858001" y="2033588"/>
            <a:ext cx="47625" cy="47625"/>
          </a:xfrm>
          <a:prstGeom prst="ellipse">
            <a:avLst/>
          </a:prstGeom>
          <a:solidFill>
            <a:srgbClr val="00B1F5"/>
          </a:solidFill>
          <a:ln/>
        </p:spPr>
      </p:sp>
      <p:sp>
        <p:nvSpPr>
          <p:cNvPr id="30" name="Text 28"/>
          <p:cNvSpPr/>
          <p:nvPr/>
        </p:nvSpPr>
        <p:spPr>
          <a:xfrm>
            <a:off x="6962776" y="2000250"/>
            <a:ext cx="70008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18232A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Handle exceptions</a:t>
            </a:r>
            <a:endParaRPr lang="en-US" sz="641" dirty="0"/>
          </a:p>
        </p:txBody>
      </p:sp>
      <p:sp>
        <p:nvSpPr>
          <p:cNvPr id="31" name="Shape 29"/>
          <p:cNvSpPr/>
          <p:nvPr/>
        </p:nvSpPr>
        <p:spPr>
          <a:xfrm>
            <a:off x="6858001" y="218122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32" name="Shape 30"/>
          <p:cNvSpPr/>
          <p:nvPr/>
        </p:nvSpPr>
        <p:spPr>
          <a:xfrm>
            <a:off x="6858001" y="2214563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33" name="Text 31"/>
          <p:cNvSpPr/>
          <p:nvPr/>
        </p:nvSpPr>
        <p:spPr>
          <a:xfrm>
            <a:off x="6962776" y="2181225"/>
            <a:ext cx="6381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See the outcome</a:t>
            </a:r>
            <a:endParaRPr lang="en-US" sz="641" dirty="0"/>
          </a:p>
        </p:txBody>
      </p:sp>
      <p:pic>
        <p:nvPicPr>
          <p:cNvPr id="3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81000" y="714375"/>
            <a:ext cx="6210300" cy="4095750"/>
          </a:xfrm>
          <a:prstGeom prst="rect">
            <a:avLst/>
          </a:prstGeom>
        </p:spPr>
      </p:pic>
      <p:sp>
        <p:nvSpPr>
          <p:cNvPr id="35" name="Shape 32"/>
          <p:cNvSpPr/>
          <p:nvPr/>
        </p:nvSpPr>
        <p:spPr>
          <a:xfrm>
            <a:off x="381000" y="4886325"/>
            <a:ext cx="8382000" cy="9525"/>
          </a:xfrm>
          <a:prstGeom prst="rect">
            <a:avLst/>
          </a:prstGeom>
          <a:solidFill>
            <a:srgbClr val="00B1F5"/>
          </a:solidFill>
          <a:ln/>
        </p:spPr>
      </p:sp>
      <p:sp>
        <p:nvSpPr>
          <p:cNvPr id="36" name="Text 33"/>
          <p:cNvSpPr/>
          <p:nvPr/>
        </p:nvSpPr>
        <p:spPr>
          <a:xfrm>
            <a:off x="381000" y="4972050"/>
            <a:ext cx="438150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70"/>
              </a:lnSpc>
              <a:buNone/>
            </a:pPr>
            <a:r>
              <a:rPr lang="en-US" sz="463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Internal use only</a:t>
            </a:r>
            <a:endParaRPr lang="en-US" sz="463" dirty="0"/>
          </a:p>
        </p:txBody>
      </p:sp>
      <p:sp>
        <p:nvSpPr>
          <p:cNvPr id="37" name="Shape 34"/>
          <p:cNvSpPr/>
          <p:nvPr/>
        </p:nvSpPr>
        <p:spPr>
          <a:xfrm>
            <a:off x="8077200" y="4924425"/>
            <a:ext cx="684389" cy="133350"/>
          </a:xfrm>
          <a:prstGeom prst="rect">
            <a:avLst/>
          </a:prstGeom>
          <a:noFill/>
          <a:ln/>
        </p:spPr>
      </p:sp>
      <p:pic>
        <p:nvPicPr>
          <p:cNvPr id="38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206665" y="4948089"/>
            <a:ext cx="537666" cy="89241"/>
          </a:xfrm>
          <a:prstGeom prst="rect">
            <a:avLst/>
          </a:prstGeom>
        </p:spPr>
      </p:pic>
      <p:pic>
        <p:nvPicPr>
          <p:cNvPr id="39" name="Image 2" descr="preencoded.png">    </p:cNvPr>
          <p:cNvPicPr>
            <a:picLocks noChangeAspect="1"/>
          </p:cNvPicPr>
          <p:nvPr/>
        </p:nvPicPr>
        <p:blipFill>
          <a:blip r:embed="rId3"/>
          <a:srcRect l="0" r="67575" t="0" b="80646"/>
          <a:stretch/>
        </p:blipFill>
        <p:spPr>
          <a:xfrm>
            <a:off x="7356834" y="4579581"/>
            <a:ext cx="345665" cy="13335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43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381000" y="209550"/>
            <a:ext cx="3729038" cy="228600"/>
          </a:xfrm>
          <a:prstGeom prst="rect">
            <a:avLst/>
          </a:prstGeom>
          <a:noFill/>
          <a:ln/>
        </p:spPr>
      </p:sp>
      <p:sp>
        <p:nvSpPr>
          <p:cNvPr id="4" name="Text 2"/>
          <p:cNvSpPr/>
          <p:nvPr/>
        </p:nvSpPr>
        <p:spPr>
          <a:xfrm>
            <a:off x="381000" y="209550"/>
            <a:ext cx="1552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00B1F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Handle exceptions</a:t>
            </a:r>
            <a:endParaRPr lang="en-US" sz="1425" dirty="0"/>
          </a:p>
        </p:txBody>
      </p:sp>
      <p:sp>
        <p:nvSpPr>
          <p:cNvPr id="5" name="Shape 3"/>
          <p:cNvSpPr/>
          <p:nvPr/>
        </p:nvSpPr>
        <p:spPr>
          <a:xfrm>
            <a:off x="2000250" y="228600"/>
            <a:ext cx="14288" cy="190500"/>
          </a:xfrm>
          <a:prstGeom prst="rect">
            <a:avLst/>
          </a:prstGeom>
          <a:solidFill>
            <a:srgbClr val="00B1F5"/>
          </a:solidFill>
          <a:ln/>
        </p:spPr>
      </p:sp>
      <p:sp>
        <p:nvSpPr>
          <p:cNvPr id="6" name="Text 4"/>
          <p:cNvSpPr/>
          <p:nvPr/>
        </p:nvSpPr>
        <p:spPr>
          <a:xfrm>
            <a:off x="2081212" y="209550"/>
            <a:ext cx="2028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18232A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Retry runs the task again</a:t>
            </a:r>
            <a:endParaRPr lang="en-US" sz="1425" dirty="0"/>
          </a:p>
        </p:txBody>
      </p:sp>
      <p:sp>
        <p:nvSpPr>
          <p:cNvPr id="7" name="Text 5"/>
          <p:cNvSpPr/>
          <p:nvPr/>
        </p:nvSpPr>
        <p:spPr>
          <a:xfrm>
            <a:off x="381000" y="476250"/>
            <a:ext cx="83820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784" dirty="0">
                <a:solidFill>
                  <a:srgbClr val="5D6B7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Retry restarts the whole task from its first milestone, and the item returns to In Progress.</a:t>
            </a:r>
            <a:endParaRPr lang="en-US" sz="784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81000" y="714375"/>
            <a:ext cx="6210300" cy="409575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858000" y="752475"/>
            <a:ext cx="1907000" cy="1543050"/>
          </a:xfrm>
          <a:prstGeom prst="rect">
            <a:avLst/>
          </a:prstGeom>
          <a:noFill/>
          <a:ln/>
        </p:spPr>
      </p:sp>
      <p:sp>
        <p:nvSpPr>
          <p:cNvPr id="10" name="Text 7"/>
          <p:cNvSpPr/>
          <p:nvPr/>
        </p:nvSpPr>
        <p:spPr>
          <a:xfrm>
            <a:off x="6858000" y="752475"/>
            <a:ext cx="44767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13"/>
              </a:lnSpc>
              <a:buNone/>
            </a:pPr>
            <a:r>
              <a:rPr lang="en-US" sz="570" spc="34" kern="0" dirty="0">
                <a:solidFill>
                  <a:srgbClr val="00B1F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STEP 7 OF 8</a:t>
            </a:r>
            <a:endParaRPr lang="en-US" sz="570" dirty="0"/>
          </a:p>
        </p:txBody>
      </p:sp>
      <p:sp>
        <p:nvSpPr>
          <p:cNvPr id="11" name="Shape 8"/>
          <p:cNvSpPr/>
          <p:nvPr/>
        </p:nvSpPr>
        <p:spPr>
          <a:xfrm>
            <a:off x="6858000" y="914400"/>
            <a:ext cx="1905000" cy="114300"/>
          </a:xfrm>
          <a:prstGeom prst="rect">
            <a:avLst/>
          </a:prstGeom>
          <a:noFill/>
          <a:ln/>
        </p:spPr>
      </p:sp>
      <p:sp>
        <p:nvSpPr>
          <p:cNvPr id="12" name="Shape 9"/>
          <p:cNvSpPr/>
          <p:nvPr/>
        </p:nvSpPr>
        <p:spPr>
          <a:xfrm>
            <a:off x="6858000" y="947737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13" name="Text 10"/>
          <p:cNvSpPr/>
          <p:nvPr/>
        </p:nvSpPr>
        <p:spPr>
          <a:xfrm>
            <a:off x="6962775" y="914400"/>
            <a:ext cx="5381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Find your work</a:t>
            </a:r>
            <a:endParaRPr lang="en-US" sz="641" dirty="0"/>
          </a:p>
        </p:txBody>
      </p:sp>
      <p:sp>
        <p:nvSpPr>
          <p:cNvPr id="14" name="Shape 11"/>
          <p:cNvSpPr/>
          <p:nvPr/>
        </p:nvSpPr>
        <p:spPr>
          <a:xfrm>
            <a:off x="6858000" y="109537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15" name="Shape 12"/>
          <p:cNvSpPr/>
          <p:nvPr/>
        </p:nvSpPr>
        <p:spPr>
          <a:xfrm>
            <a:off x="6858000" y="1128713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16" name="Text 13"/>
          <p:cNvSpPr/>
          <p:nvPr/>
        </p:nvSpPr>
        <p:spPr>
          <a:xfrm>
            <a:off x="6962775" y="1095375"/>
            <a:ext cx="5715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Create the plan</a:t>
            </a:r>
            <a:endParaRPr lang="en-US" sz="641" dirty="0"/>
          </a:p>
        </p:txBody>
      </p:sp>
      <p:sp>
        <p:nvSpPr>
          <p:cNvPr id="17" name="Shape 14"/>
          <p:cNvSpPr/>
          <p:nvPr/>
        </p:nvSpPr>
        <p:spPr>
          <a:xfrm>
            <a:off x="6858000" y="1276350"/>
            <a:ext cx="1907000" cy="114300"/>
          </a:xfrm>
          <a:prstGeom prst="rect">
            <a:avLst/>
          </a:prstGeom>
          <a:noFill/>
          <a:ln/>
        </p:spPr>
      </p:sp>
      <p:sp>
        <p:nvSpPr>
          <p:cNvPr id="18" name="Shape 15"/>
          <p:cNvSpPr/>
          <p:nvPr/>
        </p:nvSpPr>
        <p:spPr>
          <a:xfrm>
            <a:off x="6858000" y="1309688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19" name="Text 16"/>
          <p:cNvSpPr/>
          <p:nvPr/>
        </p:nvSpPr>
        <p:spPr>
          <a:xfrm>
            <a:off x="6962775" y="1276350"/>
            <a:ext cx="37623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Add items</a:t>
            </a:r>
            <a:endParaRPr lang="en-US" sz="641" dirty="0"/>
          </a:p>
        </p:txBody>
      </p:sp>
      <p:sp>
        <p:nvSpPr>
          <p:cNvPr id="20" name="Shape 17"/>
          <p:cNvSpPr/>
          <p:nvPr/>
        </p:nvSpPr>
        <p:spPr>
          <a:xfrm>
            <a:off x="6858000" y="145732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21" name="Shape 18"/>
          <p:cNvSpPr/>
          <p:nvPr/>
        </p:nvSpPr>
        <p:spPr>
          <a:xfrm>
            <a:off x="6858000" y="1490663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22" name="Text 19"/>
          <p:cNvSpPr/>
          <p:nvPr/>
        </p:nvSpPr>
        <p:spPr>
          <a:xfrm>
            <a:off x="6962775" y="1457325"/>
            <a:ext cx="7286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Submit and validate</a:t>
            </a:r>
            <a:endParaRPr lang="en-US" sz="641" dirty="0"/>
          </a:p>
        </p:txBody>
      </p:sp>
      <p:sp>
        <p:nvSpPr>
          <p:cNvPr id="23" name="Shape 20"/>
          <p:cNvSpPr/>
          <p:nvPr/>
        </p:nvSpPr>
        <p:spPr>
          <a:xfrm>
            <a:off x="6858000" y="1638300"/>
            <a:ext cx="1907000" cy="114300"/>
          </a:xfrm>
          <a:prstGeom prst="rect">
            <a:avLst/>
          </a:prstGeom>
          <a:noFill/>
          <a:ln/>
        </p:spPr>
      </p:sp>
      <p:sp>
        <p:nvSpPr>
          <p:cNvPr id="24" name="Shape 21"/>
          <p:cNvSpPr/>
          <p:nvPr/>
        </p:nvSpPr>
        <p:spPr>
          <a:xfrm>
            <a:off x="6858000" y="1671638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25" name="Text 22"/>
          <p:cNvSpPr/>
          <p:nvPr/>
        </p:nvSpPr>
        <p:spPr>
          <a:xfrm>
            <a:off x="6962775" y="1638300"/>
            <a:ext cx="73342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Wait for the window</a:t>
            </a:r>
            <a:endParaRPr lang="en-US" sz="641" dirty="0"/>
          </a:p>
        </p:txBody>
      </p:sp>
      <p:sp>
        <p:nvSpPr>
          <p:cNvPr id="26" name="Shape 23"/>
          <p:cNvSpPr/>
          <p:nvPr/>
        </p:nvSpPr>
        <p:spPr>
          <a:xfrm>
            <a:off x="6858000" y="181927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27" name="Shape 24"/>
          <p:cNvSpPr/>
          <p:nvPr/>
        </p:nvSpPr>
        <p:spPr>
          <a:xfrm>
            <a:off x="6858000" y="1852612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28" name="Text 25"/>
          <p:cNvSpPr/>
          <p:nvPr/>
        </p:nvSpPr>
        <p:spPr>
          <a:xfrm>
            <a:off x="6962775" y="1819275"/>
            <a:ext cx="6096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Run and monitor</a:t>
            </a:r>
            <a:endParaRPr lang="en-US" sz="641" dirty="0"/>
          </a:p>
        </p:txBody>
      </p:sp>
      <p:sp>
        <p:nvSpPr>
          <p:cNvPr id="29" name="Shape 26"/>
          <p:cNvSpPr/>
          <p:nvPr/>
        </p:nvSpPr>
        <p:spPr>
          <a:xfrm>
            <a:off x="6858000" y="2000250"/>
            <a:ext cx="1907000" cy="114300"/>
          </a:xfrm>
          <a:prstGeom prst="rect">
            <a:avLst/>
          </a:prstGeom>
          <a:noFill/>
          <a:ln/>
        </p:spPr>
      </p:sp>
      <p:sp>
        <p:nvSpPr>
          <p:cNvPr id="30" name="Shape 27"/>
          <p:cNvSpPr/>
          <p:nvPr/>
        </p:nvSpPr>
        <p:spPr>
          <a:xfrm>
            <a:off x="6858000" y="2033588"/>
            <a:ext cx="47625" cy="47625"/>
          </a:xfrm>
          <a:prstGeom prst="ellipse">
            <a:avLst/>
          </a:prstGeom>
          <a:solidFill>
            <a:srgbClr val="00B1F5"/>
          </a:solidFill>
          <a:ln/>
        </p:spPr>
      </p:sp>
      <p:sp>
        <p:nvSpPr>
          <p:cNvPr id="31" name="Text 28"/>
          <p:cNvSpPr/>
          <p:nvPr/>
        </p:nvSpPr>
        <p:spPr>
          <a:xfrm>
            <a:off x="6962775" y="2000250"/>
            <a:ext cx="70008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18232A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Handle exceptions</a:t>
            </a:r>
            <a:endParaRPr lang="en-US" sz="641" dirty="0"/>
          </a:p>
        </p:txBody>
      </p:sp>
      <p:sp>
        <p:nvSpPr>
          <p:cNvPr id="32" name="Shape 29"/>
          <p:cNvSpPr/>
          <p:nvPr/>
        </p:nvSpPr>
        <p:spPr>
          <a:xfrm>
            <a:off x="6858000" y="218122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33" name="Shape 30"/>
          <p:cNvSpPr/>
          <p:nvPr/>
        </p:nvSpPr>
        <p:spPr>
          <a:xfrm>
            <a:off x="6858000" y="2214563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34" name="Text 31"/>
          <p:cNvSpPr/>
          <p:nvPr/>
        </p:nvSpPr>
        <p:spPr>
          <a:xfrm>
            <a:off x="6962775" y="2181225"/>
            <a:ext cx="6381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See the outcome</a:t>
            </a:r>
            <a:endParaRPr lang="en-US" sz="641" dirty="0"/>
          </a:p>
        </p:txBody>
      </p:sp>
      <p:sp>
        <p:nvSpPr>
          <p:cNvPr id="35" name="Shape 32"/>
          <p:cNvSpPr/>
          <p:nvPr/>
        </p:nvSpPr>
        <p:spPr>
          <a:xfrm>
            <a:off x="381000" y="4886325"/>
            <a:ext cx="8382000" cy="9525"/>
          </a:xfrm>
          <a:prstGeom prst="rect">
            <a:avLst/>
          </a:prstGeom>
          <a:solidFill>
            <a:srgbClr val="00B1F5"/>
          </a:solidFill>
          <a:ln/>
        </p:spPr>
      </p:sp>
      <p:sp>
        <p:nvSpPr>
          <p:cNvPr id="36" name="Text 33"/>
          <p:cNvSpPr/>
          <p:nvPr/>
        </p:nvSpPr>
        <p:spPr>
          <a:xfrm>
            <a:off x="381000" y="4972050"/>
            <a:ext cx="438150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70"/>
              </a:lnSpc>
              <a:buNone/>
            </a:pPr>
            <a:r>
              <a:rPr lang="en-US" sz="463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Internal use only</a:t>
            </a:r>
            <a:endParaRPr lang="en-US" sz="463" dirty="0"/>
          </a:p>
        </p:txBody>
      </p:sp>
      <p:sp>
        <p:nvSpPr>
          <p:cNvPr id="37" name="Shape 34"/>
          <p:cNvSpPr/>
          <p:nvPr/>
        </p:nvSpPr>
        <p:spPr>
          <a:xfrm>
            <a:off x="8077200" y="4924425"/>
            <a:ext cx="684389" cy="133350"/>
          </a:xfrm>
          <a:prstGeom prst="rect">
            <a:avLst/>
          </a:prstGeom>
          <a:noFill/>
          <a:ln/>
        </p:spPr>
      </p:sp>
      <p:pic>
        <p:nvPicPr>
          <p:cNvPr id="38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206665" y="4948089"/>
            <a:ext cx="537666" cy="89241"/>
          </a:xfrm>
          <a:prstGeom prst="rect">
            <a:avLst/>
          </a:prstGeom>
        </p:spPr>
      </p:pic>
      <p:pic>
        <p:nvPicPr>
          <p:cNvPr id="39" name="Image 2" descr="preencoded.png">    </p:cNvPr>
          <p:cNvPicPr>
            <a:picLocks noChangeAspect="1"/>
          </p:cNvPicPr>
          <p:nvPr/>
        </p:nvPicPr>
        <p:blipFill>
          <a:blip r:embed="rId3"/>
          <a:srcRect l="0" r="67575" t="0" b="80646"/>
          <a:stretch/>
        </p:blipFill>
        <p:spPr>
          <a:xfrm>
            <a:off x="7356834" y="4579581"/>
            <a:ext cx="345665" cy="13335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43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381000" y="209550"/>
            <a:ext cx="3214688" cy="228600"/>
          </a:xfrm>
          <a:prstGeom prst="rect">
            <a:avLst/>
          </a:prstGeom>
          <a:noFill/>
          <a:ln/>
        </p:spPr>
      </p:sp>
      <p:sp>
        <p:nvSpPr>
          <p:cNvPr id="4" name="Text 2"/>
          <p:cNvSpPr/>
          <p:nvPr/>
        </p:nvSpPr>
        <p:spPr>
          <a:xfrm>
            <a:off x="381000" y="209550"/>
            <a:ext cx="14239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00B1F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See the outcome</a:t>
            </a:r>
            <a:endParaRPr lang="en-US" sz="1425" dirty="0"/>
          </a:p>
        </p:txBody>
      </p:sp>
      <p:sp>
        <p:nvSpPr>
          <p:cNvPr id="5" name="Shape 3"/>
          <p:cNvSpPr/>
          <p:nvPr/>
        </p:nvSpPr>
        <p:spPr>
          <a:xfrm>
            <a:off x="1871663" y="228600"/>
            <a:ext cx="14288" cy="190500"/>
          </a:xfrm>
          <a:prstGeom prst="rect">
            <a:avLst/>
          </a:prstGeom>
          <a:solidFill>
            <a:srgbClr val="00B1F5"/>
          </a:solidFill>
          <a:ln/>
        </p:spPr>
      </p:sp>
      <p:sp>
        <p:nvSpPr>
          <p:cNvPr id="6" name="Text 4"/>
          <p:cNvSpPr/>
          <p:nvPr/>
        </p:nvSpPr>
        <p:spPr>
          <a:xfrm>
            <a:off x="1952625" y="209550"/>
            <a:ext cx="16430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18232A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The item completes</a:t>
            </a:r>
            <a:endParaRPr lang="en-US" sz="1425" dirty="0"/>
          </a:p>
        </p:txBody>
      </p:sp>
      <p:sp>
        <p:nvSpPr>
          <p:cNvPr id="7" name="Text 5"/>
          <p:cNvSpPr/>
          <p:nvPr/>
        </p:nvSpPr>
        <p:spPr>
          <a:xfrm>
            <a:off x="381000" y="476250"/>
            <a:ext cx="83820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784" dirty="0">
                <a:solidFill>
                  <a:srgbClr val="5D6B7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Every task has finished and the item is marked Completed.</a:t>
            </a:r>
            <a:endParaRPr lang="en-US" sz="784" dirty="0"/>
          </a:p>
        </p:txBody>
      </p:sp>
      <p:sp>
        <p:nvSpPr>
          <p:cNvPr id="8" name="Shape 6"/>
          <p:cNvSpPr/>
          <p:nvPr/>
        </p:nvSpPr>
        <p:spPr>
          <a:xfrm>
            <a:off x="6858001" y="752475"/>
            <a:ext cx="1907000" cy="1543050"/>
          </a:xfrm>
          <a:prstGeom prst="rect">
            <a:avLst/>
          </a:prstGeom>
          <a:noFill/>
          <a:ln/>
        </p:spPr>
      </p:sp>
      <p:sp>
        <p:nvSpPr>
          <p:cNvPr id="9" name="Text 7"/>
          <p:cNvSpPr/>
          <p:nvPr/>
        </p:nvSpPr>
        <p:spPr>
          <a:xfrm>
            <a:off x="6858001" y="752475"/>
            <a:ext cx="44767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13"/>
              </a:lnSpc>
              <a:buNone/>
            </a:pPr>
            <a:r>
              <a:rPr lang="en-US" sz="570" spc="34" kern="0" dirty="0">
                <a:solidFill>
                  <a:srgbClr val="00B1F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STEP 8 OF 8</a:t>
            </a:r>
            <a:endParaRPr lang="en-US" sz="570" dirty="0"/>
          </a:p>
        </p:txBody>
      </p:sp>
      <p:sp>
        <p:nvSpPr>
          <p:cNvPr id="10" name="Shape 8"/>
          <p:cNvSpPr/>
          <p:nvPr/>
        </p:nvSpPr>
        <p:spPr>
          <a:xfrm>
            <a:off x="6858001" y="914400"/>
            <a:ext cx="1905000" cy="114300"/>
          </a:xfrm>
          <a:prstGeom prst="rect">
            <a:avLst/>
          </a:prstGeom>
          <a:noFill/>
          <a:ln/>
        </p:spPr>
      </p:sp>
      <p:sp>
        <p:nvSpPr>
          <p:cNvPr id="11" name="Shape 9"/>
          <p:cNvSpPr/>
          <p:nvPr/>
        </p:nvSpPr>
        <p:spPr>
          <a:xfrm>
            <a:off x="6858001" y="947737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12" name="Text 10"/>
          <p:cNvSpPr/>
          <p:nvPr/>
        </p:nvSpPr>
        <p:spPr>
          <a:xfrm>
            <a:off x="6962776" y="914400"/>
            <a:ext cx="5381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Find your work</a:t>
            </a:r>
            <a:endParaRPr lang="en-US" sz="641" dirty="0"/>
          </a:p>
        </p:txBody>
      </p:sp>
      <p:sp>
        <p:nvSpPr>
          <p:cNvPr id="13" name="Shape 11"/>
          <p:cNvSpPr/>
          <p:nvPr/>
        </p:nvSpPr>
        <p:spPr>
          <a:xfrm>
            <a:off x="6858001" y="109537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14" name="Shape 12"/>
          <p:cNvSpPr/>
          <p:nvPr/>
        </p:nvSpPr>
        <p:spPr>
          <a:xfrm>
            <a:off x="6858001" y="1128713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15" name="Text 13"/>
          <p:cNvSpPr/>
          <p:nvPr/>
        </p:nvSpPr>
        <p:spPr>
          <a:xfrm>
            <a:off x="6962776" y="1095375"/>
            <a:ext cx="5715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Create the plan</a:t>
            </a:r>
            <a:endParaRPr lang="en-US" sz="641" dirty="0"/>
          </a:p>
        </p:txBody>
      </p:sp>
      <p:sp>
        <p:nvSpPr>
          <p:cNvPr id="16" name="Shape 14"/>
          <p:cNvSpPr/>
          <p:nvPr/>
        </p:nvSpPr>
        <p:spPr>
          <a:xfrm>
            <a:off x="6858001" y="1276350"/>
            <a:ext cx="1907000" cy="114300"/>
          </a:xfrm>
          <a:prstGeom prst="rect">
            <a:avLst/>
          </a:prstGeom>
          <a:noFill/>
          <a:ln/>
        </p:spPr>
      </p:sp>
      <p:sp>
        <p:nvSpPr>
          <p:cNvPr id="17" name="Shape 15"/>
          <p:cNvSpPr/>
          <p:nvPr/>
        </p:nvSpPr>
        <p:spPr>
          <a:xfrm>
            <a:off x="6858001" y="1309688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18" name="Text 16"/>
          <p:cNvSpPr/>
          <p:nvPr/>
        </p:nvSpPr>
        <p:spPr>
          <a:xfrm>
            <a:off x="6962776" y="1276350"/>
            <a:ext cx="37623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Add items</a:t>
            </a:r>
            <a:endParaRPr lang="en-US" sz="641" dirty="0"/>
          </a:p>
        </p:txBody>
      </p:sp>
      <p:sp>
        <p:nvSpPr>
          <p:cNvPr id="19" name="Shape 17"/>
          <p:cNvSpPr/>
          <p:nvPr/>
        </p:nvSpPr>
        <p:spPr>
          <a:xfrm>
            <a:off x="6858001" y="145732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20" name="Shape 18"/>
          <p:cNvSpPr/>
          <p:nvPr/>
        </p:nvSpPr>
        <p:spPr>
          <a:xfrm>
            <a:off x="6858001" y="1490663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21" name="Text 19"/>
          <p:cNvSpPr/>
          <p:nvPr/>
        </p:nvSpPr>
        <p:spPr>
          <a:xfrm>
            <a:off x="6962776" y="1457325"/>
            <a:ext cx="7286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Submit and validate</a:t>
            </a:r>
            <a:endParaRPr lang="en-US" sz="641" dirty="0"/>
          </a:p>
        </p:txBody>
      </p:sp>
      <p:sp>
        <p:nvSpPr>
          <p:cNvPr id="22" name="Shape 20"/>
          <p:cNvSpPr/>
          <p:nvPr/>
        </p:nvSpPr>
        <p:spPr>
          <a:xfrm>
            <a:off x="6858001" y="1638300"/>
            <a:ext cx="1907000" cy="114300"/>
          </a:xfrm>
          <a:prstGeom prst="rect">
            <a:avLst/>
          </a:prstGeom>
          <a:noFill/>
          <a:ln/>
        </p:spPr>
      </p:sp>
      <p:sp>
        <p:nvSpPr>
          <p:cNvPr id="23" name="Shape 21"/>
          <p:cNvSpPr/>
          <p:nvPr/>
        </p:nvSpPr>
        <p:spPr>
          <a:xfrm>
            <a:off x="6858001" y="1671638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24" name="Text 22"/>
          <p:cNvSpPr/>
          <p:nvPr/>
        </p:nvSpPr>
        <p:spPr>
          <a:xfrm>
            <a:off x="6962776" y="1638300"/>
            <a:ext cx="73342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Wait for the window</a:t>
            </a:r>
            <a:endParaRPr lang="en-US" sz="641" dirty="0"/>
          </a:p>
        </p:txBody>
      </p:sp>
      <p:sp>
        <p:nvSpPr>
          <p:cNvPr id="25" name="Shape 23"/>
          <p:cNvSpPr/>
          <p:nvPr/>
        </p:nvSpPr>
        <p:spPr>
          <a:xfrm>
            <a:off x="6858001" y="181927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26" name="Shape 24"/>
          <p:cNvSpPr/>
          <p:nvPr/>
        </p:nvSpPr>
        <p:spPr>
          <a:xfrm>
            <a:off x="6858001" y="1852612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27" name="Text 25"/>
          <p:cNvSpPr/>
          <p:nvPr/>
        </p:nvSpPr>
        <p:spPr>
          <a:xfrm>
            <a:off x="6962776" y="1819275"/>
            <a:ext cx="6096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Run and monitor</a:t>
            </a:r>
            <a:endParaRPr lang="en-US" sz="641" dirty="0"/>
          </a:p>
        </p:txBody>
      </p:sp>
      <p:sp>
        <p:nvSpPr>
          <p:cNvPr id="28" name="Shape 26"/>
          <p:cNvSpPr/>
          <p:nvPr/>
        </p:nvSpPr>
        <p:spPr>
          <a:xfrm>
            <a:off x="6858001" y="2000250"/>
            <a:ext cx="1907000" cy="114300"/>
          </a:xfrm>
          <a:prstGeom prst="rect">
            <a:avLst/>
          </a:prstGeom>
          <a:noFill/>
          <a:ln/>
        </p:spPr>
      </p:sp>
      <p:sp>
        <p:nvSpPr>
          <p:cNvPr id="29" name="Shape 27"/>
          <p:cNvSpPr/>
          <p:nvPr/>
        </p:nvSpPr>
        <p:spPr>
          <a:xfrm>
            <a:off x="6858001" y="2033588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30" name="Text 28"/>
          <p:cNvSpPr/>
          <p:nvPr/>
        </p:nvSpPr>
        <p:spPr>
          <a:xfrm>
            <a:off x="6962776" y="2000250"/>
            <a:ext cx="6905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Handle exceptions</a:t>
            </a:r>
            <a:endParaRPr lang="en-US" sz="641" dirty="0"/>
          </a:p>
        </p:txBody>
      </p:sp>
      <p:sp>
        <p:nvSpPr>
          <p:cNvPr id="31" name="Shape 29"/>
          <p:cNvSpPr/>
          <p:nvPr/>
        </p:nvSpPr>
        <p:spPr>
          <a:xfrm>
            <a:off x="6858001" y="218122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32" name="Shape 30"/>
          <p:cNvSpPr/>
          <p:nvPr/>
        </p:nvSpPr>
        <p:spPr>
          <a:xfrm>
            <a:off x="6858001" y="2214563"/>
            <a:ext cx="47625" cy="47625"/>
          </a:xfrm>
          <a:prstGeom prst="ellipse">
            <a:avLst/>
          </a:prstGeom>
          <a:solidFill>
            <a:srgbClr val="00B1F5"/>
          </a:solidFill>
          <a:ln/>
        </p:spPr>
      </p:sp>
      <p:sp>
        <p:nvSpPr>
          <p:cNvPr id="33" name="Text 31"/>
          <p:cNvSpPr/>
          <p:nvPr/>
        </p:nvSpPr>
        <p:spPr>
          <a:xfrm>
            <a:off x="6962776" y="2181225"/>
            <a:ext cx="64293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18232A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See the outcome</a:t>
            </a:r>
            <a:endParaRPr lang="en-US" sz="641" dirty="0"/>
          </a:p>
        </p:txBody>
      </p:sp>
      <p:pic>
        <p:nvPicPr>
          <p:cNvPr id="3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81000" y="714375"/>
            <a:ext cx="6210300" cy="4095750"/>
          </a:xfrm>
          <a:prstGeom prst="rect">
            <a:avLst/>
          </a:prstGeom>
        </p:spPr>
      </p:pic>
      <p:sp>
        <p:nvSpPr>
          <p:cNvPr id="35" name="Shape 32"/>
          <p:cNvSpPr/>
          <p:nvPr/>
        </p:nvSpPr>
        <p:spPr>
          <a:xfrm>
            <a:off x="381000" y="4886325"/>
            <a:ext cx="8382000" cy="9525"/>
          </a:xfrm>
          <a:prstGeom prst="rect">
            <a:avLst/>
          </a:prstGeom>
          <a:solidFill>
            <a:srgbClr val="00B1F5"/>
          </a:solidFill>
          <a:ln/>
        </p:spPr>
      </p:sp>
      <p:sp>
        <p:nvSpPr>
          <p:cNvPr id="36" name="Text 33"/>
          <p:cNvSpPr/>
          <p:nvPr/>
        </p:nvSpPr>
        <p:spPr>
          <a:xfrm>
            <a:off x="381000" y="4972050"/>
            <a:ext cx="438150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70"/>
              </a:lnSpc>
              <a:buNone/>
            </a:pPr>
            <a:r>
              <a:rPr lang="en-US" sz="463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Internal use only</a:t>
            </a:r>
            <a:endParaRPr lang="en-US" sz="463" dirty="0"/>
          </a:p>
        </p:txBody>
      </p:sp>
      <p:sp>
        <p:nvSpPr>
          <p:cNvPr id="37" name="Shape 34"/>
          <p:cNvSpPr/>
          <p:nvPr/>
        </p:nvSpPr>
        <p:spPr>
          <a:xfrm>
            <a:off x="8077200" y="4924425"/>
            <a:ext cx="684389" cy="133350"/>
          </a:xfrm>
          <a:prstGeom prst="rect">
            <a:avLst/>
          </a:prstGeom>
          <a:noFill/>
          <a:ln/>
        </p:spPr>
      </p:sp>
      <p:pic>
        <p:nvPicPr>
          <p:cNvPr id="38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206665" y="4948089"/>
            <a:ext cx="537666" cy="89241"/>
          </a:xfrm>
          <a:prstGeom prst="rect">
            <a:avLst/>
          </a:prstGeom>
        </p:spPr>
      </p:pic>
      <p:pic>
        <p:nvPicPr>
          <p:cNvPr id="39" name="Image 2" descr="preencoded.png">    </p:cNvPr>
          <p:cNvPicPr>
            <a:picLocks noChangeAspect="1"/>
          </p:cNvPicPr>
          <p:nvPr/>
        </p:nvPicPr>
        <p:blipFill>
          <a:blip r:embed="rId3"/>
          <a:srcRect l="0" r="67575" t="0" b="80646"/>
          <a:stretch/>
        </p:blipFill>
        <p:spPr>
          <a:xfrm>
            <a:off x="7356834" y="4579581"/>
            <a:ext cx="345665" cy="13335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43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381000" y="209550"/>
            <a:ext cx="2833688" cy="228600"/>
          </a:xfrm>
          <a:prstGeom prst="rect">
            <a:avLst/>
          </a:prstGeom>
          <a:noFill/>
          <a:ln/>
        </p:spPr>
      </p:sp>
      <p:sp>
        <p:nvSpPr>
          <p:cNvPr id="4" name="Text 2"/>
          <p:cNvSpPr/>
          <p:nvPr/>
        </p:nvSpPr>
        <p:spPr>
          <a:xfrm>
            <a:off x="381000" y="209550"/>
            <a:ext cx="14239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00B1F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See the outcome</a:t>
            </a:r>
            <a:endParaRPr lang="en-US" sz="1425" dirty="0"/>
          </a:p>
        </p:txBody>
      </p:sp>
      <p:sp>
        <p:nvSpPr>
          <p:cNvPr id="5" name="Shape 3"/>
          <p:cNvSpPr/>
          <p:nvPr/>
        </p:nvSpPr>
        <p:spPr>
          <a:xfrm>
            <a:off x="1871663" y="228600"/>
            <a:ext cx="14288" cy="190500"/>
          </a:xfrm>
          <a:prstGeom prst="rect">
            <a:avLst/>
          </a:prstGeom>
          <a:solidFill>
            <a:srgbClr val="00B1F5"/>
          </a:solidFill>
          <a:ln/>
        </p:spPr>
      </p:sp>
      <p:sp>
        <p:nvSpPr>
          <p:cNvPr id="6" name="Text 4"/>
          <p:cNvSpPr/>
          <p:nvPr/>
        </p:nvSpPr>
        <p:spPr>
          <a:xfrm>
            <a:off x="1952625" y="209550"/>
            <a:ext cx="12620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18232A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The plan closes</a:t>
            </a:r>
            <a:endParaRPr lang="en-US" sz="1425" dirty="0"/>
          </a:p>
        </p:txBody>
      </p:sp>
      <p:sp>
        <p:nvSpPr>
          <p:cNvPr id="7" name="Text 5"/>
          <p:cNvSpPr/>
          <p:nvPr/>
        </p:nvSpPr>
        <p:spPr>
          <a:xfrm>
            <a:off x="381000" y="476250"/>
            <a:ext cx="83820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784" dirty="0">
                <a:solidFill>
                  <a:srgbClr val="5D6B7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When every item has finished, the change record is closed and the plan shows its outcome.</a:t>
            </a:r>
            <a:endParaRPr lang="en-US" sz="784" dirty="0"/>
          </a:p>
        </p:txBody>
      </p:sp>
      <p:sp>
        <p:nvSpPr>
          <p:cNvPr id="8" name="Shape 6"/>
          <p:cNvSpPr/>
          <p:nvPr/>
        </p:nvSpPr>
        <p:spPr>
          <a:xfrm>
            <a:off x="6858001" y="752475"/>
            <a:ext cx="1907000" cy="1543050"/>
          </a:xfrm>
          <a:prstGeom prst="rect">
            <a:avLst/>
          </a:prstGeom>
          <a:noFill/>
          <a:ln/>
        </p:spPr>
      </p:sp>
      <p:sp>
        <p:nvSpPr>
          <p:cNvPr id="9" name="Text 7"/>
          <p:cNvSpPr/>
          <p:nvPr/>
        </p:nvSpPr>
        <p:spPr>
          <a:xfrm>
            <a:off x="6858001" y="752475"/>
            <a:ext cx="44767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13"/>
              </a:lnSpc>
              <a:buNone/>
            </a:pPr>
            <a:r>
              <a:rPr lang="en-US" sz="570" spc="34" kern="0" dirty="0">
                <a:solidFill>
                  <a:srgbClr val="00B1F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STEP 8 OF 8</a:t>
            </a:r>
            <a:endParaRPr lang="en-US" sz="570" dirty="0"/>
          </a:p>
        </p:txBody>
      </p:sp>
      <p:sp>
        <p:nvSpPr>
          <p:cNvPr id="10" name="Shape 8"/>
          <p:cNvSpPr/>
          <p:nvPr/>
        </p:nvSpPr>
        <p:spPr>
          <a:xfrm>
            <a:off x="6858001" y="914400"/>
            <a:ext cx="1905000" cy="114300"/>
          </a:xfrm>
          <a:prstGeom prst="rect">
            <a:avLst/>
          </a:prstGeom>
          <a:noFill/>
          <a:ln/>
        </p:spPr>
      </p:sp>
      <p:sp>
        <p:nvSpPr>
          <p:cNvPr id="11" name="Shape 9"/>
          <p:cNvSpPr/>
          <p:nvPr/>
        </p:nvSpPr>
        <p:spPr>
          <a:xfrm>
            <a:off x="6858001" y="947737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12" name="Text 10"/>
          <p:cNvSpPr/>
          <p:nvPr/>
        </p:nvSpPr>
        <p:spPr>
          <a:xfrm>
            <a:off x="6962776" y="914400"/>
            <a:ext cx="5381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Find your work</a:t>
            </a:r>
            <a:endParaRPr lang="en-US" sz="641" dirty="0"/>
          </a:p>
        </p:txBody>
      </p:sp>
      <p:sp>
        <p:nvSpPr>
          <p:cNvPr id="13" name="Shape 11"/>
          <p:cNvSpPr/>
          <p:nvPr/>
        </p:nvSpPr>
        <p:spPr>
          <a:xfrm>
            <a:off x="6858001" y="109537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14" name="Shape 12"/>
          <p:cNvSpPr/>
          <p:nvPr/>
        </p:nvSpPr>
        <p:spPr>
          <a:xfrm>
            <a:off x="6858001" y="1128713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15" name="Text 13"/>
          <p:cNvSpPr/>
          <p:nvPr/>
        </p:nvSpPr>
        <p:spPr>
          <a:xfrm>
            <a:off x="6962776" y="1095375"/>
            <a:ext cx="5715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Create the plan</a:t>
            </a:r>
            <a:endParaRPr lang="en-US" sz="641" dirty="0"/>
          </a:p>
        </p:txBody>
      </p:sp>
      <p:sp>
        <p:nvSpPr>
          <p:cNvPr id="16" name="Shape 14"/>
          <p:cNvSpPr/>
          <p:nvPr/>
        </p:nvSpPr>
        <p:spPr>
          <a:xfrm>
            <a:off x="6858001" y="1276350"/>
            <a:ext cx="1907000" cy="114300"/>
          </a:xfrm>
          <a:prstGeom prst="rect">
            <a:avLst/>
          </a:prstGeom>
          <a:noFill/>
          <a:ln/>
        </p:spPr>
      </p:sp>
      <p:sp>
        <p:nvSpPr>
          <p:cNvPr id="17" name="Shape 15"/>
          <p:cNvSpPr/>
          <p:nvPr/>
        </p:nvSpPr>
        <p:spPr>
          <a:xfrm>
            <a:off x="6858001" y="1309688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18" name="Text 16"/>
          <p:cNvSpPr/>
          <p:nvPr/>
        </p:nvSpPr>
        <p:spPr>
          <a:xfrm>
            <a:off x="6962776" y="1276350"/>
            <a:ext cx="37623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Add items</a:t>
            </a:r>
            <a:endParaRPr lang="en-US" sz="641" dirty="0"/>
          </a:p>
        </p:txBody>
      </p:sp>
      <p:sp>
        <p:nvSpPr>
          <p:cNvPr id="19" name="Shape 17"/>
          <p:cNvSpPr/>
          <p:nvPr/>
        </p:nvSpPr>
        <p:spPr>
          <a:xfrm>
            <a:off x="6858001" y="145732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20" name="Shape 18"/>
          <p:cNvSpPr/>
          <p:nvPr/>
        </p:nvSpPr>
        <p:spPr>
          <a:xfrm>
            <a:off x="6858001" y="1490663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21" name="Text 19"/>
          <p:cNvSpPr/>
          <p:nvPr/>
        </p:nvSpPr>
        <p:spPr>
          <a:xfrm>
            <a:off x="6962776" y="1457325"/>
            <a:ext cx="7286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Submit and validate</a:t>
            </a:r>
            <a:endParaRPr lang="en-US" sz="641" dirty="0"/>
          </a:p>
        </p:txBody>
      </p:sp>
      <p:sp>
        <p:nvSpPr>
          <p:cNvPr id="22" name="Shape 20"/>
          <p:cNvSpPr/>
          <p:nvPr/>
        </p:nvSpPr>
        <p:spPr>
          <a:xfrm>
            <a:off x="6858001" y="1638300"/>
            <a:ext cx="1907000" cy="114300"/>
          </a:xfrm>
          <a:prstGeom prst="rect">
            <a:avLst/>
          </a:prstGeom>
          <a:noFill/>
          <a:ln/>
        </p:spPr>
      </p:sp>
      <p:sp>
        <p:nvSpPr>
          <p:cNvPr id="23" name="Shape 21"/>
          <p:cNvSpPr/>
          <p:nvPr/>
        </p:nvSpPr>
        <p:spPr>
          <a:xfrm>
            <a:off x="6858001" y="1671638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24" name="Text 22"/>
          <p:cNvSpPr/>
          <p:nvPr/>
        </p:nvSpPr>
        <p:spPr>
          <a:xfrm>
            <a:off x="6962776" y="1638300"/>
            <a:ext cx="73342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Wait for the window</a:t>
            </a:r>
            <a:endParaRPr lang="en-US" sz="641" dirty="0"/>
          </a:p>
        </p:txBody>
      </p:sp>
      <p:sp>
        <p:nvSpPr>
          <p:cNvPr id="25" name="Shape 23"/>
          <p:cNvSpPr/>
          <p:nvPr/>
        </p:nvSpPr>
        <p:spPr>
          <a:xfrm>
            <a:off x="6858001" y="181927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26" name="Shape 24"/>
          <p:cNvSpPr/>
          <p:nvPr/>
        </p:nvSpPr>
        <p:spPr>
          <a:xfrm>
            <a:off x="6858001" y="1852612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27" name="Text 25"/>
          <p:cNvSpPr/>
          <p:nvPr/>
        </p:nvSpPr>
        <p:spPr>
          <a:xfrm>
            <a:off x="6962776" y="1819275"/>
            <a:ext cx="6096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Run and monitor</a:t>
            </a:r>
            <a:endParaRPr lang="en-US" sz="641" dirty="0"/>
          </a:p>
        </p:txBody>
      </p:sp>
      <p:sp>
        <p:nvSpPr>
          <p:cNvPr id="28" name="Shape 26"/>
          <p:cNvSpPr/>
          <p:nvPr/>
        </p:nvSpPr>
        <p:spPr>
          <a:xfrm>
            <a:off x="6858001" y="2000250"/>
            <a:ext cx="1907000" cy="114300"/>
          </a:xfrm>
          <a:prstGeom prst="rect">
            <a:avLst/>
          </a:prstGeom>
          <a:noFill/>
          <a:ln/>
        </p:spPr>
      </p:sp>
      <p:sp>
        <p:nvSpPr>
          <p:cNvPr id="29" name="Shape 27"/>
          <p:cNvSpPr/>
          <p:nvPr/>
        </p:nvSpPr>
        <p:spPr>
          <a:xfrm>
            <a:off x="6858001" y="2033588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30" name="Text 28"/>
          <p:cNvSpPr/>
          <p:nvPr/>
        </p:nvSpPr>
        <p:spPr>
          <a:xfrm>
            <a:off x="6962776" y="2000250"/>
            <a:ext cx="6905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Handle exceptions</a:t>
            </a:r>
            <a:endParaRPr lang="en-US" sz="641" dirty="0"/>
          </a:p>
        </p:txBody>
      </p:sp>
      <p:sp>
        <p:nvSpPr>
          <p:cNvPr id="31" name="Shape 29"/>
          <p:cNvSpPr/>
          <p:nvPr/>
        </p:nvSpPr>
        <p:spPr>
          <a:xfrm>
            <a:off x="6858001" y="218122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32" name="Shape 30"/>
          <p:cNvSpPr/>
          <p:nvPr/>
        </p:nvSpPr>
        <p:spPr>
          <a:xfrm>
            <a:off x="6858001" y="2214563"/>
            <a:ext cx="47625" cy="47625"/>
          </a:xfrm>
          <a:prstGeom prst="ellipse">
            <a:avLst/>
          </a:prstGeom>
          <a:solidFill>
            <a:srgbClr val="00B1F5"/>
          </a:solidFill>
          <a:ln/>
        </p:spPr>
      </p:sp>
      <p:sp>
        <p:nvSpPr>
          <p:cNvPr id="33" name="Text 31"/>
          <p:cNvSpPr/>
          <p:nvPr/>
        </p:nvSpPr>
        <p:spPr>
          <a:xfrm>
            <a:off x="6962776" y="2181225"/>
            <a:ext cx="64293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18232A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See the outcome</a:t>
            </a:r>
            <a:endParaRPr lang="en-US" sz="641" dirty="0"/>
          </a:p>
        </p:txBody>
      </p:sp>
      <p:pic>
        <p:nvPicPr>
          <p:cNvPr id="3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81000" y="714375"/>
            <a:ext cx="6210300" cy="4095750"/>
          </a:xfrm>
          <a:prstGeom prst="rect">
            <a:avLst/>
          </a:prstGeom>
        </p:spPr>
      </p:pic>
      <p:sp>
        <p:nvSpPr>
          <p:cNvPr id="35" name="Shape 32"/>
          <p:cNvSpPr/>
          <p:nvPr/>
        </p:nvSpPr>
        <p:spPr>
          <a:xfrm>
            <a:off x="381000" y="4886325"/>
            <a:ext cx="8382000" cy="9525"/>
          </a:xfrm>
          <a:prstGeom prst="rect">
            <a:avLst/>
          </a:prstGeom>
          <a:solidFill>
            <a:srgbClr val="00B1F5"/>
          </a:solidFill>
          <a:ln/>
        </p:spPr>
      </p:sp>
      <p:sp>
        <p:nvSpPr>
          <p:cNvPr id="36" name="Text 33"/>
          <p:cNvSpPr/>
          <p:nvPr/>
        </p:nvSpPr>
        <p:spPr>
          <a:xfrm>
            <a:off x="381000" y="4972050"/>
            <a:ext cx="438150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70"/>
              </a:lnSpc>
              <a:buNone/>
            </a:pPr>
            <a:r>
              <a:rPr lang="en-US" sz="463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Internal use only</a:t>
            </a:r>
            <a:endParaRPr lang="en-US" sz="463" dirty="0"/>
          </a:p>
        </p:txBody>
      </p:sp>
      <p:sp>
        <p:nvSpPr>
          <p:cNvPr id="37" name="Shape 34"/>
          <p:cNvSpPr/>
          <p:nvPr/>
        </p:nvSpPr>
        <p:spPr>
          <a:xfrm>
            <a:off x="8077200" y="4924425"/>
            <a:ext cx="684389" cy="133350"/>
          </a:xfrm>
          <a:prstGeom prst="rect">
            <a:avLst/>
          </a:prstGeom>
          <a:noFill/>
          <a:ln/>
        </p:spPr>
      </p:sp>
      <p:pic>
        <p:nvPicPr>
          <p:cNvPr id="38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206665" y="4948089"/>
            <a:ext cx="537666" cy="89241"/>
          </a:xfrm>
          <a:prstGeom prst="rect">
            <a:avLst/>
          </a:prstGeom>
        </p:spPr>
      </p:pic>
      <p:pic>
        <p:nvPicPr>
          <p:cNvPr id="39" name="Image 2" descr="preencoded.png">    </p:cNvPr>
          <p:cNvPicPr>
            <a:picLocks noChangeAspect="1"/>
          </p:cNvPicPr>
          <p:nvPr/>
        </p:nvPicPr>
        <p:blipFill>
          <a:blip r:embed="rId3"/>
          <a:srcRect l="0" r="67575" t="0" b="80646"/>
          <a:stretch/>
        </p:blipFill>
        <p:spPr>
          <a:xfrm>
            <a:off x="7356834" y="4579581"/>
            <a:ext cx="345665" cy="13335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43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381000" y="209550"/>
            <a:ext cx="4090987" cy="228600"/>
          </a:xfrm>
          <a:prstGeom prst="rect">
            <a:avLst/>
          </a:prstGeom>
          <a:noFill/>
          <a:ln/>
        </p:spPr>
      </p:sp>
      <p:sp>
        <p:nvSpPr>
          <p:cNvPr id="4" name="Text 2"/>
          <p:cNvSpPr/>
          <p:nvPr/>
        </p:nvSpPr>
        <p:spPr>
          <a:xfrm>
            <a:off x="381000" y="209550"/>
            <a:ext cx="14239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00B1F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See the outcome</a:t>
            </a:r>
            <a:endParaRPr lang="en-US" sz="1425" dirty="0"/>
          </a:p>
        </p:txBody>
      </p:sp>
      <p:sp>
        <p:nvSpPr>
          <p:cNvPr id="5" name="Shape 3"/>
          <p:cNvSpPr/>
          <p:nvPr/>
        </p:nvSpPr>
        <p:spPr>
          <a:xfrm>
            <a:off x="1871663" y="228600"/>
            <a:ext cx="14288" cy="190500"/>
          </a:xfrm>
          <a:prstGeom prst="rect">
            <a:avLst/>
          </a:prstGeom>
          <a:solidFill>
            <a:srgbClr val="00B1F5"/>
          </a:solidFill>
          <a:ln/>
        </p:spPr>
      </p:sp>
      <p:sp>
        <p:nvSpPr>
          <p:cNvPr id="6" name="Text 4"/>
          <p:cNvSpPr/>
          <p:nvPr/>
        </p:nvSpPr>
        <p:spPr>
          <a:xfrm>
            <a:off x="1952625" y="209550"/>
            <a:ext cx="25193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18232A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When not every item succeeds</a:t>
            </a:r>
            <a:endParaRPr lang="en-US" sz="1425" dirty="0"/>
          </a:p>
        </p:txBody>
      </p:sp>
      <p:sp>
        <p:nvSpPr>
          <p:cNvPr id="7" name="Text 5"/>
          <p:cNvSpPr/>
          <p:nvPr/>
        </p:nvSpPr>
        <p:spPr>
          <a:xfrm>
            <a:off x="381000" y="476250"/>
            <a:ext cx="83820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784" dirty="0">
                <a:solidFill>
                  <a:srgbClr val="5D6B7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The plan finishes as Completed with failures. The Items tab shows exactly which items did not complete.</a:t>
            </a:r>
            <a:endParaRPr lang="en-US" sz="784" dirty="0"/>
          </a:p>
        </p:txBody>
      </p:sp>
      <p:sp>
        <p:nvSpPr>
          <p:cNvPr id="8" name="Shape 6"/>
          <p:cNvSpPr/>
          <p:nvPr/>
        </p:nvSpPr>
        <p:spPr>
          <a:xfrm>
            <a:off x="6858001" y="752475"/>
            <a:ext cx="1907000" cy="1543050"/>
          </a:xfrm>
          <a:prstGeom prst="rect">
            <a:avLst/>
          </a:prstGeom>
          <a:noFill/>
          <a:ln/>
        </p:spPr>
      </p:sp>
      <p:sp>
        <p:nvSpPr>
          <p:cNvPr id="9" name="Text 7"/>
          <p:cNvSpPr/>
          <p:nvPr/>
        </p:nvSpPr>
        <p:spPr>
          <a:xfrm>
            <a:off x="6858001" y="752475"/>
            <a:ext cx="44767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13"/>
              </a:lnSpc>
              <a:buNone/>
            </a:pPr>
            <a:r>
              <a:rPr lang="en-US" sz="570" spc="34" kern="0" dirty="0">
                <a:solidFill>
                  <a:srgbClr val="00B1F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STEP 8 OF 8</a:t>
            </a:r>
            <a:endParaRPr lang="en-US" sz="570" dirty="0"/>
          </a:p>
        </p:txBody>
      </p:sp>
      <p:sp>
        <p:nvSpPr>
          <p:cNvPr id="10" name="Shape 8"/>
          <p:cNvSpPr/>
          <p:nvPr/>
        </p:nvSpPr>
        <p:spPr>
          <a:xfrm>
            <a:off x="6858001" y="914400"/>
            <a:ext cx="1905000" cy="114300"/>
          </a:xfrm>
          <a:prstGeom prst="rect">
            <a:avLst/>
          </a:prstGeom>
          <a:noFill/>
          <a:ln/>
        </p:spPr>
      </p:sp>
      <p:sp>
        <p:nvSpPr>
          <p:cNvPr id="11" name="Shape 9"/>
          <p:cNvSpPr/>
          <p:nvPr/>
        </p:nvSpPr>
        <p:spPr>
          <a:xfrm>
            <a:off x="6858001" y="947737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12" name="Text 10"/>
          <p:cNvSpPr/>
          <p:nvPr/>
        </p:nvSpPr>
        <p:spPr>
          <a:xfrm>
            <a:off x="6962776" y="914400"/>
            <a:ext cx="5381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Find your work</a:t>
            </a:r>
            <a:endParaRPr lang="en-US" sz="641" dirty="0"/>
          </a:p>
        </p:txBody>
      </p:sp>
      <p:sp>
        <p:nvSpPr>
          <p:cNvPr id="13" name="Shape 11"/>
          <p:cNvSpPr/>
          <p:nvPr/>
        </p:nvSpPr>
        <p:spPr>
          <a:xfrm>
            <a:off x="6858001" y="109537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14" name="Shape 12"/>
          <p:cNvSpPr/>
          <p:nvPr/>
        </p:nvSpPr>
        <p:spPr>
          <a:xfrm>
            <a:off x="6858001" y="1128713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15" name="Text 13"/>
          <p:cNvSpPr/>
          <p:nvPr/>
        </p:nvSpPr>
        <p:spPr>
          <a:xfrm>
            <a:off x="6962776" y="1095375"/>
            <a:ext cx="5715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Create the plan</a:t>
            </a:r>
            <a:endParaRPr lang="en-US" sz="641" dirty="0"/>
          </a:p>
        </p:txBody>
      </p:sp>
      <p:sp>
        <p:nvSpPr>
          <p:cNvPr id="16" name="Shape 14"/>
          <p:cNvSpPr/>
          <p:nvPr/>
        </p:nvSpPr>
        <p:spPr>
          <a:xfrm>
            <a:off x="6858001" y="1276350"/>
            <a:ext cx="1907000" cy="114300"/>
          </a:xfrm>
          <a:prstGeom prst="rect">
            <a:avLst/>
          </a:prstGeom>
          <a:noFill/>
          <a:ln/>
        </p:spPr>
      </p:sp>
      <p:sp>
        <p:nvSpPr>
          <p:cNvPr id="17" name="Shape 15"/>
          <p:cNvSpPr/>
          <p:nvPr/>
        </p:nvSpPr>
        <p:spPr>
          <a:xfrm>
            <a:off x="6858001" y="1309688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18" name="Text 16"/>
          <p:cNvSpPr/>
          <p:nvPr/>
        </p:nvSpPr>
        <p:spPr>
          <a:xfrm>
            <a:off x="6962776" y="1276350"/>
            <a:ext cx="37623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Add items</a:t>
            </a:r>
            <a:endParaRPr lang="en-US" sz="641" dirty="0"/>
          </a:p>
        </p:txBody>
      </p:sp>
      <p:sp>
        <p:nvSpPr>
          <p:cNvPr id="19" name="Shape 17"/>
          <p:cNvSpPr/>
          <p:nvPr/>
        </p:nvSpPr>
        <p:spPr>
          <a:xfrm>
            <a:off x="6858001" y="145732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20" name="Shape 18"/>
          <p:cNvSpPr/>
          <p:nvPr/>
        </p:nvSpPr>
        <p:spPr>
          <a:xfrm>
            <a:off x="6858001" y="1490663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21" name="Text 19"/>
          <p:cNvSpPr/>
          <p:nvPr/>
        </p:nvSpPr>
        <p:spPr>
          <a:xfrm>
            <a:off x="6962776" y="1457325"/>
            <a:ext cx="7286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Submit and validate</a:t>
            </a:r>
            <a:endParaRPr lang="en-US" sz="641" dirty="0"/>
          </a:p>
        </p:txBody>
      </p:sp>
      <p:sp>
        <p:nvSpPr>
          <p:cNvPr id="22" name="Shape 20"/>
          <p:cNvSpPr/>
          <p:nvPr/>
        </p:nvSpPr>
        <p:spPr>
          <a:xfrm>
            <a:off x="6858001" y="1638300"/>
            <a:ext cx="1907000" cy="114300"/>
          </a:xfrm>
          <a:prstGeom prst="rect">
            <a:avLst/>
          </a:prstGeom>
          <a:noFill/>
          <a:ln/>
        </p:spPr>
      </p:sp>
      <p:sp>
        <p:nvSpPr>
          <p:cNvPr id="23" name="Shape 21"/>
          <p:cNvSpPr/>
          <p:nvPr/>
        </p:nvSpPr>
        <p:spPr>
          <a:xfrm>
            <a:off x="6858001" y="1671638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24" name="Text 22"/>
          <p:cNvSpPr/>
          <p:nvPr/>
        </p:nvSpPr>
        <p:spPr>
          <a:xfrm>
            <a:off x="6962776" y="1638300"/>
            <a:ext cx="73342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Wait for the window</a:t>
            </a:r>
            <a:endParaRPr lang="en-US" sz="641" dirty="0"/>
          </a:p>
        </p:txBody>
      </p:sp>
      <p:sp>
        <p:nvSpPr>
          <p:cNvPr id="25" name="Shape 23"/>
          <p:cNvSpPr/>
          <p:nvPr/>
        </p:nvSpPr>
        <p:spPr>
          <a:xfrm>
            <a:off x="6858001" y="181927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26" name="Shape 24"/>
          <p:cNvSpPr/>
          <p:nvPr/>
        </p:nvSpPr>
        <p:spPr>
          <a:xfrm>
            <a:off x="6858001" y="1852612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27" name="Text 25"/>
          <p:cNvSpPr/>
          <p:nvPr/>
        </p:nvSpPr>
        <p:spPr>
          <a:xfrm>
            <a:off x="6962776" y="1819275"/>
            <a:ext cx="6096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Run and monitor</a:t>
            </a:r>
            <a:endParaRPr lang="en-US" sz="641" dirty="0"/>
          </a:p>
        </p:txBody>
      </p:sp>
      <p:sp>
        <p:nvSpPr>
          <p:cNvPr id="28" name="Shape 26"/>
          <p:cNvSpPr/>
          <p:nvPr/>
        </p:nvSpPr>
        <p:spPr>
          <a:xfrm>
            <a:off x="6858001" y="2000250"/>
            <a:ext cx="1907000" cy="114300"/>
          </a:xfrm>
          <a:prstGeom prst="rect">
            <a:avLst/>
          </a:prstGeom>
          <a:noFill/>
          <a:ln/>
        </p:spPr>
      </p:sp>
      <p:sp>
        <p:nvSpPr>
          <p:cNvPr id="29" name="Shape 27"/>
          <p:cNvSpPr/>
          <p:nvPr/>
        </p:nvSpPr>
        <p:spPr>
          <a:xfrm>
            <a:off x="6858001" y="2033588"/>
            <a:ext cx="47625" cy="47625"/>
          </a:xfrm>
          <a:prstGeom prst="ellipse">
            <a:avLst/>
          </a:prstGeom>
          <a:solidFill>
            <a:srgbClr val="E1E6E9"/>
          </a:solidFill>
          <a:ln/>
        </p:spPr>
      </p:sp>
      <p:sp>
        <p:nvSpPr>
          <p:cNvPr id="30" name="Text 28"/>
          <p:cNvSpPr/>
          <p:nvPr/>
        </p:nvSpPr>
        <p:spPr>
          <a:xfrm>
            <a:off x="6962776" y="2000250"/>
            <a:ext cx="6905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Handle exceptions</a:t>
            </a:r>
            <a:endParaRPr lang="en-US" sz="641" dirty="0"/>
          </a:p>
        </p:txBody>
      </p:sp>
      <p:sp>
        <p:nvSpPr>
          <p:cNvPr id="31" name="Shape 29"/>
          <p:cNvSpPr/>
          <p:nvPr/>
        </p:nvSpPr>
        <p:spPr>
          <a:xfrm>
            <a:off x="6858001" y="2181225"/>
            <a:ext cx="1907000" cy="114300"/>
          </a:xfrm>
          <a:prstGeom prst="rect">
            <a:avLst/>
          </a:prstGeom>
          <a:noFill/>
          <a:ln/>
        </p:spPr>
      </p:sp>
      <p:sp>
        <p:nvSpPr>
          <p:cNvPr id="32" name="Shape 30"/>
          <p:cNvSpPr/>
          <p:nvPr/>
        </p:nvSpPr>
        <p:spPr>
          <a:xfrm>
            <a:off x="6858001" y="2214563"/>
            <a:ext cx="47625" cy="47625"/>
          </a:xfrm>
          <a:prstGeom prst="ellipse">
            <a:avLst/>
          </a:prstGeom>
          <a:solidFill>
            <a:srgbClr val="00B1F5"/>
          </a:solidFill>
          <a:ln/>
        </p:spPr>
      </p:sp>
      <p:sp>
        <p:nvSpPr>
          <p:cNvPr id="33" name="Text 31"/>
          <p:cNvSpPr/>
          <p:nvPr/>
        </p:nvSpPr>
        <p:spPr>
          <a:xfrm>
            <a:off x="6962776" y="2181225"/>
            <a:ext cx="64293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5"/>
              </a:lnSpc>
              <a:buNone/>
            </a:pPr>
            <a:r>
              <a:rPr lang="en-US" sz="641" dirty="0">
                <a:solidFill>
                  <a:srgbClr val="18232A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See the outcome</a:t>
            </a:r>
            <a:endParaRPr lang="en-US" sz="641" dirty="0"/>
          </a:p>
        </p:txBody>
      </p:sp>
      <p:pic>
        <p:nvPicPr>
          <p:cNvPr id="3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81000" y="714375"/>
            <a:ext cx="6210300" cy="4095750"/>
          </a:xfrm>
          <a:prstGeom prst="rect">
            <a:avLst/>
          </a:prstGeom>
        </p:spPr>
      </p:pic>
      <p:sp>
        <p:nvSpPr>
          <p:cNvPr id="35" name="Shape 32"/>
          <p:cNvSpPr/>
          <p:nvPr/>
        </p:nvSpPr>
        <p:spPr>
          <a:xfrm>
            <a:off x="381000" y="4886325"/>
            <a:ext cx="8382000" cy="9525"/>
          </a:xfrm>
          <a:prstGeom prst="rect">
            <a:avLst/>
          </a:prstGeom>
          <a:solidFill>
            <a:srgbClr val="00B1F5"/>
          </a:solidFill>
          <a:ln/>
        </p:spPr>
      </p:sp>
      <p:sp>
        <p:nvSpPr>
          <p:cNvPr id="36" name="Text 33"/>
          <p:cNvSpPr/>
          <p:nvPr/>
        </p:nvSpPr>
        <p:spPr>
          <a:xfrm>
            <a:off x="381000" y="4972050"/>
            <a:ext cx="438150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70"/>
              </a:lnSpc>
              <a:buNone/>
            </a:pPr>
            <a:r>
              <a:rPr lang="en-US" sz="463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Internal use only</a:t>
            </a:r>
            <a:endParaRPr lang="en-US" sz="463" dirty="0"/>
          </a:p>
        </p:txBody>
      </p:sp>
      <p:sp>
        <p:nvSpPr>
          <p:cNvPr id="37" name="Shape 34"/>
          <p:cNvSpPr/>
          <p:nvPr/>
        </p:nvSpPr>
        <p:spPr>
          <a:xfrm>
            <a:off x="8077200" y="4924425"/>
            <a:ext cx="684389" cy="133350"/>
          </a:xfrm>
          <a:prstGeom prst="rect">
            <a:avLst/>
          </a:prstGeom>
          <a:noFill/>
          <a:ln/>
        </p:spPr>
      </p:sp>
      <p:pic>
        <p:nvPicPr>
          <p:cNvPr id="38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206665" y="4948089"/>
            <a:ext cx="537666" cy="89241"/>
          </a:xfrm>
          <a:prstGeom prst="rect">
            <a:avLst/>
          </a:prstGeom>
        </p:spPr>
      </p:pic>
      <p:pic>
        <p:nvPicPr>
          <p:cNvPr id="39" name="Image 2" descr="preencoded.png">    </p:cNvPr>
          <p:cNvPicPr>
            <a:picLocks noChangeAspect="1"/>
          </p:cNvPicPr>
          <p:nvPr/>
        </p:nvPicPr>
        <p:blipFill>
          <a:blip r:embed="rId3"/>
          <a:srcRect l="0" r="67575" t="0" b="80646"/>
          <a:stretch/>
        </p:blipFill>
        <p:spPr>
          <a:xfrm>
            <a:off x="7356834" y="4579581"/>
            <a:ext cx="345665" cy="13335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476500" y="2047875"/>
            <a:ext cx="38100" cy="1047750"/>
          </a:xfrm>
          <a:prstGeom prst="roundRect">
            <a:avLst/>
          </a:prstGeom>
          <a:solidFill>
            <a:srgbClr val="00B1F5">
              <a:alpha val="7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2762250" y="2238375"/>
            <a:ext cx="11906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95" dirty="0">
                <a:solidFill>
                  <a:srgbClr val="00B1F5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Thank you</a:t>
            </a:r>
            <a:endParaRPr lang="en-US" sz="1995" dirty="0"/>
          </a:p>
        </p:txBody>
      </p:sp>
      <p:sp>
        <p:nvSpPr>
          <p:cNvPr id="4" name="Text 2"/>
          <p:cNvSpPr/>
          <p:nvPr/>
        </p:nvSpPr>
        <p:spPr>
          <a:xfrm>
            <a:off x="2762250" y="2628900"/>
            <a:ext cx="183356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1"/>
              </a:lnSpc>
              <a:buNone/>
            </a:pPr>
            <a:r>
              <a:rPr lang="en-US" sz="926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Questions and feedback welcome.</a:t>
            </a:r>
            <a:endParaRPr lang="en-US" sz="926" dirty="0"/>
          </a:p>
        </p:txBody>
      </p:sp>
      <p:sp>
        <p:nvSpPr>
          <p:cNvPr id="5" name="Text 3"/>
          <p:cNvSpPr/>
          <p:nvPr/>
        </p:nvSpPr>
        <p:spPr>
          <a:xfrm>
            <a:off x="381000" y="4972050"/>
            <a:ext cx="438150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70"/>
              </a:lnSpc>
              <a:buNone/>
            </a:pPr>
            <a:r>
              <a:rPr lang="en-US" sz="463" dirty="0">
                <a:solidFill>
                  <a:srgbClr val="414E57">
                    <a:alpha val="99000"/>
                  </a:srgbClr>
                </a:solidFill>
                <a:latin typeface="Effra" pitchFamily="34" charset="0"/>
                <a:ea typeface="Effra" pitchFamily="34" charset="-122"/>
                <a:cs typeface="Effra" pitchFamily="34" charset="-120"/>
              </a:rPr>
              <a:t>Internal use only</a:t>
            </a:r>
            <a:endParaRPr lang="en-US" sz="463" dirty="0"/>
          </a:p>
        </p:txBody>
      </p:sp>
      <p:sp>
        <p:nvSpPr>
          <p:cNvPr id="6" name="Shape 4"/>
          <p:cNvSpPr/>
          <p:nvPr/>
        </p:nvSpPr>
        <p:spPr>
          <a:xfrm>
            <a:off x="6877050" y="1857375"/>
            <a:ext cx="38100" cy="1428750"/>
          </a:xfrm>
          <a:prstGeom prst="roundRect">
            <a:avLst/>
          </a:prstGeom>
          <a:solidFill>
            <a:srgbClr val="00B1F5">
              <a:alpha val="7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252555" y="2507456"/>
            <a:ext cx="1295450" cy="252413"/>
          </a:xfrm>
          <a:prstGeom prst="rect">
            <a:avLst/>
          </a:prstGeom>
          <a:noFill/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-4"/>
          <a:stretch/>
        </p:blipFill>
        <p:spPr>
          <a:xfrm>
            <a:off x="7497618" y="2552244"/>
            <a:ext cx="1017725" cy="168920"/>
          </a:xfrm>
          <a:prstGeom prst="rect">
            <a:avLst/>
          </a:prstGeom>
        </p:spPr>
      </p:pic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rcRect l="0" r="67575" t="0" b="80646"/>
          <a:stretch/>
        </p:blipFill>
        <p:spPr>
          <a:xfrm>
            <a:off x="5889004" y="1854715"/>
            <a:ext cx="654294" cy="25241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2026-10-07T07:26:08Z</dcterms:created>
  <dcterms:modified xsi:type="dcterms:W3CDTF">2026-10-07T07:26:08Z</dcterms:modified>
</cp:coreProperties>
</file>